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总体技术架构 · Capability First —— Build Once, Reuse Everywhere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复用三形态：API · 事件 · 微前端模块
多租户：ADC / EPD / MD / APOC → 平台租户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7626096" cy="713232"/>
          </a:xfrm>
          <a:prstGeom prst="roundRect">
            <a:avLst>
              <a:gd name="adj" fmla="val 10256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30936"/>
            <a:ext cx="4206240" cy="1554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47857"/>
                </a:solidFill>
                <a:latin typeface="Segoe UI"/>
                <a:ea typeface="Microsoft YaHei"/>
              </a:rPr>
              <a:t>01 渠道层 · 同一能力 · 多渠道触达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93192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微信公众号 · H5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内容 / 会议 / 积分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42516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69948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微信小程序 · Taro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内容 / 签到 / AI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9272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46703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企业微信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侧边栏 · 拜访 / C360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96028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23460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App · RN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离线拜访 / 工单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4" y="841248"/>
            <a:ext cx="141732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270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0216" y="841248"/>
            <a:ext cx="1362456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0F172A"/>
                </a:solidFill>
                <a:latin typeface="Segoe UI"/>
                <a:ea typeface="Microsoft YaHei"/>
              </a:rPr>
              <a:t>Portal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运营后台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7744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cxnSp>
        <p:nvCxnSpPr>
          <p:cNvPr id="18" name="Connector 17"/>
          <p:cNvCxnSpPr/>
          <p:nvPr/>
        </p:nvCxnSpPr>
        <p:spPr>
          <a:xfrm>
            <a:off x="5486400" y="1280160"/>
            <a:ext cx="0" cy="91440"/>
          </a:xfrm>
          <a:prstGeom prst="line">
            <a:avLst/>
          </a:prstGeom>
          <a:ln w="2286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2468880" y="1275588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59669"/>
                </a:solidFill>
                <a:latin typeface="Segoe UI"/>
                <a:ea typeface="Microsoft YaHei"/>
              </a:rPr>
              <a:t>HTTPS · SSO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1168" y="1371600"/>
            <a:ext cx="7626096" cy="457200"/>
          </a:xfrm>
          <a:prstGeom prst="roundRect">
            <a:avLst>
              <a:gd name="adj" fmla="val 14000"/>
            </a:avLst>
          </a:prstGeom>
          <a:solidFill>
            <a:srgbClr val="F8FAFC"/>
          </a:solidFill>
          <a:ln w="1524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9184" y="1472184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475569"/>
                </a:solidFill>
                <a:latin typeface="Segoe UI"/>
                <a:ea typeface="Microsoft YaHei"/>
              </a:rPr>
              <a:t>02 接入边缘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89888" y="1472184"/>
            <a:ext cx="96012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17320" y="1472184"/>
            <a:ext cx="90525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CDN ＋ WAF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404872" y="1472184"/>
            <a:ext cx="137160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007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32303" y="1472184"/>
            <a:ext cx="13167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外部 APIM · 公网 API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31336" y="1472184"/>
            <a:ext cx="146304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58768" y="1472184"/>
            <a:ext cx="140817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1E40AF"/>
                </a:solidFill>
                <a:latin typeface="Segoe UI"/>
                <a:ea typeface="Microsoft YaHei"/>
              </a:rPr>
              <a:t>Entra ID · 内部 SSO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49240" y="1472184"/>
            <a:ext cx="2286000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270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76672" y="1472184"/>
            <a:ext cx="2231136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1E40AF"/>
                </a:solidFill>
                <a:latin typeface="Segoe UI"/>
                <a:ea typeface="Microsoft YaHei"/>
              </a:rPr>
              <a:t>identity-service 微信 / 验证码 → OneID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7744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31" name="Connector 30"/>
          <p:cNvCxnSpPr/>
          <p:nvPr/>
        </p:nvCxnSpPr>
        <p:spPr>
          <a:xfrm>
            <a:off x="5486400" y="1828800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201168" y="1920240"/>
            <a:ext cx="7626096" cy="530352"/>
          </a:xfrm>
          <a:prstGeom prst="roundRect">
            <a:avLst>
              <a:gd name="adj" fmla="val 1379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1984248"/>
            <a:ext cx="42062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E7490"/>
                </a:solidFill>
                <a:latin typeface="Segoe UI"/>
                <a:ea typeface="Microsoft YaHei"/>
              </a:rPr>
              <a:t>03 BFF 聚合层 · 只做聚合裁剪 · 不重复实现业务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65760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3192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hcp-bff · 小程序 / H5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167128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194560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wework-bff · 企微侧边栏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968496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95928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app-bff · 离线同步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769864" y="2157984"/>
            <a:ext cx="1737360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97296" y="2157984"/>
            <a:ext cx="1682495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0F172A"/>
                </a:solidFill>
                <a:latin typeface="Segoe UI"/>
                <a:ea typeface="Microsoft YaHei"/>
              </a:rPr>
              <a:t>portal-bff · 运营门户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7744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cxnSp>
        <p:nvCxnSpPr>
          <p:cNvPr id="43" name="Connector 42"/>
          <p:cNvCxnSpPr/>
          <p:nvPr/>
        </p:nvCxnSpPr>
        <p:spPr>
          <a:xfrm>
            <a:off x="5486400" y="2450592"/>
            <a:ext cx="0" cy="91440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5577840" y="2446020"/>
            <a:ext cx="91440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聚合调用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01168" y="2542032"/>
            <a:ext cx="7626096" cy="1719072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2606040"/>
            <a:ext cx="466344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334155"/>
                </a:solidFill>
                <a:latin typeface="Segoe UI"/>
                <a:ea typeface="Microsoft YaHei"/>
              </a:rPr>
              <a:t>04 能力层 · Capability Hub —— 一次建设（Build Once）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120640" y="2615184"/>
            <a:ext cx="2596896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94A3B8"/>
                </a:solidFill>
                <a:latin typeface="Segoe UI"/>
                <a:ea typeface="Microsoft YaHei"/>
              </a:rPr>
              <a:t>一 Hub 一限界上下文 · Database-per-Service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9184" y="2724912"/>
            <a:ext cx="274320" cy="1280160"/>
          </a:xfrm>
          <a:prstGeom prst="roundRect">
            <a:avLst>
              <a:gd name="adj" fmla="val 16666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29184" y="2724912"/>
            <a:ext cx="274320" cy="1280160"/>
          </a:xfrm>
          <a:prstGeom prst="rect">
            <a:avLst/>
          </a:prstGeom>
          <a:noFill/>
        </p:spPr>
        <p:txBody>
          <a:bodyPr wrap="square" lIns="0" rIns="0" tIns="0" bIns="0" anchor="ctr" vert="eaVer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1E40AF"/>
                </a:solidFill>
                <a:latin typeface="Segoe UI"/>
                <a:ea typeface="Microsoft YaHei"/>
              </a:rPr>
              <a:t>内部 APIM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03504" y="3026664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51" name="Connector 50"/>
          <p:cNvCxnSpPr/>
          <p:nvPr/>
        </p:nvCxnSpPr>
        <p:spPr>
          <a:xfrm>
            <a:off x="603504" y="3703320"/>
            <a:ext cx="54864" cy="0"/>
          </a:xfrm>
          <a:prstGeom prst="line">
            <a:avLst/>
          </a:prstGeom>
          <a:ln w="1651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52" name="Rounded Rectangle 51"/>
          <p:cNvSpPr/>
          <p:nvPr/>
        </p:nvSpPr>
        <p:spPr>
          <a:xfrm>
            <a:off x="676656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22376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Content Hub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内容 · 学术 · DAM · 搜索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2376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432304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478024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Event Hub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478024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会议 · 报名签到 · 积分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78024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87952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ECFEFF"/>
          </a:solidFill>
          <a:ln w="15240">
            <a:solidFill>
              <a:srgbClr val="A5F3FC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233672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Customer Hub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233672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/ HCO · OneID · Consent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33672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5943600" y="2724912"/>
            <a:ext cx="1691640" cy="603504"/>
          </a:xfrm>
          <a:prstGeom prst="roundRect">
            <a:avLst>
              <a:gd name="adj" fmla="val 7575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989320" y="2766060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Sales Hub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89320" y="2930652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拜访 · 打卡 · 离线同步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989320" y="3108960"/>
            <a:ext cx="160020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76656" y="3401568"/>
            <a:ext cx="2286000" cy="603504"/>
          </a:xfrm>
          <a:prstGeom prst="roundRect">
            <a:avLst>
              <a:gd name="adj" fmla="val 7575"/>
            </a:avLst>
          </a:prstGeom>
          <a:solidFill>
            <a:srgbClr val="F6F8FA"/>
          </a:solidFill>
          <a:ln w="15240">
            <a:solidFill>
              <a:srgbClr val="CBD5E1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22376" y="344271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Service Hub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22376" y="3607308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工单 · SLA · 备件 · IoT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" y="3785615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035808" y="3401568"/>
            <a:ext cx="2286000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5240">
            <a:solidFill>
              <a:srgbClr val="F9A8D4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81528" y="344271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Plugin Hub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081528" y="3607308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插件 API · 租户级启用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081528" y="3785615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复用：API · 事件 · MF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94960" y="3401568"/>
            <a:ext cx="2286000" cy="603504"/>
          </a:xfrm>
          <a:prstGeom prst="roundRect">
            <a:avLst>
              <a:gd name="adj" fmla="val 7575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80" y="344271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20" b="1" i="0">
                <a:solidFill>
                  <a:srgbClr val="0F172A"/>
                </a:solidFill>
                <a:latin typeface="Segoe UI"/>
                <a:ea typeface="Microsoft YaHei"/>
              </a:rPr>
              <a:t>通用服务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440680" y="3607308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身份 · 通知 · 工作流 · 规则 · 审计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40680" y="3785615"/>
            <a:ext cx="2194560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1E40AF"/>
                </a:solidFill>
                <a:latin typeface="Segoe UI"/>
                <a:ea typeface="Microsoft YaHei"/>
              </a:rPr>
              <a:t>所有 Hub 共用的技术能力 · API / SDK 复用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65760" y="4041648"/>
            <a:ext cx="73152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92400E"/>
                </a:solidFill>
                <a:latin typeface="Segoe UI"/>
                <a:ea typeface="Microsoft YaHei"/>
              </a:rPr>
              <a:t>消费三形态：① API 复用（BFF / 应用 → 内部 APIM · OpenAPI 契约 · 版本并存）　② 事件复用（订阅领域事件 · 解耦集成）　③ 模块复用（MF 远程模块多端挂载 → 详见下页）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237744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5486400" y="4261104"/>
            <a:ext cx="0" cy="91440"/>
          </a:xfrm>
          <a:prstGeom prst="line">
            <a:avLst/>
          </a:prstGeom>
          <a:ln w="22860">
            <a:solidFill>
              <a:srgbClr val="D97706"/>
            </a:solidFill>
            <a:tailEnd type="triangle" w="med" len="med"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2468880" y="4256532"/>
            <a:ext cx="109728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D97706"/>
                </a:solidFill>
                <a:latin typeface="Segoe UI"/>
                <a:ea typeface="Microsoft YaHei"/>
              </a:rPr>
              <a:t>事件 / CDC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201168" y="4352544"/>
            <a:ext cx="7626096" cy="420624"/>
          </a:xfrm>
          <a:prstGeom prst="roundRect">
            <a:avLst>
              <a:gd name="adj" fmla="val 15217"/>
            </a:avLst>
          </a:prstGeom>
          <a:solidFill>
            <a:srgbClr val="FFF7ED"/>
          </a:solidFill>
          <a:ln w="15240">
            <a:solidFill>
              <a:srgbClr val="FED7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329184" y="4434840"/>
            <a:ext cx="859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524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6616" y="4434840"/>
            <a:ext cx="804671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0" i="0">
                <a:solidFill>
                  <a:srgbClr val="92400E"/>
                </a:solidFill>
                <a:latin typeface="Segoe UI"/>
                <a:ea typeface="Microsoft YaHei"/>
              </a:rPr>
              <a:t>05 事件骨干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261872" y="4434840"/>
            <a:ext cx="3145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289304" y="443484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Service Bus · 领域事件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CloudEvents · Outbox · 幂等 / DLQ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4480560" y="4434840"/>
            <a:ext cx="3145536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507992" y="443484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0F172A"/>
                </a:solidFill>
                <a:latin typeface="Segoe UI"/>
                <a:ea typeface="Microsoft YaHei"/>
              </a:rPr>
              <a:t>Event Hub · 行为流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埋点 → 实时标签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237744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cxnSp>
        <p:nvCxnSpPr>
          <p:cNvPr id="92" name="Connector 91"/>
          <p:cNvCxnSpPr/>
          <p:nvPr/>
        </p:nvCxnSpPr>
        <p:spPr>
          <a:xfrm>
            <a:off x="5486400" y="4773168"/>
            <a:ext cx="0" cy="91440"/>
          </a:xfrm>
          <a:prstGeom prst="line">
            <a:avLst/>
          </a:prstGeom>
          <a:ln w="22860">
            <a:solidFill>
              <a:srgbClr val="0078D4"/>
            </a:solidFill>
            <a:tailEnd type="triangle" w="med" len="med"/>
          </a:ln>
          <a:effectLst/>
        </p:spPr>
      </p:cxnSp>
      <p:sp>
        <p:nvSpPr>
          <p:cNvPr id="93" name="Rounded Rectangle 92"/>
          <p:cNvSpPr/>
          <p:nvPr/>
        </p:nvSpPr>
        <p:spPr>
          <a:xfrm>
            <a:off x="201168" y="4864608"/>
            <a:ext cx="7626096" cy="841248"/>
          </a:xfrm>
          <a:prstGeom prst="roundRect">
            <a:avLst>
              <a:gd name="adj" fmla="val 8695"/>
            </a:avLst>
          </a:prstGeom>
          <a:solidFill>
            <a:srgbClr val="EFF6FF"/>
          </a:solidFill>
          <a:ln w="1524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365760" y="4928616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D4ED8"/>
                </a:solidFill>
                <a:latin typeface="Segoe UI"/>
                <a:ea typeface="Microsoft YaHei"/>
              </a:rPr>
              <a:t>06 数据与智能底座 · Data / AI / Cloud —— 数据与 AI 同样只建一次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365760" y="5120640"/>
            <a:ext cx="23957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93192" y="5120640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HCP Pool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OneID · Consent · C360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2825496" y="5120640"/>
            <a:ext cx="23957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852927" y="5120640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AI 平台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模型网关 · RAG · Copilot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285231" y="5120640"/>
            <a:ext cx="2395728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312664" y="5120640"/>
            <a:ext cx="234086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>
                <a:solidFill>
                  <a:srgbClr val="0F172A"/>
                </a:solidFill>
                <a:latin typeface="Segoe UI"/>
                <a:ea typeface="Microsoft YaHei"/>
              </a:rPr>
              <a:t>Landing Zone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80" b="0" i="0">
                <a:solidFill>
                  <a:srgbClr val="64748B"/>
                </a:solidFill>
                <a:latin typeface="Segoe UI"/>
                <a:ea typeface="Microsoft YaHei"/>
              </a:rPr>
              <a:t>AKS · GitOps · OTel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7918704" y="566928"/>
            <a:ext cx="406908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028431" y="640080"/>
            <a:ext cx="38496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从重复建设到平台复用（archi.md §6）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8028431" y="859536"/>
            <a:ext cx="1700784" cy="1316736"/>
          </a:xfrm>
          <a:prstGeom prst="roundRect">
            <a:avLst>
              <a:gd name="adj" fmla="val 3472"/>
            </a:avLst>
          </a:prstGeom>
          <a:solidFill>
            <a:srgbClr val="FFF1F2"/>
          </a:solidFill>
          <a:ln w="13970">
            <a:solidFill>
              <a:srgbClr val="F8717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119872" y="91440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B91C1C"/>
                </a:solidFill>
                <a:latin typeface="Segoe UI"/>
                <a:ea typeface="Microsoft YaHei"/>
              </a:rPr>
              <a:t>当前 · 各自建设 ✗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119872" y="1097280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ADC / EPD / MD / APOC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119872" y="1316736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各建 内容·会议·积分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119872" y="1536192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≈ 12 套重复实现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119872" y="1755648"/>
            <a:ext cx="1536192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数据孤岛 · 体验割裂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9765792" y="1517904"/>
            <a:ext cx="274320" cy="0"/>
          </a:xfrm>
          <a:prstGeom prst="line">
            <a:avLst/>
          </a:prstGeom>
          <a:ln w="25400">
            <a:solidFill>
              <a:srgbClr val="64748B"/>
            </a:solidFill>
            <a:tailEnd type="triangle" w="med" len="med"/>
          </a:ln>
          <a:effectLst/>
        </p:spPr>
      </p:cxnSp>
      <p:sp>
        <p:nvSpPr>
          <p:cNvPr id="110" name="Rounded Rectangle 109"/>
          <p:cNvSpPr/>
          <p:nvPr/>
        </p:nvSpPr>
        <p:spPr>
          <a:xfrm>
            <a:off x="10076688" y="859536"/>
            <a:ext cx="1801368" cy="1316736"/>
          </a:xfrm>
          <a:prstGeom prst="roundRect">
            <a:avLst>
              <a:gd name="adj" fmla="val 3472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0168128" y="914400"/>
            <a:ext cx="16184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47857"/>
                </a:solidFill>
                <a:latin typeface="Segoe UI"/>
                <a:ea typeface="Microsoft YaHei"/>
              </a:rPr>
              <a:t>目标 · 平台统一 ✓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168128" y="1097280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Capability Hub 1 套能力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168128" y="1316736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应用 = 租户按需组合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168128" y="1536192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能力 / 数据 / AI 三重复用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0168128" y="1755648"/>
            <a:ext cx="1636776" cy="1828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90" b="1" i="0">
                <a:solidFill>
                  <a:srgbClr val="475569"/>
                </a:solidFill>
                <a:latin typeface="Segoe UI"/>
                <a:ea typeface="Microsoft YaHei"/>
              </a:rPr>
              <a:t>Build Once · Reuse Everywhere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7918704" y="2395728"/>
            <a:ext cx="4069080" cy="2468880"/>
          </a:xfrm>
          <a:prstGeom prst="roundRect">
            <a:avLst>
              <a:gd name="adj" fmla="val 259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028431" y="2468880"/>
            <a:ext cx="3849624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能力复用矩阵 · 一次建设 → 处处消费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886968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小程序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H5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41832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企微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6696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App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051560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Portal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1064240" y="2670048"/>
            <a:ext cx="512064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475569"/>
                </a:solidFill>
                <a:latin typeface="Segoe UI"/>
                <a:ea typeface="Microsoft YaHei"/>
              </a:rPr>
              <a:t>插件</a:t>
            </a:r>
          </a:p>
        </p:txBody>
      </p:sp>
      <p:cxnSp>
        <p:nvCxnSpPr>
          <p:cNvPr id="123" name="Connector 122"/>
          <p:cNvCxnSpPr/>
          <p:nvPr/>
        </p:nvCxnSpPr>
        <p:spPr>
          <a:xfrm>
            <a:off x="8028431" y="2980944"/>
            <a:ext cx="3849625" cy="0"/>
          </a:xfrm>
          <a:prstGeom prst="line">
            <a:avLst/>
          </a:prstGeom>
          <a:ln w="10160">
            <a:solidFill>
              <a:srgbClr val="E2E8F0"/>
            </a:solidFill>
          </a:ln>
          <a:effectLst/>
        </p:spPr>
      </p:cxnSp>
      <p:sp>
        <p:nvSpPr>
          <p:cNvPr id="124" name="TextBox 123"/>
          <p:cNvSpPr txBox="1"/>
          <p:nvPr/>
        </p:nvSpPr>
        <p:spPr>
          <a:xfrm>
            <a:off x="8028431" y="3035808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</p:txBody>
      </p:sp>
      <p:sp>
        <p:nvSpPr>
          <p:cNvPr id="125" name="Oval 124"/>
          <p:cNvSpPr/>
          <p:nvPr/>
        </p:nvSpPr>
        <p:spPr>
          <a:xfrm>
            <a:off x="907999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962863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0177272" y="3099815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1072591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1274552" y="3099815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8028431" y="3300984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会议积分</a:t>
            </a:r>
          </a:p>
        </p:txBody>
      </p:sp>
      <p:sp>
        <p:nvSpPr>
          <p:cNvPr id="131" name="Oval 130"/>
          <p:cNvSpPr/>
          <p:nvPr/>
        </p:nvSpPr>
        <p:spPr>
          <a:xfrm>
            <a:off x="9079992" y="3364991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62863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1017727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10725912" y="3364991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1274552" y="3364991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28431" y="3566160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客户 360</a:t>
            </a:r>
          </a:p>
        </p:txBody>
      </p:sp>
      <p:sp>
        <p:nvSpPr>
          <p:cNvPr id="137" name="Oval 136"/>
          <p:cNvSpPr/>
          <p:nvPr/>
        </p:nvSpPr>
        <p:spPr>
          <a:xfrm>
            <a:off x="9079992" y="3630168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962863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17727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072591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11274552" y="3630168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8028431" y="3831335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拜访绩效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9034272" y="3831335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44" name="Oval 143"/>
          <p:cNvSpPr/>
          <p:nvPr/>
        </p:nvSpPr>
        <p:spPr>
          <a:xfrm>
            <a:off x="962863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17727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725912" y="3895344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1228832" y="3831335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8028431" y="4096511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报修服务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3427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958291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1" name="Oval 150"/>
          <p:cNvSpPr/>
          <p:nvPr/>
        </p:nvSpPr>
        <p:spPr>
          <a:xfrm>
            <a:off x="10177272" y="416052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725912" y="4160520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1228832" y="4096511"/>
            <a:ext cx="182880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94A3B8"/>
                </a:solidFill>
                <a:latin typeface="Segoe UI"/>
                <a:ea typeface="Microsoft YaHei"/>
              </a:rPr>
              <a:t>–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8028431" y="4361688"/>
            <a:ext cx="1042415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0F172A"/>
                </a:solidFill>
                <a:latin typeface="Segoe UI"/>
                <a:ea typeface="Microsoft YaHei"/>
              </a:rPr>
              <a:t>AI 能力</a:t>
            </a:r>
          </a:p>
        </p:txBody>
      </p:sp>
      <p:sp>
        <p:nvSpPr>
          <p:cNvPr id="155" name="Oval 154"/>
          <p:cNvSpPr/>
          <p:nvPr/>
        </p:nvSpPr>
        <p:spPr>
          <a:xfrm>
            <a:off x="907999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962863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0177272" y="4425696"/>
            <a:ext cx="91440" cy="914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072591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1274552" y="4425696"/>
            <a:ext cx="91440" cy="9144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8028431" y="4626864"/>
            <a:ext cx="384962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80" b="1" i="0">
                <a:solidFill>
                  <a:srgbClr val="047857"/>
                </a:solidFill>
                <a:latin typeface="Segoe UI"/>
                <a:ea typeface="Microsoft YaHei"/>
              </a:rPr>
              <a:t>● 直接复用　○ 按需裁剪　– 不涉及 ｜ 例：新插件「术后随访」= C360 ＋ 内容 ＋ 积分 ＋ 通知，零新建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918704" y="4956048"/>
            <a:ext cx="406908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3970">
            <a:solidFill>
              <a:srgbClr val="BFDB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28431" y="5020056"/>
            <a:ext cx="3849624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D4ED8"/>
                </a:solidFill>
                <a:latin typeface="Segoe UI"/>
                <a:ea typeface="Microsoft YaHei"/>
              </a:rPr>
              <a:t>租户级复用 · 治理与计量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028431" y="5175504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8055863" y="5175504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tid 全链路 · SQL 行级安全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966959" y="5175504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9994391" y="5175504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feature flag 按租户启用能力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8028431" y="5413248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8055863" y="5413248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APIM 配额 / 限流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9966959" y="5413248"/>
            <a:ext cx="1865376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12700">
            <a:solidFill>
              <a:srgbClr val="93C5F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9994391" y="5413248"/>
            <a:ext cx="1810512" cy="2011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90" b="0" i="0">
                <a:solidFill>
                  <a:srgbClr val="475569"/>
                </a:solidFill>
                <a:latin typeface="Segoe UI"/>
                <a:ea typeface="Microsoft YaHei"/>
              </a:rPr>
              <a:t>成本按 tid 计量分摊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01168" y="581558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复用成效目标：12 套重复建设 → 1 套平台能力 ｜ 新渠道 / 新应用接入周期减半（只建 BFF 与视图）｜ 新场景 = 组合已有能力 ｜ 分层对应 archi.md：Experience → Application → Capability → Data → AI → Cloud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1168" y="155448"/>
            <a:ext cx="50292" cy="365760"/>
          </a:xfrm>
          <a:prstGeom prst="roundRect">
            <a:avLst>
              <a:gd name="adj" fmla="val 4909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47472" y="118872"/>
            <a:ext cx="8229600" cy="3108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850" b="1" i="0">
                <a:solidFill>
                  <a:srgbClr val="0F172A"/>
                </a:solidFill>
                <a:latin typeface="Segoe UI"/>
                <a:ea typeface="Microsoft YaHei"/>
              </a:rPr>
              <a:t>微前端架构设计 · 复用与独立交付（Module Federation）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95360" y="54864"/>
            <a:ext cx="278892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4748B"/>
                </a:solidFill>
                <a:latin typeface="Segoe UI"/>
                <a:ea typeface="Microsoft YaHei"/>
              </a:rPr>
              <a:t>React 18 · TS 5 · Rspack / Vite · Taro 小程序
独立开发 · 独立部署 · 共享治理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1168" y="566928"/>
            <a:ext cx="11786616" cy="1956816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9184" y="640080"/>
            <a:ext cx="5486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0F172A"/>
                </a:solidFill>
                <a:latin typeface="Segoe UI"/>
                <a:ea typeface="Microsoft YaHei"/>
              </a:rPr>
              <a:t>① 分层设计 · 四层结构（谁负责什么）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" y="859536"/>
            <a:ext cx="1243584" cy="402336"/>
          </a:xfrm>
          <a:prstGeom prst="roundRect">
            <a:avLst>
              <a:gd name="adj" fmla="val 11363"/>
            </a:avLst>
          </a:prstGeom>
          <a:solidFill>
            <a:srgbClr val="ECFEFF"/>
          </a:solidFill>
          <a:ln w="1524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" y="859536"/>
            <a:ext cx="1188720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0E7490"/>
                </a:solidFill>
                <a:latin typeface="Segoe UI"/>
                <a:ea typeface="Microsoft YaHei"/>
              </a:rPr>
              <a:t>Shell · 宿主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平台团队统一维护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2763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5506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路由 / 布局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RBAC 菜单下发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8416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5848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SSO 会话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全局权限 SDK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0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Design Tokens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主题 / 暗色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29984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57416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事件总线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mitt 跨模块通信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0768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MF 注册表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manifest 版本管理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131552" y="859536"/>
            <a:ext cx="1627632" cy="402336"/>
          </a:xfrm>
          <a:prstGeom prst="roundRect">
            <a:avLst>
              <a:gd name="adj" fmla="val 11363"/>
            </a:avLst>
          </a:prstGeom>
          <a:solidFill>
            <a:srgbClr val="FFFFFF"/>
          </a:solidFill>
          <a:ln w="1397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158984" y="859536"/>
            <a:ext cx="1572768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错误兜底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失败降级占位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1261872"/>
            <a:ext cx="0" cy="109728"/>
          </a:xfrm>
          <a:prstGeom prst="line">
            <a:avLst/>
          </a:prstGeom>
          <a:ln w="2286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236208" y="1266444"/>
            <a:ext cx="2194560" cy="1005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560" b="1" i="0">
                <a:solidFill>
                  <a:srgbClr val="0891B2"/>
                </a:solidFill>
                <a:latin typeface="Segoe UI"/>
                <a:ea typeface="Microsoft YaHei"/>
              </a:rPr>
              <a:t>运行时远程加载（不是构建时打包）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" y="1371600"/>
            <a:ext cx="1243584" cy="475488"/>
          </a:xfrm>
          <a:prstGeom prst="roundRect">
            <a:avLst>
              <a:gd name="adj" fmla="val 9615"/>
            </a:avLst>
          </a:prstGeom>
          <a:solidFill>
            <a:srgbClr val="F5F3FF"/>
          </a:solidFill>
          <a:ln w="1524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6616" y="1371600"/>
            <a:ext cx="118872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700" b="1" i="0">
                <a:solidFill>
                  <a:srgbClr val="6D28D9"/>
                </a:solidFill>
                <a:latin typeface="Segoe UI"/>
                <a:ea typeface="Microsoft YaHei"/>
              </a:rPr>
              <a:t>Remote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40" b="0" i="0">
                <a:solidFill>
                  <a:srgbClr val="64748B"/>
                </a:solidFill>
                <a:latin typeface="Segoe UI"/>
                <a:ea typeface="Microsoft YaHei"/>
              </a:rPr>
              <a:t>业务团队自治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62763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5506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产品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product-mf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0779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内容学术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content-mf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13308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6052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会议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event-mf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385816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13248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销售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sales-mf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38544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65976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售后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service-mf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891272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4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客户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customer-mf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144000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71432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AI 助手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ai-mf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0396728" y="1371600"/>
            <a:ext cx="1188720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60" y="1371600"/>
            <a:ext cx="1133856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80" b="1" i="0">
                <a:solidFill>
                  <a:srgbClr val="0F172A"/>
                </a:solidFill>
                <a:latin typeface="Segoe UI"/>
                <a:ea typeface="Microsoft YaHei"/>
              </a:rPr>
              <a:t>插件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plugin-mf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29184" y="1901952"/>
            <a:ext cx="1243584" cy="274320"/>
          </a:xfrm>
          <a:prstGeom prst="roundRect">
            <a:avLst>
              <a:gd name="adj" fmla="val 16666"/>
            </a:avLst>
          </a:prstGeom>
          <a:solidFill>
            <a:srgbClr val="FFFBEB"/>
          </a:solidFill>
          <a:ln w="1524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" y="1901952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92400E"/>
                </a:solidFill>
                <a:latin typeface="Segoe UI"/>
                <a:ea typeface="Microsoft YaHei"/>
              </a:rPr>
              <a:t>Shared · 单例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27632" y="1901952"/>
            <a:ext cx="10131552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3970">
            <a:solidFill>
              <a:srgbClr val="FDE6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655064" y="1901952"/>
            <a:ext cx="10076688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白名单：react ^18 · design-system · auth-sdk · api-client · i18n · telemetry ｜ 白名单外一律独立打包 · singleton 版本协商（防版本地狱）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9184" y="2212848"/>
            <a:ext cx="1243584" cy="237744"/>
          </a:xfrm>
          <a:prstGeom prst="roundRect">
            <a:avLst>
              <a:gd name="adj" fmla="val 19230"/>
            </a:avLst>
          </a:prstGeom>
          <a:solidFill>
            <a:srgbClr val="ECFDF5"/>
          </a:solidFill>
          <a:ln w="1524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6616" y="2212848"/>
            <a:ext cx="1188720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47857"/>
                </a:solidFill>
                <a:latin typeface="Segoe UI"/>
                <a:ea typeface="Microsoft YaHei"/>
              </a:rPr>
              <a:t>Contract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627632" y="2212848"/>
            <a:ext cx="10131552" cy="237744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3970">
            <a:solidFill>
              <a:srgbClr val="BBF7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55064" y="2212848"/>
            <a:ext cx="10076688" cy="23774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20" b="0" i="0">
                <a:solidFill>
                  <a:srgbClr val="475569"/>
                </a:solidFill>
                <a:latin typeface="Segoe UI"/>
                <a:ea typeface="Microsoft YaHei"/>
              </a:rPr>
              <a:t>@abbott/contracts：API DTO · 领域事件 · 权限码 —— 前后端同源引用 · CI 兼容性校验 · 破坏性变更即阻断合并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01168" y="2633472"/>
            <a:ext cx="576072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9184" y="2706624"/>
            <a:ext cx="539496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② 运行时加载与版本协商（怎么跑起来）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29184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6616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① Shell 启动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引导 / 鉴权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066543" y="3081528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4" name="Rounded Rectangle 53"/>
          <p:cNvSpPr/>
          <p:nvPr/>
        </p:nvSpPr>
        <p:spPr>
          <a:xfrm>
            <a:off x="2139696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167127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② 拉取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版本清单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877056" y="3081528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57" name="Rounded Rectangle 56"/>
          <p:cNvSpPr/>
          <p:nvPr/>
        </p:nvSpPr>
        <p:spPr>
          <a:xfrm>
            <a:off x="3950208" y="2889504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977640" y="2889504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③ 解析远程入口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CDN URL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29184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6616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④ 加载 MF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import remote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066543" y="3557016"/>
            <a:ext cx="73153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2" name="Rounded Rectangle 61"/>
          <p:cNvSpPr/>
          <p:nvPr/>
        </p:nvSpPr>
        <p:spPr>
          <a:xfrm>
            <a:off x="2139696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167127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⑤ 版本协商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react singleton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3877056" y="3557016"/>
            <a:ext cx="73152" cy="0"/>
          </a:xfrm>
          <a:prstGeom prst="line">
            <a:avLst/>
          </a:prstGeom>
          <a:ln w="17780">
            <a:solidFill>
              <a:srgbClr val="0891B2"/>
            </a:solidFill>
            <a:tailEnd type="triangle" w="med" len="med"/>
          </a:ln>
          <a:effectLst/>
        </p:spPr>
      </p:cxnSp>
      <p:sp>
        <p:nvSpPr>
          <p:cNvPr id="65" name="Rounded Rectangle 64"/>
          <p:cNvSpPr/>
          <p:nvPr/>
        </p:nvSpPr>
        <p:spPr>
          <a:xfrm>
            <a:off x="3950208" y="3364992"/>
            <a:ext cx="1737360" cy="384048"/>
          </a:xfrm>
          <a:prstGeom prst="roundRect">
            <a:avLst>
              <a:gd name="adj" fmla="val 11904"/>
            </a:avLst>
          </a:prstGeom>
          <a:solidFill>
            <a:srgbClr val="ECFEFF"/>
          </a:solidFill>
          <a:ln w="13970">
            <a:solidFill>
              <a:srgbClr val="67E8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977640" y="3364992"/>
            <a:ext cx="1682495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⑥ 挂载渲染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路由 / 权限校验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" y="3840480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0E7490"/>
                </a:solidFill>
                <a:latin typeface="Segoe UI"/>
                <a:ea typeface="Microsoft YaHei"/>
              </a:rPr>
              <a:t>失败降级：模块加载失败 → 占位提示不白屏 · 菜单按 RBAC 动态下发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6089904" y="2633472"/>
            <a:ext cx="5897880" cy="1408176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17920" y="2706624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③ 跨模块通信与隔离规则（怎么不腐化）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17920" y="28712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7C3AED"/>
                </a:solidFill>
                <a:latin typeface="Segoe UI"/>
                <a:ea typeface="Microsoft YaHei"/>
              </a:rPr>
              <a:t>事件总线：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mf:&lt;module&gt;:&lt;event&gt;（例 content.published → 积分刷新 · 通知）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217920" y="30998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E11D48"/>
                </a:solidFill>
                <a:latin typeface="Segoe UI"/>
                <a:ea typeface="Microsoft YaHei"/>
              </a:rPr>
              <a:t>禁止直连：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 MF 直接 import 一律禁止 · CI 扫描阻断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17920" y="33284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078D4"/>
                </a:solidFill>
                <a:latin typeface="Segoe UI"/>
                <a:ea typeface="Microsoft YaHei"/>
              </a:rPr>
              <a:t>样式隔离：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Design Tokens ＋ 模块级 class 前缀 · 全局样式仅 Shell 注入一次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35570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891B2"/>
                </a:solidFill>
                <a:latin typeface="Segoe UI"/>
                <a:ea typeface="Microsoft YaHei"/>
              </a:rPr>
              <a:t>跳转协议：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跨模块跳转走 Shell 统一路由 /mfe/&lt;module&gt;/…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17920" y="3785616"/>
            <a:ext cx="5650992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30" b="1" i="0">
                <a:solidFill>
                  <a:srgbClr val="059669"/>
                </a:solidFill>
                <a:latin typeface="Segoe UI"/>
                <a:ea typeface="Microsoft YaHei"/>
              </a:rPr>
              <a:t>全局一致：</a:t>
            </a:r>
            <a:r>
              <a:rPr sz="630" b="0" i="0">
                <a:solidFill>
                  <a:srgbClr val="475569"/>
                </a:solidFill>
                <a:latin typeface="Segoe UI"/>
                <a:ea typeface="Microsoft YaHei"/>
              </a:rPr>
              <a:t>Loading / 错误 / 主题 / i18n 由 Shell 统一，保证体验不割裂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01168" y="4133087"/>
            <a:ext cx="576072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29184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④ 复用：一次开发 · 多端挂载（以 content-mf 为例）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9184" y="4407408"/>
            <a:ext cx="2157984" cy="658368"/>
          </a:xfrm>
          <a:prstGeom prst="roundRect">
            <a:avLst>
              <a:gd name="adj" fmla="val 8333"/>
            </a:avLst>
          </a:prstGeom>
          <a:solidFill>
            <a:srgbClr val="F5F3FF"/>
          </a:solidFill>
          <a:ln w="16510">
            <a:solidFill>
              <a:srgbClr val="DDD6FE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02336" y="4407408"/>
            <a:ext cx="2011680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760" b="1" i="0">
                <a:solidFill>
                  <a:srgbClr val="6D28D9"/>
                </a:solidFill>
                <a:latin typeface="Segoe UI"/>
                <a:ea typeface="Microsoft YaHei"/>
              </a:rPr>
              <a:t>content-mf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660" b="1" i="0">
                <a:solidFill>
                  <a:srgbClr val="0F172A"/>
                </a:solidFill>
                <a:latin typeface="Segoe UI"/>
                <a:ea typeface="Microsoft YaHei"/>
              </a:rPr>
              <a:t>内容学术模块</a:t>
            </a:r>
          </a:p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560" b="0" i="0">
                <a:solidFill>
                  <a:srgbClr val="64748B"/>
                </a:solidFill>
                <a:latin typeface="Segoe UI"/>
                <a:ea typeface="Microsoft YaHei"/>
              </a:rPr>
              <a:t>含 core 业务 / 状态 / 契约层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127248" y="4370832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154679" y="4370832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Portal Shell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运营后台 · 全功能</a:t>
            </a:r>
          </a:p>
        </p:txBody>
      </p:sp>
      <p:cxnSp>
        <p:nvCxnSpPr>
          <p:cNvPr id="81" name="Connector 80"/>
          <p:cNvCxnSpPr/>
          <p:nvPr/>
        </p:nvCxnSpPr>
        <p:spPr>
          <a:xfrm flipV="1">
            <a:off x="2487168" y="4498848"/>
            <a:ext cx="329184" cy="2377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2" name="Connector 81"/>
          <p:cNvCxnSpPr/>
          <p:nvPr/>
        </p:nvCxnSpPr>
        <p:spPr>
          <a:xfrm>
            <a:off x="2816352" y="4498848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3" name="Rounded Rectangle 82"/>
          <p:cNvSpPr/>
          <p:nvPr/>
        </p:nvSpPr>
        <p:spPr>
          <a:xfrm>
            <a:off x="3127248" y="4681728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154679" y="4681728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企微 / 公众号 H5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销售侧 · 嵌入侧边栏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2487168" y="4736592"/>
            <a:ext cx="329184" cy="73152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86" name="Connector 85"/>
          <p:cNvCxnSpPr/>
          <p:nvPr/>
        </p:nvCxnSpPr>
        <p:spPr>
          <a:xfrm>
            <a:off x="2816352" y="4809744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87" name="Rounded Rectangle 86"/>
          <p:cNvSpPr/>
          <p:nvPr/>
        </p:nvSpPr>
        <p:spPr>
          <a:xfrm>
            <a:off x="3127248" y="4992624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154679" y="4992624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小程序 · Taro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HCP 侧 · 转译复用 core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2487168" y="4736592"/>
            <a:ext cx="329184" cy="384048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0" name="Connector 89"/>
          <p:cNvCxnSpPr/>
          <p:nvPr/>
        </p:nvCxnSpPr>
        <p:spPr>
          <a:xfrm>
            <a:off x="2816352" y="5120640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1" name="Rounded Rectangle 90"/>
          <p:cNvSpPr/>
          <p:nvPr/>
        </p:nvSpPr>
        <p:spPr>
          <a:xfrm>
            <a:off x="3127248" y="5303520"/>
            <a:ext cx="2724912" cy="256032"/>
          </a:xfrm>
          <a:prstGeom prst="roundRect">
            <a:avLst>
              <a:gd name="adj" fmla="val 14285"/>
            </a:avLst>
          </a:prstGeom>
          <a:solidFill>
            <a:srgbClr val="FFFFFF"/>
          </a:solidFill>
          <a:ln w="13970">
            <a:solidFill>
              <a:srgbClr val="DDD6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154679" y="5303520"/>
            <a:ext cx="2670048" cy="2560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App · React Native　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70" b="0" i="0">
                <a:solidFill>
                  <a:srgbClr val="64748B"/>
                </a:solidFill>
                <a:latin typeface="Segoe UI"/>
                <a:ea typeface="Microsoft YaHei"/>
              </a:rPr>
              <a:t>工程师侧 · 复用 core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2487168" y="4736592"/>
            <a:ext cx="329184" cy="694944"/>
          </a:xfrm>
          <a:prstGeom prst="line">
            <a:avLst/>
          </a:prstGeom>
          <a:ln w="16510">
            <a:solidFill>
              <a:srgbClr val="7C3AED"/>
            </a:solidFill>
          </a:ln>
          <a:effectLst/>
        </p:spPr>
      </p:cxnSp>
      <p:cxnSp>
        <p:nvCxnSpPr>
          <p:cNvPr id="94" name="Connector 93"/>
          <p:cNvCxnSpPr/>
          <p:nvPr/>
        </p:nvCxnSpPr>
        <p:spPr>
          <a:xfrm>
            <a:off x="2816352" y="5431536"/>
            <a:ext cx="292608" cy="0"/>
          </a:xfrm>
          <a:prstGeom prst="line">
            <a:avLst/>
          </a:prstGeom>
          <a:ln w="16510">
            <a:solidFill>
              <a:srgbClr val="7C3AED"/>
            </a:solidFill>
            <a:tailEnd type="triangle" w="med" len="med"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329184" y="5541264"/>
            <a:ext cx="5504688" cy="12801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1" i="0">
                <a:solidFill>
                  <a:srgbClr val="6D28D9"/>
                </a:solidFill>
                <a:latin typeface="Segoe UI"/>
                <a:ea typeface="Microsoft YaHei"/>
              </a:rPr>
              <a:t>Monorepo：core 共享（业务 / 状态 / 契约）· 视图按端适配 —— 新端接入只写视图层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6089904" y="4133087"/>
            <a:ext cx="5897880" cy="1591056"/>
          </a:xfrm>
          <a:prstGeom prst="roundRect">
            <a:avLst>
              <a:gd name="adj" fmla="val 4022"/>
            </a:avLst>
          </a:prstGeom>
          <a:solidFill>
            <a:srgbClr val="FFFFFF"/>
          </a:solidFill>
          <a:ln w="15240">
            <a:solidFill>
              <a:srgbClr val="E2E8F0"/>
            </a:solidFill>
          </a:ln>
          <a:effectLst>
            <a:outerShdw blurRad="55000" dist="22000" dir="5400000" rotWithShape="0">
              <a:srgbClr val="0F172A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217920" y="420624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0F172A"/>
                </a:solidFill>
                <a:latin typeface="Segoe UI"/>
                <a:ea typeface="Microsoft YaHei"/>
              </a:rPr>
              <a:t>⑤ 独立交付与插件扩展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6217920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5352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① 构建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CI 产物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7516367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1" name="Rounded Rectangle 100"/>
          <p:cNvSpPr/>
          <p:nvPr/>
        </p:nvSpPr>
        <p:spPr>
          <a:xfrm>
            <a:off x="7644383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71815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② CDN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不可变版本</a:t>
            </a:r>
          </a:p>
        </p:txBody>
      </p:sp>
      <p:cxnSp>
        <p:nvCxnSpPr>
          <p:cNvPr id="103" name="Connector 102"/>
          <p:cNvCxnSpPr/>
          <p:nvPr/>
        </p:nvCxnSpPr>
        <p:spPr>
          <a:xfrm>
            <a:off x="8942832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4" name="Rounded Rectangle 103"/>
          <p:cNvSpPr/>
          <p:nvPr/>
        </p:nvSpPr>
        <p:spPr>
          <a:xfrm>
            <a:off x="9070848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9098280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③ manifest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PR 审批</a:t>
            </a:r>
          </a:p>
        </p:txBody>
      </p:sp>
      <p:cxnSp>
        <p:nvCxnSpPr>
          <p:cNvPr id="106" name="Connector 105"/>
          <p:cNvCxnSpPr/>
          <p:nvPr/>
        </p:nvCxnSpPr>
        <p:spPr>
          <a:xfrm>
            <a:off x="10369296" y="4590288"/>
            <a:ext cx="128016" cy="0"/>
          </a:xfrm>
          <a:prstGeom prst="line">
            <a:avLst/>
          </a:prstGeom>
          <a:ln w="16510">
            <a:solidFill>
              <a:srgbClr val="059669"/>
            </a:solidFill>
            <a:tailEnd type="triangle" w="med" len="med"/>
          </a:ln>
          <a:effectLst/>
        </p:spPr>
      </p:cxnSp>
      <p:sp>
        <p:nvSpPr>
          <p:cNvPr id="107" name="Rounded Rectangle 106"/>
          <p:cNvSpPr/>
          <p:nvPr/>
        </p:nvSpPr>
        <p:spPr>
          <a:xfrm>
            <a:off x="10497312" y="4389120"/>
            <a:ext cx="1298448" cy="402336"/>
          </a:xfrm>
          <a:prstGeom prst="roundRect">
            <a:avLst>
              <a:gd name="adj" fmla="val 11363"/>
            </a:avLst>
          </a:prstGeom>
          <a:solidFill>
            <a:srgbClr val="ECFDF5"/>
          </a:solidFill>
          <a:ln w="13970">
            <a:solidFill>
              <a:srgbClr val="A7F3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10524744" y="4389120"/>
            <a:ext cx="1243584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640" b="1" i="0">
                <a:solidFill>
                  <a:srgbClr val="0F172A"/>
                </a:solidFill>
                <a:latin typeface="Segoe UI"/>
                <a:ea typeface="Microsoft YaHei"/>
              </a:rPr>
              <a:t>④ 回滚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550" b="0" i="0">
                <a:solidFill>
                  <a:srgbClr val="64748B"/>
                </a:solidFill>
                <a:latin typeface="Segoe UI"/>
                <a:ea typeface="Microsoft YaHei"/>
              </a:rPr>
              <a:t>分钟级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217920" y="4846320"/>
            <a:ext cx="5650992" cy="11887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模块独立流水线互不阻塞 · 回滚 = manifest 指回旧版本 · 质量门禁：Playwright 冒烟 ＋ Shell E2E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217920" y="5029200"/>
            <a:ext cx="5650992" cy="603504"/>
          </a:xfrm>
          <a:prstGeom prst="roundRect">
            <a:avLst>
              <a:gd name="adj" fmla="val 7575"/>
            </a:avLst>
          </a:prstGeom>
          <a:solidFill>
            <a:srgbClr val="FDF2F8"/>
          </a:solidFill>
          <a:ln w="13970">
            <a:solidFill>
              <a:srgbClr val="F9A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327648" y="5029200"/>
            <a:ext cx="5431536" cy="60350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20" b="1" i="0">
                <a:solidFill>
                  <a:srgbClr val="BE185D"/>
                </a:solidFill>
                <a:latin typeface="Segoe UI"/>
                <a:ea typeface="Microsoft YaHei"/>
              </a:rPr>
              <a:t>插件 = 远程 MF ＋ 插件 API（经 APIM · HMAC 签名）＋ manifest 声明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600" b="0" i="0">
                <a:solidFill>
                  <a:srgbClr val="475569"/>
                </a:solidFill>
                <a:latin typeface="Segoe UI"/>
                <a:ea typeface="Microsoft YaHei"/>
              </a:rPr>
              <a:t>租户级 feature flag 启用 · 失败自动降级隔离 · 术后随访 / 竞品情报等场景即插即用</a:t>
            </a:r>
          </a:p>
        </p:txBody>
      </p:sp>
      <p:sp>
        <p:nvSpPr>
          <p:cNvPr id="112" name="Oval 111"/>
          <p:cNvSpPr/>
          <p:nvPr/>
        </p:nvSpPr>
        <p:spPr>
          <a:xfrm>
            <a:off x="365760" y="5888736"/>
            <a:ext cx="82296" cy="82296"/>
          </a:xfrm>
          <a:prstGeom prst="ellips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93776" y="5843016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Shell（平台团队）</a:t>
            </a:r>
          </a:p>
        </p:txBody>
      </p:sp>
      <p:sp>
        <p:nvSpPr>
          <p:cNvPr id="114" name="Oval 113"/>
          <p:cNvSpPr/>
          <p:nvPr/>
        </p:nvSpPr>
        <p:spPr>
          <a:xfrm>
            <a:off x="2121408" y="5888736"/>
            <a:ext cx="82296" cy="82296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2249424" y="5843016"/>
            <a:ext cx="10972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远程模块 / 插件</a:t>
            </a:r>
          </a:p>
        </p:txBody>
      </p:sp>
      <p:sp>
        <p:nvSpPr>
          <p:cNvPr id="116" name="Oval 115"/>
          <p:cNvSpPr/>
          <p:nvPr/>
        </p:nvSpPr>
        <p:spPr>
          <a:xfrm>
            <a:off x="3694176" y="5888736"/>
            <a:ext cx="82296" cy="82296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822191" y="584301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发布链路</a:t>
            </a:r>
          </a:p>
        </p:txBody>
      </p:sp>
      <p:sp>
        <p:nvSpPr>
          <p:cNvPr id="118" name="Oval 117"/>
          <p:cNvSpPr/>
          <p:nvPr/>
        </p:nvSpPr>
        <p:spPr>
          <a:xfrm>
            <a:off x="4809744" y="5888736"/>
            <a:ext cx="82296" cy="82296"/>
          </a:xfrm>
          <a:prstGeom prst="ellipse">
            <a:avLst/>
          </a:prstGeom>
          <a:solidFill>
            <a:srgbClr val="007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937759" y="584301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契约 / 安全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201168" y="6089904"/>
            <a:ext cx="11786616" cy="1463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640" b="0" i="0">
                <a:solidFill>
                  <a:srgbClr val="64748B"/>
                </a:solidFill>
                <a:latin typeface="Segoe UI"/>
                <a:ea typeface="Microsoft YaHei"/>
              </a:rPr>
              <a:t>治理防腐化：shared 白名单 ＋ manifest 兼容性 CI 门禁 · 契约测试 · 季度架构体检（依赖漂移 / 跨模块引用扫描）｜ 目标：团队自治 · 互不阻塞 · 统一体验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One-Abbott 共享应用平台 · 技术架构图集（复用与微前端）</dc:title>
  <dc:subject/>
  <dc:creator>One-Abbott Platform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