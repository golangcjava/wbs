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1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804672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393192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1178661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1472184"/>
            <a:ext cx="24688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44951" y="1472184"/>
            <a:ext cx="24140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9552" y="1472184"/>
            <a:ext cx="265176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147218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1472184"/>
            <a:ext cx="34747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1472184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048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804672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1178661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18688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84048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804672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813816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1178661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4464" y="2615184"/>
            <a:ext cx="361188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38144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83863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83863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83863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5352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45352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5352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61120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06840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7997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2569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569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569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8329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2901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通用服务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901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2901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11430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84048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804672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393192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1178661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55664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83096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84048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804672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1178661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33088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60520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00416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27848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5797296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9184" y="579729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D4ED8"/>
                </a:solidFill>
                <a:latin typeface="Segoe UI"/>
                <a:ea typeface="Microsoft YaHei"/>
              </a:rPr>
              <a:t>租户级复用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92224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19656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79392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06824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766560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93992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253728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1168" y="6327648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版本清单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516367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644383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71815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42832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9070848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098280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0369296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10497312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4744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2" name="Oval 111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4" name="Oval 113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6" name="Oval 115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22191" y="584301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8" name="Oval 117"/>
          <p:cNvSpPr/>
          <p:nvPr/>
        </p:nvSpPr>
        <p:spPr>
          <a:xfrm>
            <a:off x="48097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377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64008"/>
            <a:ext cx="11786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81639"/>
                </a:solidFill>
                <a:latin typeface="Segoe UI"/>
                <a:ea typeface="Microsoft YaHei"/>
              </a:rPr>
              <a:t>One-Abbott Shared Application Platform 技术架构图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" y="338328"/>
            <a:ext cx="1178661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47371"/>
                </a:solidFill>
                <a:latin typeface="Segoe UI"/>
                <a:ea typeface="Microsoft YaHei"/>
              </a:rPr>
              <a:t>微前端 + 共享能力中心 + HCP Pool，实现一次构建，多 BU 复用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" y="512064"/>
            <a:ext cx="11896344" cy="6254496"/>
          </a:xfrm>
          <a:prstGeom prst="roundRect">
            <a:avLst>
              <a:gd name="adj" fmla="val 1461"/>
            </a:avLst>
          </a:prstGeom>
          <a:solidFill>
            <a:srgbClr val="FEFEFE"/>
          </a:solidFill>
          <a:ln w="12700">
            <a:solidFill>
              <a:srgbClr val="D5DBE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0277856" cy="365760"/>
          </a:xfrm>
          <a:prstGeom prst="roundRect">
            <a:avLst>
              <a:gd name="adj" fmla="val 15000"/>
            </a:avLst>
          </a:prstGeom>
          <a:solidFill>
            <a:srgbClr val="EBEFEF"/>
          </a:solidFill>
          <a:ln w="12700">
            <a:solidFill>
              <a:srgbClr val="D3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566928"/>
            <a:ext cx="8595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渠道接入层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3856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微信公众号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04288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微信小程序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企业微信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15584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016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Mobile 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86016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PC Portal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CAM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CRM/其他系统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3856" y="987552"/>
            <a:ext cx="9345168" cy="219456"/>
          </a:xfrm>
          <a:prstGeom prst="roundRect">
            <a:avLst>
              <a:gd name="adj" fmla="val 20833"/>
            </a:avLst>
          </a:prstGeom>
          <a:solidFill>
            <a:srgbClr val="C5CFDC"/>
          </a:solidFill>
          <a:ln w="12700">
            <a:solidFill>
              <a:srgbClr val="9FB0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987552"/>
            <a:ext cx="934516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  <a:ea typeface="Microsoft YaHei"/>
              </a:rPr>
              <a:t>One-Abbott Portal（统一入口）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261872"/>
            <a:ext cx="10277856" cy="457200"/>
          </a:xfrm>
          <a:prstGeom prst="roundRect">
            <a:avLst>
              <a:gd name="adj" fmla="val 12000"/>
            </a:avLst>
          </a:prstGeom>
          <a:solidFill>
            <a:srgbClr val="EBF1F6"/>
          </a:solidFill>
          <a:ln w="12700">
            <a:solidFill>
              <a:srgbClr val="CF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261872"/>
            <a:ext cx="85953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统一接入层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OneID/SSO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统一身份认证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8833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1576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API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统一 API 网关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4281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权限中心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RBAC / ABAC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9729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72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消息中心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站内信 / 通知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775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79207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搜索中心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全局搜索服务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0625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3368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243044"/>
                </a:solidFill>
                <a:latin typeface="Segoe UI"/>
                <a:ea typeface="Microsoft YaHei"/>
              </a:rPr>
              <a:t>个性化中心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B7280"/>
                </a:solidFill>
                <a:latin typeface="Segoe UI"/>
                <a:ea typeface="Microsoft YaHei"/>
              </a:rPr>
              <a:t>用户偏好 / 配置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1792224"/>
            <a:ext cx="10277856" cy="1408176"/>
          </a:xfrm>
          <a:prstGeom prst="roundRect">
            <a:avLst>
              <a:gd name="adj" fmla="val 3896"/>
            </a:avLst>
          </a:prstGeom>
          <a:solidFill>
            <a:srgbClr val="E9F1F7"/>
          </a:solidFill>
          <a:ln w="12700">
            <a:solidFill>
              <a:srgbClr val="D0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1792224"/>
            <a:ext cx="859536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微前端应用层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59" b="0" i="0">
                <a:solidFill>
                  <a:srgbClr val="5B7A99"/>
                </a:solidFill>
                <a:latin typeface="Segoe UI"/>
                <a:ea typeface="Microsoft YaHei"/>
              </a:rPr>
              <a:t>Micro Frontend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1847088"/>
            <a:ext cx="934516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4607D"/>
                </a:solidFill>
                <a:latin typeface="Segoe UI"/>
                <a:ea typeface="Microsoft YaHei"/>
              </a:rPr>
              <a:t>Micro Frontend（微前端）· 按需组合，灵活装配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3856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Product MF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0432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产品中心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·产品介绍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·资料下载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·试剂速查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04288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0864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Content MF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40864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学术中心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59152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·文献库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59152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·学术内容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59152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·培训课程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74720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11296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Event MF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11296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会议中心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29584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9584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45152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1728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Sales MF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81728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销售中心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0016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0016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·客户规划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0016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·绩效目标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15584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60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Service MF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服务中心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70448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·报修工单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·现场服务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0448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·巡检管理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86016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22592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HCP MF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2592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0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·HCP360 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0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·互动轨迹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0880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·标签画像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56448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93023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5B7A99"/>
                </a:solidFill>
                <a:latin typeface="Segoe UI"/>
                <a:ea typeface="Microsoft YaHei"/>
              </a:rPr>
              <a:t>AI MF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93023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AI 助手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·智能问答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11312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11312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·运营助手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326880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5F1EA"/>
          </a:solidFill>
          <a:ln w="10160">
            <a:solidFill>
              <a:srgbClr val="CFC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63456" y="2043684"/>
            <a:ext cx="105338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7C5A3A"/>
                </a:solidFill>
                <a:latin typeface="Segoe UI"/>
                <a:ea typeface="Microsoft YaHei"/>
              </a:rPr>
              <a:t>Plugin MF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63456" y="2171700"/>
            <a:ext cx="10533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243044"/>
                </a:solidFill>
                <a:latin typeface="Segoe UI"/>
                <a:ea typeface="Microsoft YaHei"/>
              </a:rPr>
              <a:t>插件扩展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31720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·术后随访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81744" y="2473451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·医学咨询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81744" y="2615184"/>
            <a:ext cx="10168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·竞品情报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33856" y="2944368"/>
            <a:ext cx="5120640" cy="201168"/>
          </a:xfrm>
          <a:prstGeom prst="roundRect">
            <a:avLst>
              <a:gd name="adj" fmla="val 18181"/>
            </a:avLst>
          </a:prstGeom>
          <a:solidFill>
            <a:srgbClr val="F6F8F9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1288" y="2944368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4607D"/>
                </a:solidFill>
                <a:latin typeface="Segoe UI"/>
                <a:ea typeface="Microsoft YaHei"/>
              </a:rPr>
              <a:t>微前端框架：React + Module Federation / Single-SPA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345936" y="2944368"/>
            <a:ext cx="4096512" cy="201168"/>
          </a:xfrm>
          <a:prstGeom prst="roundRect">
            <a:avLst>
              <a:gd name="adj" fmla="val 18181"/>
            </a:avLst>
          </a:prstGeom>
          <a:solidFill>
            <a:srgbClr val="F6F8F9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73368" y="2944368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4607D"/>
                </a:solidFill>
                <a:latin typeface="Segoe UI"/>
                <a:ea typeface="Microsoft YaHei"/>
              </a:rPr>
              <a:t>UI 组件库 &amp; Design System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168" y="3273552"/>
            <a:ext cx="10277856" cy="1225296"/>
          </a:xfrm>
          <a:prstGeom prst="roundRect">
            <a:avLst>
              <a:gd name="adj" fmla="val 4477"/>
            </a:avLst>
          </a:prstGeom>
          <a:solidFill>
            <a:srgbClr val="E9F3F3"/>
          </a:solidFill>
          <a:ln w="12700">
            <a:solidFill>
              <a:srgbClr val="D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6032" y="3273552"/>
            <a:ext cx="859536" cy="12252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共享能力中心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59" b="0" i="0">
                <a:solidFill>
                  <a:srgbClr val="5B7A99"/>
                </a:solidFill>
                <a:latin typeface="Segoe UI"/>
                <a:ea typeface="Microsoft YaHei"/>
              </a:rPr>
              <a:t>Capability Hub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33856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61288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内容能力中心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1288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(Content Hub)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9576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·CMS 内容管理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9576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·文献管理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79576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·文件管理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79576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·内容审核发布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71623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99055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活动能力中心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9055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(Event Hub)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17343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17343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517343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517343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·CME 学分/积分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09390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36822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销售能力中心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36822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(Sales Hub)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855110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·客户管理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55110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55110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·协访管理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55110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·KPI/绩效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147157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174589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服务能力中心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74589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(Service Hub)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92877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·工单管理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192877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·SLA 管理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92877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·派工调度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92877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·备件管理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84924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12356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客户数据能力中心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12356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(Customer Data Hub)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30644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·客户主数据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30644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·客户 360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30644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·标签引擎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30644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·行为分析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822692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850123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AI 能力中心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50123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5B7A99"/>
                </a:solidFill>
                <a:latin typeface="Segoe UI"/>
                <a:ea typeface="Microsoft YaHei"/>
              </a:rPr>
              <a:t>(AI Hub)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8412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·AI 问答（RAG）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8412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8412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·合规审查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68412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·智能预测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60459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5F1EA"/>
          </a:solidFill>
          <a:ln w="10160">
            <a:solidFill>
              <a:srgbClr val="CFC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87891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243044"/>
                </a:solidFill>
                <a:latin typeface="Segoe UI"/>
                <a:ea typeface="Microsoft YaHei"/>
              </a:rPr>
              <a:t>Plugin 容器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87891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7C5A3A"/>
                </a:solidFill>
                <a:latin typeface="Segoe UI"/>
                <a:ea typeface="Microsoft YaHei"/>
              </a:rPr>
              <a:t>(Plugin Container)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06179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·插件市场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206179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·插件管理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206179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·插件运行时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06179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B7280"/>
                </a:solidFill>
                <a:latin typeface="Segoe UI"/>
                <a:ea typeface="Microsoft YaHei"/>
              </a:rPr>
              <a:t>·OpenAPI / SDK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1168" y="4553712"/>
            <a:ext cx="10277856" cy="420624"/>
          </a:xfrm>
          <a:prstGeom prst="roundRect">
            <a:avLst>
              <a:gd name="adj" fmla="val 13043"/>
            </a:avLst>
          </a:prstGeom>
          <a:solidFill>
            <a:srgbClr val="ECE7F4"/>
          </a:solidFill>
          <a:ln w="12700">
            <a:solidFill>
              <a:srgbClr val="D8C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56032" y="4553712"/>
            <a:ext cx="8595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平台基础层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59" b="0" i="0">
                <a:solidFill>
                  <a:srgbClr val="5B7A99"/>
                </a:solidFill>
                <a:latin typeface="Segoe UI"/>
                <a:ea typeface="Microsoft YaHei"/>
              </a:rPr>
              <a:t>Platform Foundation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33856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61288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身份与访问管理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Entra ID / B2C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471623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99055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API 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Azure API Management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809390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836822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消息总线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Service Bus / Event Hub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47157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174589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配置中心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App Configuration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84924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512356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日志与审计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Log &amp; Audit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822692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50123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文件存储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Blob Storage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60459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87891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243044"/>
                </a:solidFill>
                <a:latin typeface="Segoe UI"/>
                <a:ea typeface="Microsoft YaHei"/>
              </a:rPr>
              <a:t>监控告警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01168" y="5029200"/>
            <a:ext cx="10277856" cy="731520"/>
          </a:xfrm>
          <a:prstGeom prst="roundRect">
            <a:avLst>
              <a:gd name="adj" fmla="val 7500"/>
            </a:avLst>
          </a:prstGeom>
          <a:solidFill>
            <a:srgbClr val="B6CCE5"/>
          </a:solidFill>
          <a:ln w="12700">
            <a:solidFill>
              <a:srgbClr val="8FA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56032" y="5029200"/>
            <a:ext cx="859536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数据底座层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59" b="0" i="0">
                <a:solidFill>
                  <a:srgbClr val="5B7A99"/>
                </a:solidFill>
                <a:latin typeface="Segoe UI"/>
                <a:ea typeface="Microsoft YaHei"/>
              </a:rPr>
              <a:t>HCP Pool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133856" y="5102352"/>
            <a:ext cx="579729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207008" y="5129784"/>
            <a:ext cx="565099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F3864"/>
                </a:solidFill>
                <a:latin typeface="Segoe UI"/>
                <a:ea typeface="Microsoft YaHei"/>
              </a:rPr>
              <a:t>HCP Pool（统一数据资产）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207008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34440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OneID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统一身份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633472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660903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HCP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客户主数据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059936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087368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HCO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机构主数据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5486400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513832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Consent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授权管理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207008" y="5486400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34440" y="5486400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Customer 360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87168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514600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Tag Engine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　标签引擎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425696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453128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43044"/>
                </a:solidFill>
                <a:latin typeface="Segoe UI"/>
                <a:ea typeface="Microsoft YaHei"/>
              </a:rPr>
              <a:t>Behavior Event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B7280"/>
                </a:solidFill>
                <a:latin typeface="Segoe UI"/>
                <a:ea typeface="Microsoft YaHei"/>
              </a:rPr>
              <a:t>　行为事件中心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7022592" y="5102352"/>
            <a:ext cx="341985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095744" y="5129784"/>
            <a:ext cx="327355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F3864"/>
                </a:solidFill>
                <a:latin typeface="Segoe UI"/>
                <a:ea typeface="Microsoft YaHei"/>
              </a:rPr>
              <a:t>数据集成与治理（Data Integration &amp; Governance）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095744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123176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243044"/>
                </a:solidFill>
                <a:latin typeface="Segoe UI"/>
                <a:ea typeface="Microsoft YaHei"/>
              </a:rPr>
              <a:t>数据集成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B7280"/>
                </a:solidFill>
                <a:latin typeface="Segoe UI"/>
                <a:ea typeface="Microsoft YaHei"/>
              </a:rPr>
              <a:t>Data Factory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759952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787384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243044"/>
                </a:solidFill>
                <a:latin typeface="Segoe UI"/>
                <a:ea typeface="Microsoft YaHei"/>
              </a:rPr>
              <a:t>数据质量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B7280"/>
                </a:solidFill>
                <a:latin typeface="Segoe UI"/>
                <a:ea typeface="Microsoft YaHei"/>
              </a:rPr>
              <a:t>Data Quality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7095744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23176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243044"/>
                </a:solidFill>
                <a:latin typeface="Segoe UI"/>
                <a:ea typeface="Microsoft YaHei"/>
              </a:rPr>
              <a:t>数据治理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B7280"/>
                </a:solidFill>
                <a:latin typeface="Segoe UI"/>
                <a:ea typeface="Microsoft YaHei"/>
              </a:rPr>
              <a:t>Data Governance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759952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5FA"/>
          </a:solidFill>
          <a:ln w="10160">
            <a:solidFill>
              <a:srgbClr val="A9BC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87384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243044"/>
                </a:solidFill>
                <a:latin typeface="Segoe UI"/>
                <a:ea typeface="Microsoft YaHei"/>
              </a:rPr>
              <a:t>元数据管理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B7280"/>
                </a:solidFill>
                <a:latin typeface="Segoe UI"/>
                <a:ea typeface="Microsoft YaHei"/>
              </a:rPr>
              <a:t>Metadata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01168" y="5815584"/>
            <a:ext cx="10277856" cy="420624"/>
          </a:xfrm>
          <a:prstGeom prst="roundRect">
            <a:avLst>
              <a:gd name="adj" fmla="val 13043"/>
            </a:avLst>
          </a:prstGeom>
          <a:solidFill>
            <a:srgbClr val="E9EFF6"/>
          </a:solidFill>
          <a:ln w="12700">
            <a:solidFill>
              <a:srgbClr val="D4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56032" y="5815584"/>
            <a:ext cx="8595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数据与 AI 平台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59" b="0" i="0">
                <a:solidFill>
                  <a:srgbClr val="5B7A99"/>
                </a:solidFill>
                <a:latin typeface="Segoe UI"/>
                <a:ea typeface="Microsoft YaHei"/>
              </a:rPr>
              <a:t>Data &amp; AI Platform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13385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16128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数据湖仓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Data Lake · ADLS Gen2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268833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71576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数据处理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Databricks · ETL/ELT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424281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27024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AI 搜索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Azure AI Search · 全文/向量检索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79729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82472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Azure OpenAI · GPT/RAG/Prompt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7351775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379207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数据分析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Microsoft Fabric · 建模/分析/共享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90625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93368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243044"/>
                </a:solidFill>
                <a:latin typeface="Segoe UI"/>
                <a:ea typeface="Microsoft YaHei"/>
              </a:rPr>
              <a:t>可视化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B7280"/>
                </a:solidFill>
                <a:latin typeface="Segoe UI"/>
                <a:ea typeface="Microsoft YaHei"/>
              </a:rPr>
              <a:t>Power BI · 报表/仪表盘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201168" y="6291072"/>
            <a:ext cx="10277856" cy="310896"/>
          </a:xfrm>
          <a:prstGeom prst="roundRect">
            <a:avLst>
              <a:gd name="adj" fmla="val 17647"/>
            </a:avLst>
          </a:prstGeom>
          <a:solidFill>
            <a:srgbClr val="FAF5E5"/>
          </a:solidFill>
          <a:ln w="12700">
            <a:solidFill>
              <a:srgbClr val="E6D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56032" y="6291072"/>
            <a:ext cx="85953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0235E"/>
                </a:solidFill>
                <a:latin typeface="Segoe UI"/>
                <a:ea typeface="Microsoft YaHei"/>
              </a:rPr>
              <a:t>外部系统对接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133856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61288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ERP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2304288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331720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SAP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3474720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502151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CRM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4645152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672584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MDM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5815584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843016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EHR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986016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7013448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BI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8156448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8183879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IoT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9326880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DFAF2"/>
          </a:solidFill>
          <a:ln w="10160">
            <a:solidFill>
              <a:srgbClr val="E3D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9354312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B5B3E"/>
                </a:solidFill>
                <a:latin typeface="Segoe UI"/>
                <a:ea typeface="Microsoft YaHei"/>
              </a:rPr>
              <a:t>第三方系统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0533888" y="566928"/>
            <a:ext cx="1453896" cy="6108192"/>
          </a:xfrm>
          <a:prstGeom prst="roundRect">
            <a:avLst>
              <a:gd name="adj" fmla="val 4402"/>
            </a:avLst>
          </a:prstGeom>
          <a:solidFill>
            <a:srgbClr val="CFDDD8"/>
          </a:solidFill>
          <a:ln w="12700">
            <a:solidFill>
              <a:srgbClr val="AEC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10533888" y="566928"/>
            <a:ext cx="1453896" cy="237744"/>
          </a:xfrm>
          <a:prstGeom prst="roundRect">
            <a:avLst>
              <a:gd name="adj" fmla="val 19230"/>
            </a:avLst>
          </a:prstGeom>
          <a:solidFill>
            <a:srgbClr val="B8BECC"/>
          </a:solidFill>
          <a:ln w="12700">
            <a:solidFill>
              <a:srgbClr val="8F9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33888" y="566928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F2937"/>
                </a:solidFill>
                <a:latin typeface="Segoe UI"/>
                <a:ea typeface="Microsoft YaHei"/>
              </a:rPr>
              <a:t>能力复用 &amp; 价值</a:t>
            </a:r>
          </a:p>
        </p:txBody>
      </p:sp>
      <p:sp>
        <p:nvSpPr>
          <p:cNvPr id="224" name="Oval 223"/>
          <p:cNvSpPr/>
          <p:nvPr/>
        </p:nvSpPr>
        <p:spPr>
          <a:xfrm>
            <a:off x="10588752" y="909828"/>
            <a:ext cx="73152" cy="73152"/>
          </a:xfrm>
          <a:prstGeom prst="ellipse">
            <a:avLst/>
          </a:prstGeom>
          <a:solidFill>
            <a:srgbClr val="5E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716767" y="877824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6324F"/>
                </a:solidFill>
                <a:latin typeface="Segoe UI"/>
                <a:ea typeface="Microsoft YaHei"/>
              </a:rPr>
              <a:t>微前端 ＋ 共享能力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10533888" y="1033271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561319" y="1033271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一次构建 · 多端复用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10533888" y="12618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561319" y="12618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BU 应用按需组合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0533888" y="14904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561319" y="14904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统一标准 · 统一技术栈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10533888" y="17190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0561319" y="17190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统一开发规范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0533888" y="19476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561319" y="19476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降低 80%+ 重复建设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0533888" y="21762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561319" y="21762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降低成本</a:t>
            </a:r>
          </a:p>
        </p:txBody>
      </p:sp>
      <p:sp>
        <p:nvSpPr>
          <p:cNvPr id="238" name="Oval 237"/>
          <p:cNvSpPr/>
          <p:nvPr/>
        </p:nvSpPr>
        <p:spPr>
          <a:xfrm>
            <a:off x="10588752" y="2546604"/>
            <a:ext cx="73152" cy="73152"/>
          </a:xfrm>
          <a:prstGeom prst="ellipse">
            <a:avLst/>
          </a:prstGeom>
          <a:solidFill>
            <a:srgbClr val="4A7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0716767" y="2514600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6324F"/>
                </a:solidFill>
                <a:latin typeface="Segoe UI"/>
                <a:ea typeface="Microsoft YaHei"/>
              </a:rPr>
              <a:t>数据价值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10533888" y="26700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561319" y="26700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数据统一 · 洞察驱动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10533888" y="28986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61319" y="28986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HCP Pool 打通数据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0533888" y="31272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561319" y="31272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构建客户 360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10533888" y="33558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0561319" y="33558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赋能精准运营与 AI</a:t>
            </a:r>
          </a:p>
        </p:txBody>
      </p:sp>
      <p:sp>
        <p:nvSpPr>
          <p:cNvPr id="248" name="Oval 247"/>
          <p:cNvSpPr/>
          <p:nvPr/>
        </p:nvSpPr>
        <p:spPr>
          <a:xfrm>
            <a:off x="10588752" y="3726180"/>
            <a:ext cx="73152" cy="73152"/>
          </a:xfrm>
          <a:prstGeom prst="ellipse">
            <a:avLst/>
          </a:prstGeom>
          <a:solidFill>
            <a:srgbClr val="B06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10716767" y="3694176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6324F"/>
                </a:solidFill>
                <a:latin typeface="Segoe UI"/>
                <a:ea typeface="Microsoft YaHei"/>
              </a:rPr>
              <a:t>插件生态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10533888" y="38496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10561319" y="38496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插件扩展 · 生态开放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10533888" y="40782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561319" y="40782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Plugin Container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10533888" y="43068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0561319" y="43068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快速扩展能力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10533888" y="45354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0561319" y="45354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支持创新与合作</a:t>
            </a:r>
          </a:p>
        </p:txBody>
      </p:sp>
      <p:sp>
        <p:nvSpPr>
          <p:cNvPr id="258" name="Oval 257"/>
          <p:cNvSpPr/>
          <p:nvPr/>
        </p:nvSpPr>
        <p:spPr>
          <a:xfrm>
            <a:off x="10588752" y="4905756"/>
            <a:ext cx="73152" cy="73152"/>
          </a:xfrm>
          <a:prstGeom prst="ellipse">
            <a:avLst/>
          </a:prstGeom>
          <a:solidFill>
            <a:srgbClr val="7A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716767" y="4873752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26324F"/>
                </a:solidFill>
                <a:latin typeface="Segoe UI"/>
                <a:ea typeface="Microsoft YaHei"/>
              </a:rPr>
              <a:t>智能运营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10533888" y="50292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10561319" y="50292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智能运营 · 降本增效</a:t>
            </a:r>
          </a:p>
        </p:txBody>
      </p:sp>
      <p:sp>
        <p:nvSpPr>
          <p:cNvPr id="262" name="Rounded Rectangle 261"/>
          <p:cNvSpPr/>
          <p:nvPr/>
        </p:nvSpPr>
        <p:spPr>
          <a:xfrm>
            <a:off x="10533888" y="52578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0561319" y="52578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AI 赋能运营全流程</a:t>
            </a:r>
          </a:p>
        </p:txBody>
      </p:sp>
      <p:sp>
        <p:nvSpPr>
          <p:cNvPr id="264" name="Rounded Rectangle 263"/>
          <p:cNvSpPr/>
          <p:nvPr/>
        </p:nvSpPr>
        <p:spPr>
          <a:xfrm>
            <a:off x="10533888" y="54864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160">
            <a:solidFill>
              <a:srgbClr val="A8B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0561319" y="54864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26324F"/>
                </a:solidFill>
                <a:latin typeface="Segoe UI"/>
                <a:ea typeface="Microsoft YaHei"/>
              </a:rPr>
              <a:t>提升效率与体验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10533888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0561319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A7AB5"/>
                </a:solidFill>
                <a:latin typeface="Segoe UI"/>
                <a:ea typeface="Microsoft YaHei"/>
              </a:rPr>
              <a:t>渠道与接入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11283696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1311128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5E8FA8"/>
                </a:solidFill>
                <a:latin typeface="Segoe UI"/>
                <a:ea typeface="Microsoft YaHei"/>
              </a:rPr>
              <a:t>平台能力</a:t>
            </a:r>
          </a:p>
        </p:txBody>
      </p:sp>
      <p:sp>
        <p:nvSpPr>
          <p:cNvPr id="270" name="Rounded Rectangle 269"/>
          <p:cNvSpPr/>
          <p:nvPr/>
        </p:nvSpPr>
        <p:spPr>
          <a:xfrm>
            <a:off x="10533888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561319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7A6FB8"/>
                </a:solidFill>
                <a:latin typeface="Segoe UI"/>
                <a:ea typeface="Microsoft YaHei"/>
              </a:rPr>
              <a:t>应用与体验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11283696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1311128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A7AB5"/>
                </a:solidFill>
                <a:latin typeface="Segoe UI"/>
                <a:ea typeface="Microsoft YaHei"/>
              </a:rPr>
              <a:t>数据资产</a:t>
            </a:r>
          </a:p>
        </p:txBody>
      </p:sp>
      <p:sp>
        <p:nvSpPr>
          <p:cNvPr id="274" name="Rounded Rectangle 273"/>
          <p:cNvSpPr/>
          <p:nvPr/>
        </p:nvSpPr>
        <p:spPr>
          <a:xfrm>
            <a:off x="10533888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0561319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8A7A55"/>
                </a:solidFill>
                <a:latin typeface="Segoe UI"/>
                <a:ea typeface="Microsoft YaHei"/>
              </a:rPr>
              <a:t>共享能力</a:t>
            </a:r>
          </a:p>
        </p:txBody>
      </p:sp>
      <p:sp>
        <p:nvSpPr>
          <p:cNvPr id="276" name="Rounded Rectangle 275"/>
          <p:cNvSpPr/>
          <p:nvPr/>
        </p:nvSpPr>
        <p:spPr>
          <a:xfrm>
            <a:off x="11283696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EDEFF0"/>
          </a:solidFill>
          <a:ln w="10160">
            <a:solidFill>
              <a:srgbClr val="B9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1311128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5B6670"/>
                </a:solidFill>
                <a:latin typeface="Segoe UI"/>
                <a:ea typeface="Microsoft YaHei"/>
              </a:rPr>
              <a:t>基础设施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