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91695" cy="320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"/>
            <a:ext cx="12191695" cy="320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86600" y="1188720"/>
            <a:ext cx="5102352" cy="5394960"/>
          </a:xfrm>
          <a:prstGeom prst="roundRect">
            <a:avLst>
              <a:gd name="adj" fmla="val 448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0" y="1691640"/>
            <a:ext cx="4343400" cy="4343400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882127" y="2103120"/>
            <a:ext cx="3749039" cy="475488"/>
          </a:xfrm>
          <a:prstGeom prst="roundRect">
            <a:avLst>
              <a:gd name="adj" fmla="val 15384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36992" y="2103120"/>
            <a:ext cx="363931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47857"/>
                </a:solidFill>
                <a:latin typeface="Segoe UI"/>
                <a:ea typeface="Microsoft YaHei"/>
              </a:rPr>
              <a:t>渠道层 · 微信 / 小程序 / 企微 / App / Portal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756648" y="2578608"/>
            <a:ext cx="0" cy="164592"/>
          </a:xfrm>
          <a:prstGeom prst="line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7882127" y="2761488"/>
            <a:ext cx="3749039" cy="475488"/>
          </a:xfrm>
          <a:prstGeom prst="roundRect">
            <a:avLst>
              <a:gd name="adj" fmla="val 15384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6992" y="2761488"/>
            <a:ext cx="363931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E7490"/>
                </a:solidFill>
                <a:latin typeface="Segoe UI"/>
                <a:ea typeface="Microsoft YaHei"/>
              </a:rPr>
              <a:t>BFF / Portal Shell · Module Federation 微前端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756648" y="3236976"/>
            <a:ext cx="0" cy="164592"/>
          </a:xfrm>
          <a:prstGeom prst="line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13" name="Rounded Rectangle 12"/>
          <p:cNvSpPr/>
          <p:nvPr/>
        </p:nvSpPr>
        <p:spPr>
          <a:xfrm>
            <a:off x="7882127" y="3419856"/>
            <a:ext cx="3749039" cy="475488"/>
          </a:xfrm>
          <a:prstGeom prst="roundRect">
            <a:avLst>
              <a:gd name="adj" fmla="val 15384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36992" y="3419856"/>
            <a:ext cx="363931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92400E"/>
                </a:solidFill>
                <a:latin typeface="Segoe UI"/>
                <a:ea typeface="Microsoft YaHei"/>
              </a:rPr>
              <a:t>能力层 · Content / Event / Customer / Sales / Service / AI / Plugin Hub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756648" y="3895344"/>
            <a:ext cx="0" cy="164592"/>
          </a:xfrm>
          <a:prstGeom prst="line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16" name="Rounded Rectangle 15"/>
          <p:cNvSpPr/>
          <p:nvPr/>
        </p:nvSpPr>
        <p:spPr>
          <a:xfrm>
            <a:off x="7882127" y="4078224"/>
            <a:ext cx="3749039" cy="475488"/>
          </a:xfrm>
          <a:prstGeom prst="roundRect">
            <a:avLst>
              <a:gd name="adj" fmla="val 15384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36992" y="4078224"/>
            <a:ext cx="363931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E40AF"/>
                </a:solidFill>
                <a:latin typeface="Segoe UI"/>
                <a:ea typeface="Microsoft YaHei"/>
              </a:rPr>
              <a:t>HCP Pool · OneID · Consent · Customer360（Fabric 湖仓）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756648" y="4553712"/>
            <a:ext cx="0" cy="164592"/>
          </a:xfrm>
          <a:prstGeom prst="line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7882127" y="4736592"/>
            <a:ext cx="3749039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736592"/>
            <a:ext cx="363931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6D28D9"/>
                </a:solidFill>
                <a:latin typeface="Segoe UI"/>
                <a:ea typeface="Microsoft YaHei"/>
              </a:rPr>
              <a:t>AI 平台 · model-gateway · RAG · Azure OpenAI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82127" y="5394960"/>
            <a:ext cx="3749039" cy="347472"/>
          </a:xfrm>
          <a:prstGeom prst="roundRect">
            <a:avLst>
              <a:gd name="adj" fmla="val 15789"/>
            </a:avLst>
          </a:prstGeom>
          <a:solidFill>
            <a:srgbClr val="F6F8FA"/>
          </a:solidFill>
          <a:ln w="1397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36992" y="5394960"/>
            <a:ext cx="3639312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75569"/>
                </a:solidFill>
                <a:latin typeface="Segoe UI"/>
                <a:ea typeface="Microsoft YaHei"/>
              </a:rPr>
              <a:t>Azure Landing Zone · AKS · GitOps · 可观测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82127" y="5797296"/>
            <a:ext cx="3749039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94A3B8"/>
                </a:solidFill>
                <a:latin typeface="Segoe UI"/>
                <a:ea typeface="Microsoft YaHei"/>
              </a:rPr>
              <a:t>Build Once · Reuse Everywhere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141732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300">
                <a:solidFill>
                  <a:srgbClr val="64748B"/>
                </a:solidFill>
                <a:latin typeface="Segoe UI"/>
                <a:ea typeface="Microsoft YaHei"/>
              </a:rPr>
              <a:t>One-Abbott 共享应用平台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1755648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F172A"/>
                </a:solidFill>
                <a:latin typeface="Segoe UI"/>
                <a:ea typeface="Microsoft YaHei"/>
              </a:rPr>
              <a:t>技术架构图集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" y="2615184"/>
            <a:ext cx="566928" cy="4114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761488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Segoe UI"/>
                <a:ea typeface="Microsoft YaHei"/>
              </a:rPr>
              <a:t>总体架构 · 微前端与插件 · HCP Pool 数据架构 · AI 平台与合规 · 全部 PPT 原生形状绘制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" y="3127248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69264" y="3209544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9264" y="3209544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36192" y="3200400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Microsoft YaHei"/>
              </a:rPr>
              <a:t>总体技术架构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36192" y="3447288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4748B"/>
                </a:solidFill>
                <a:latin typeface="Segoe UI"/>
                <a:ea typeface="Microsoft YaHei"/>
              </a:rPr>
              <a:t>渠道 → 接入边缘 → BFF → 能力 Hub → 事件骨干 → 数据层 → Landing Zone ｜ AI 平台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" y="3803904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69264" y="3886200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9264" y="3886200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891B2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36192" y="3877056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Microsoft YaHei"/>
              </a:rPr>
              <a:t>微前端与插件架构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36192" y="4123944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4748B"/>
                </a:solidFill>
                <a:latin typeface="Segoe UI"/>
                <a:ea typeface="Microsoft YaHei"/>
              </a:rPr>
              <a:t>Portal Shell · Module Federation · manifest 灰度发布 · 插件运行时与安全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1248" y="4480560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69264" y="4562856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9264" y="4562856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59669"/>
                </a:solidFill>
                <a:latin typeface="Consolas"/>
                <a:ea typeface="Microsoft YaHei"/>
              </a:rPr>
              <a:t>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36192" y="4553712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Microsoft YaHei"/>
              </a:rPr>
              <a:t>HCP Pool 数据架构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36192" y="4800600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4748B"/>
                </a:solidFill>
                <a:latin typeface="Segoe UI"/>
                <a:ea typeface="Microsoft YaHei"/>
              </a:rPr>
              <a:t>OneID 匹配 · Consent 同意账本 · Customer360 · Fabric Medallion 湖仓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41248" y="5157216"/>
            <a:ext cx="5806440" cy="60350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69264" y="5239512"/>
            <a:ext cx="438912" cy="438912"/>
          </a:xfrm>
          <a:prstGeom prst="roundRect">
            <a:avLst>
              <a:gd name="adj" fmla="val 16666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9264" y="5239512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7C3AED"/>
                </a:solidFill>
                <a:latin typeface="Consolas"/>
                <a:ea typeface="Microsoft YaHei"/>
              </a:rPr>
              <a:t>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36192" y="5230368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F172A"/>
                </a:solidFill>
                <a:latin typeface="Segoe UI"/>
                <a:ea typeface="Microsoft YaHei"/>
              </a:rPr>
              <a:t>AI 平台与医药合规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36192" y="547725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64748B"/>
                </a:solidFill>
                <a:latin typeface="Segoe UI"/>
                <a:ea typeface="Microsoft YaHei"/>
              </a:rPr>
              <a:t>model-gateway 场景路由 · RAG 管道 · AE / PQ 护栏 · 两步审核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1248" y="6382512"/>
            <a:ext cx="5806440" cy="3200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1248" y="6473952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4A3B8"/>
                </a:solidFill>
                <a:latin typeface="Segoe UI"/>
                <a:ea typeface="Microsoft YaHei"/>
              </a:rPr>
              <a:t>整理自 archi.md 与 tech-architecture.md · 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One-Abbott 共享应用平台 · 总体技术架构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Build Once · Reuse Everywhere
渠道 / 微前端 → 能力 Hub → HCP Pool → AI → Azure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" y="566928"/>
            <a:ext cx="9272016" cy="694944"/>
          </a:xfrm>
          <a:prstGeom prst="roundRect">
            <a:avLst>
              <a:gd name="adj" fmla="val 10526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30936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01 渠道层 · Experience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640080"/>
            <a:ext cx="34747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HCP · 销售 · 服务工程师 · 内部运营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822960"/>
            <a:ext cx="1700784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" y="822960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微信公众号 · H5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内容 / 会议 / 积分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53412" y="822960"/>
            <a:ext cx="1700784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80844" y="822960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微信小程序 · Taro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内容 / 签到 / AI 问答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41064" y="822960"/>
            <a:ext cx="1700784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68496" y="822960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企业微信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侧边栏 · 拜访 / C360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28716" y="822960"/>
            <a:ext cx="1700784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6148" y="822960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App · React Native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离线拜访 / 工单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16368" y="822960"/>
            <a:ext cx="1700784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43800" y="822960"/>
            <a:ext cx="1645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Portal · 微前端 Shell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运营管理后台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331720" y="1261872"/>
            <a:ext cx="0" cy="73152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6583680" y="1261872"/>
            <a:ext cx="0" cy="73152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20" name="Rounded Rectangle 19"/>
          <p:cNvSpPr/>
          <p:nvPr/>
        </p:nvSpPr>
        <p:spPr>
          <a:xfrm>
            <a:off x="201168" y="1335024"/>
            <a:ext cx="9272016" cy="512064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1399032"/>
            <a:ext cx="23774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75569"/>
                </a:solidFill>
                <a:latin typeface="Segoe UI"/>
                <a:ea typeface="Microsoft YaHei"/>
              </a:rPr>
              <a:t>02 接入边缘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1572768"/>
            <a:ext cx="1920240" cy="219456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3192" y="1572768"/>
            <a:ext cx="186537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CDN + WAF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304288" y="1682496"/>
            <a:ext cx="182880" cy="0"/>
          </a:xfrm>
          <a:prstGeom prst="line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25" name="Rounded Rectangle 24"/>
          <p:cNvSpPr/>
          <p:nvPr/>
        </p:nvSpPr>
        <p:spPr>
          <a:xfrm>
            <a:off x="2505456" y="1572768"/>
            <a:ext cx="3017520" cy="219456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32888" y="1572768"/>
            <a:ext cx="296265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1E40AF"/>
                </a:solidFill>
                <a:latin typeface="Segoe UI"/>
                <a:ea typeface="Microsoft YaHei"/>
              </a:rPr>
              <a:t>Azure API Management · 外部实例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0" y="1517904"/>
            <a:ext cx="3566160" cy="329184"/>
          </a:xfrm>
          <a:prstGeom prst="roundRect">
            <a:avLst>
              <a:gd name="adj" fmla="val 13888"/>
            </a:avLst>
          </a:prstGeom>
          <a:solidFill>
            <a:srgbClr val="FFFF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96712" y="1517904"/>
            <a:ext cx="351129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身份：Entra ID（内部 SSO·MFA）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identity-service 微信 OAuth / 验证码（外部 → OneID）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331720" y="1847088"/>
            <a:ext cx="0" cy="73152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6583680" y="1847088"/>
            <a:ext cx="0" cy="73152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1" name="Rounded Rectangle 30"/>
          <p:cNvSpPr/>
          <p:nvPr/>
        </p:nvSpPr>
        <p:spPr>
          <a:xfrm>
            <a:off x="201168" y="1920240"/>
            <a:ext cx="9272016" cy="585216"/>
          </a:xfrm>
          <a:prstGeom prst="roundRect">
            <a:avLst>
              <a:gd name="adj" fmla="val 12500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1984248"/>
            <a:ext cx="3108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03 BFF 聚合层 · AKS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37760" y="1993392"/>
            <a:ext cx="438912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只做聚合 / 裁剪 / 鉴权上下文 · 不写业务规则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2121408"/>
            <a:ext cx="2157984" cy="347472"/>
          </a:xfrm>
          <a:prstGeom prst="roundRect">
            <a:avLst>
              <a:gd name="adj" fmla="val 13157"/>
            </a:avLst>
          </a:prstGeom>
          <a:solidFill>
            <a:srgbClr val="FFFFFF"/>
          </a:solidFill>
          <a:ln w="1524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3192" y="2121408"/>
            <a:ext cx="2103120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hcp-bff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小程序 / H5 聚合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96896" y="2121408"/>
            <a:ext cx="2157984" cy="347472"/>
          </a:xfrm>
          <a:prstGeom prst="roundRect">
            <a:avLst>
              <a:gd name="adj" fmla="val 13157"/>
            </a:avLst>
          </a:prstGeom>
          <a:solidFill>
            <a:srgbClr val="FFFFFF"/>
          </a:solidFill>
          <a:ln w="1524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24327" y="2121408"/>
            <a:ext cx="2103120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wework-bff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企微侧边栏聚合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828031" y="2121408"/>
            <a:ext cx="2157984" cy="347472"/>
          </a:xfrm>
          <a:prstGeom prst="roundRect">
            <a:avLst>
              <a:gd name="adj" fmla="val 13157"/>
            </a:avLst>
          </a:prstGeom>
          <a:solidFill>
            <a:srgbClr val="FFFFFF"/>
          </a:solidFill>
          <a:ln w="1524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5464" y="2121408"/>
            <a:ext cx="2103120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app-bff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离线同步 · 冲突合并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059167" y="2121408"/>
            <a:ext cx="2157984" cy="347472"/>
          </a:xfrm>
          <a:prstGeom prst="roundRect">
            <a:avLst>
              <a:gd name="adj" fmla="val 13157"/>
            </a:avLst>
          </a:prstGeom>
          <a:solidFill>
            <a:srgbClr val="FFFFFF"/>
          </a:solidFill>
          <a:ln w="1524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86599" y="2121408"/>
            <a:ext cx="2103120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portal-bff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运营门户聚合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331720" y="2505456"/>
            <a:ext cx="0" cy="73152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6583680" y="2505456"/>
            <a:ext cx="0" cy="73152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44" name="Rounded Rectangle 43"/>
          <p:cNvSpPr/>
          <p:nvPr/>
        </p:nvSpPr>
        <p:spPr>
          <a:xfrm>
            <a:off x="201168" y="2578608"/>
            <a:ext cx="9272016" cy="1865376"/>
          </a:xfrm>
          <a:prstGeom prst="roundRect">
            <a:avLst>
              <a:gd name="adj" fmla="val 3921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60" y="2642616"/>
            <a:ext cx="658368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4155"/>
                </a:solidFill>
                <a:latin typeface="Segoe UI"/>
                <a:ea typeface="Microsoft YaHei"/>
              </a:rPr>
              <a:t>04 能力层 · Capability Hub（AKS 命名空间 · 一 Hub 一限界上下文 · Database-per-Service）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184" y="2834640"/>
            <a:ext cx="310896" cy="1316736"/>
          </a:xfrm>
          <a:prstGeom prst="roundRect">
            <a:avLst>
              <a:gd name="adj" fmla="val 14705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9184" y="2834640"/>
            <a:ext cx="310896" cy="1316736"/>
          </a:xfrm>
          <a:prstGeom prst="rect">
            <a:avLst/>
          </a:prstGeom>
          <a:noFill/>
        </p:spPr>
        <p:txBody>
          <a:bodyPr wrap="square" lIns="0" rIns="0" tIns="0" bIns="0" anchor="ctr" vert="eaVer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1E40AF"/>
                </a:solidFill>
                <a:latin typeface="Segoe UI"/>
                <a:ea typeface="Microsoft YaHei"/>
              </a:rPr>
              <a:t>内部 APIM · VNet 内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640080" y="3118104"/>
            <a:ext cx="109728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640080" y="3867912"/>
            <a:ext cx="109728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50" name="Rounded Rectangle 49"/>
          <p:cNvSpPr/>
          <p:nvPr/>
        </p:nvSpPr>
        <p:spPr>
          <a:xfrm>
            <a:off x="749808" y="2779776"/>
            <a:ext cx="2066543" cy="676656"/>
          </a:xfrm>
          <a:prstGeom prst="roundRect">
            <a:avLst>
              <a:gd name="adj" fmla="val 8108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4671" y="2825496"/>
            <a:ext cx="1956816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Content Hub · 内容与学术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4671" y="2999232"/>
            <a:ext cx="195681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1E40AF"/>
                </a:solidFill>
                <a:latin typeface="Segoe UI"/>
                <a:ea typeface="Microsoft YaHei"/>
              </a:rPr>
              <a:t>content · dam · search · publish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4671" y="3145536"/>
            <a:ext cx="1956816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CMS · DAM · 多渠道发布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889503" y="2779776"/>
            <a:ext cx="2066543" cy="676656"/>
          </a:xfrm>
          <a:prstGeom prst="roundRect">
            <a:avLst>
              <a:gd name="adj" fmla="val 8108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944368" y="2825496"/>
            <a:ext cx="1956816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Event Hub · 会议与积分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44368" y="2999232"/>
            <a:ext cx="195681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47857"/>
                </a:solidFill>
                <a:latin typeface="Segoe UI"/>
                <a:ea typeface="Microsoft YaHei"/>
              </a:rPr>
              <a:t>event · registration · live · points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44368" y="3145536"/>
            <a:ext cx="1956816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签到 · 直播 · 双录积分账本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029200" y="2779776"/>
            <a:ext cx="2066543" cy="676656"/>
          </a:xfrm>
          <a:prstGeom prst="roundRect">
            <a:avLst>
              <a:gd name="adj" fmla="val 8108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84064" y="2825496"/>
            <a:ext cx="1956816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Customer Hub · 客户主数据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84064" y="2999232"/>
            <a:ext cx="195681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E7490"/>
                </a:solidFill>
                <a:latin typeface="Segoe UI"/>
                <a:ea typeface="Microsoft YaHei"/>
              </a:rPr>
              <a:t>hcp/hco · oneid · consent · c360 · tag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84064" y="3145536"/>
            <a:ext cx="1956816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匹配合并 · 同意账本 · 标签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168896" y="2779776"/>
            <a:ext cx="2066543" cy="676656"/>
          </a:xfrm>
          <a:prstGeom prst="roundRect">
            <a:avLst>
              <a:gd name="adj" fmla="val 8108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223759" y="2825496"/>
            <a:ext cx="1956816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Sales Hub · 销售执行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223759" y="2999232"/>
            <a:ext cx="195681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92400E"/>
                </a:solidFill>
                <a:latin typeface="Segoe UI"/>
                <a:ea typeface="Microsoft YaHei"/>
              </a:rPr>
              <a:t>visit · checkin · sync · performance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59" y="3145536"/>
            <a:ext cx="1956816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GPS 打卡 · 离线同步 · KPI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49808" y="3529584"/>
            <a:ext cx="2066543" cy="676656"/>
          </a:xfrm>
          <a:prstGeom prst="roundRect">
            <a:avLst>
              <a:gd name="adj" fmla="val 8108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04671" y="3575303"/>
            <a:ext cx="1956816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Service Hub · 售后服务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4671" y="3749039"/>
            <a:ext cx="195681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475569"/>
                </a:solidFill>
                <a:latin typeface="Segoe UI"/>
                <a:ea typeface="Microsoft YaHei"/>
              </a:rPr>
              <a:t>ticket · parts · iot-ingest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4671" y="3895344"/>
            <a:ext cx="1956816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SLA 计时 · 备件 · 遥测告警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889503" y="3529584"/>
            <a:ext cx="2066543" cy="676656"/>
          </a:xfrm>
          <a:prstGeom prst="roundRect">
            <a:avLst>
              <a:gd name="adj" fmla="val 8108"/>
            </a:avLst>
          </a:prstGeom>
          <a:solidFill>
            <a:srgbClr val="FDF2F8"/>
          </a:solidFill>
          <a:ln w="15240">
            <a:solidFill>
              <a:srgbClr val="F9A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944368" y="3575303"/>
            <a:ext cx="1956816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Plugin Runtime · 插件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44368" y="3749039"/>
            <a:ext cx="195681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BE185D"/>
                </a:solidFill>
                <a:latin typeface="Segoe UI"/>
                <a:ea typeface="Microsoft YaHei"/>
              </a:rPr>
              <a:t>术后随访 · 医学咨询 · 竞品情报 · 差旅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944368" y="3895344"/>
            <a:ext cx="1956816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远程 MF ＋ 插件 API · HMAC · 租户启用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029200" y="3529584"/>
            <a:ext cx="2066543" cy="676656"/>
          </a:xfrm>
          <a:prstGeom prst="roundRect">
            <a:avLst>
              <a:gd name="adj" fmla="val 8108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084064" y="3575303"/>
            <a:ext cx="1956816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横切服务 · Cross-cutting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84064" y="3749039"/>
            <a:ext cx="195681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92400E"/>
                </a:solidFill>
                <a:latin typeface="Segoe UI"/>
                <a:ea typeface="Microsoft YaHei"/>
              </a:rPr>
              <a:t>identity · notification · workflow · rules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084064" y="3895344"/>
            <a:ext cx="1956816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file · audit · 契约 @abbott/contracts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168896" y="3529584"/>
            <a:ext cx="2066543" cy="676656"/>
          </a:xfrm>
          <a:prstGeom prst="roundRect">
            <a:avLst>
              <a:gd name="adj" fmla="val 8108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223759" y="3575303"/>
            <a:ext cx="1956816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AI Hub · 智能服务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223759" y="3749039"/>
            <a:ext cx="195681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6D28D9"/>
                </a:solidFill>
                <a:latin typeface="Segoe UI"/>
                <a:ea typeface="Microsoft YaHei"/>
              </a:rPr>
              <a:t>copilot · recommend · review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223759" y="3895344"/>
            <a:ext cx="1956816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模型网关 ＋ RAG → 见右侧 AI 平台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2331720" y="4443984"/>
            <a:ext cx="0" cy="73152"/>
          </a:xfrm>
          <a:prstGeom prst="line">
            <a:avLst/>
          </a:prstGeom>
          <a:ln w="22860">
            <a:solidFill>
              <a:srgbClr val="D97706"/>
            </a:solidFill>
            <a:tailEnd type="triangle" w="med" len="med"/>
          </a:ln>
          <a:effectLst/>
        </p:spPr>
      </p:cxnSp>
      <p:cxnSp>
        <p:nvCxnSpPr>
          <p:cNvPr id="83" name="Connector 82"/>
          <p:cNvCxnSpPr/>
          <p:nvPr/>
        </p:nvCxnSpPr>
        <p:spPr>
          <a:xfrm>
            <a:off x="6583680" y="4443984"/>
            <a:ext cx="0" cy="73152"/>
          </a:xfrm>
          <a:prstGeom prst="line">
            <a:avLst/>
          </a:prstGeom>
          <a:ln w="2286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84" name="Rounded Rectangle 83"/>
          <p:cNvSpPr/>
          <p:nvPr/>
        </p:nvSpPr>
        <p:spPr>
          <a:xfrm>
            <a:off x="201168" y="4517136"/>
            <a:ext cx="9272016" cy="420624"/>
          </a:xfrm>
          <a:prstGeom prst="roundRect">
            <a:avLst>
              <a:gd name="adj" fmla="val 15217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65760" y="4572000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92400E"/>
                </a:solidFill>
                <a:latin typeface="Segoe UI"/>
                <a:ea typeface="Microsoft YaHei"/>
              </a:rPr>
              <a:t>05 事件骨干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65760" y="4718304"/>
            <a:ext cx="12801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D97706"/>
                </a:solidFill>
                <a:latin typeface="Consolas"/>
                <a:ea typeface="Microsoft YaHei"/>
              </a:rPr>
              <a:t>EVENT DRIVEN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691640" y="4590288"/>
            <a:ext cx="3611880" cy="27432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719072" y="4590288"/>
            <a:ext cx="3557016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92400E"/>
                </a:solidFill>
                <a:latin typeface="Segoe UI"/>
                <a:ea typeface="Microsoft YaHei"/>
              </a:rPr>
              <a:t>Service Bus · 领域事件</a:t>
            </a: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　CloudEvents · Outbox · 幂等 · DLQ · 对账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431536" y="4590288"/>
            <a:ext cx="3840480" cy="27432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458968" y="4590288"/>
            <a:ext cx="3785616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92400E"/>
                </a:solidFill>
                <a:latin typeface="Segoe UI"/>
                <a:ea typeface="Microsoft YaHei"/>
              </a:rPr>
              <a:t>Event Hub · 行为流</a:t>
            </a: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　埋点采集 → 实时标签(KEDA) → Fabric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2331720" y="4937760"/>
            <a:ext cx="0" cy="73152"/>
          </a:xfrm>
          <a:prstGeom prst="line">
            <a:avLst/>
          </a:prstGeom>
          <a:ln w="2286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92" name="Connector 91"/>
          <p:cNvCxnSpPr/>
          <p:nvPr/>
        </p:nvCxnSpPr>
        <p:spPr>
          <a:xfrm>
            <a:off x="8412480" y="4937760"/>
            <a:ext cx="0" cy="73152"/>
          </a:xfrm>
          <a:prstGeom prst="line">
            <a:avLst/>
          </a:prstGeom>
          <a:ln w="2286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93" name="Rounded Rectangle 92"/>
          <p:cNvSpPr/>
          <p:nvPr/>
        </p:nvSpPr>
        <p:spPr>
          <a:xfrm>
            <a:off x="201168" y="5010912"/>
            <a:ext cx="9272016" cy="768096"/>
          </a:xfrm>
          <a:prstGeom prst="roundRect">
            <a:avLst>
              <a:gd name="adj" fmla="val 9523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65760" y="5074920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D4ED8"/>
                </a:solidFill>
                <a:latin typeface="Segoe UI"/>
                <a:ea typeface="Microsoft YaHei"/>
              </a:rPr>
              <a:t>06 数据层 · HCP Pool 与湖仓（Medallion）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65760" y="5248656"/>
            <a:ext cx="1207008" cy="438912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93192" y="5248656"/>
            <a:ext cx="1152144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Azure SQL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每服务一库 · RLS 多租户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1644091" y="5248656"/>
            <a:ext cx="1207008" cy="438912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671523" y="5248656"/>
            <a:ext cx="1152144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Cosmos DB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行为 · 画像 · 会话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922422" y="5248656"/>
            <a:ext cx="1207008" cy="438912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949854" y="5248656"/>
            <a:ext cx="1152144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Redis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缓存 · 去重 · 限流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200753" y="5248656"/>
            <a:ext cx="1207008" cy="438912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228185" y="5248656"/>
            <a:ext cx="1152144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Blob / ADLS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资产 · 归档 · WORM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5479084" y="5248656"/>
            <a:ext cx="1207008" cy="438912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506516" y="5248656"/>
            <a:ext cx="1152144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Fabric OneLake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B→S→G · C360 宽表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757415" y="5248656"/>
            <a:ext cx="1207008" cy="438912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784847" y="5248656"/>
            <a:ext cx="1152144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Databricks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OneID 匹配 · ML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8035747" y="5248656"/>
            <a:ext cx="1207008" cy="438912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063179" y="5248656"/>
            <a:ext cx="1152144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Purview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分级 · 血缘 · 术语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01168" y="5852160"/>
            <a:ext cx="9272016" cy="512064"/>
          </a:xfrm>
          <a:prstGeom prst="roundRect">
            <a:avLst>
              <a:gd name="adj" fmla="val 12500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65760" y="5907024"/>
            <a:ext cx="457200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75569"/>
                </a:solidFill>
                <a:latin typeface="Segoe UI"/>
                <a:ea typeface="Microsoft YaHei"/>
              </a:rPr>
              <a:t>07 Azure Landing Zone · 平台工程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65760" y="6062472"/>
            <a:ext cx="2194560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93192" y="6062472"/>
            <a:ext cx="2139696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AKS 私有集群 · KEDA 弹性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633472" y="6062472"/>
            <a:ext cx="2194560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660903" y="6062472"/>
            <a:ext cx="2139696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Terraform + ArgoCD · GitOps 金丝雀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901183" y="6062472"/>
            <a:ext cx="2194560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928616" y="6062472"/>
            <a:ext cx="2139696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Monitor + Grafana · OTel / SLO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7168896" y="6062472"/>
            <a:ext cx="2194560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196328" y="6062472"/>
            <a:ext cx="2139696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Key Vault · App Config · CMK / Flag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9601200" y="566928"/>
            <a:ext cx="2386584" cy="5193792"/>
          </a:xfrm>
          <a:prstGeom prst="roundRect">
            <a:avLst>
              <a:gd name="adj" fmla="val 3448"/>
            </a:avLst>
          </a:prstGeom>
          <a:solidFill>
            <a:srgbClr val="FAF9FF"/>
          </a:solidFill>
          <a:ln w="1778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9729216" y="658368"/>
            <a:ext cx="21488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C3AED"/>
                </a:solidFill>
                <a:latin typeface="Segoe UI"/>
                <a:ea typeface="Microsoft YaHei"/>
              </a:rPr>
              <a:t>AI 平台 · AI Layer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729216" y="841248"/>
            <a:ext cx="21488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Azure OpenAI ＋ 国产备案模型 · 场景路由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9729216" y="1024128"/>
            <a:ext cx="2130552" cy="603504"/>
          </a:xfrm>
          <a:prstGeom prst="roundRect">
            <a:avLst>
              <a:gd name="adj" fmla="val 7575"/>
            </a:avLst>
          </a:prstGeom>
          <a:solidFill>
            <a:srgbClr val="F5F3FF"/>
          </a:solidFill>
          <a:ln w="19050">
            <a:solidFill>
              <a:srgbClr val="7C3AE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784080" y="1060704"/>
            <a:ext cx="2020824" cy="53035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model-gateway 统一网关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场景路由 · 配额成本 · 审计 · 降级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70" b="1" i="0">
                <a:solidFill>
                  <a:srgbClr val="7C3AED"/>
                </a:solidFill>
                <a:latin typeface="Segoe UI"/>
                <a:ea typeface="Microsoft YaHei"/>
              </a:rPr>
              <a:t>一切模型调用必经 ★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9729216" y="1700784"/>
            <a:ext cx="2130552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784080" y="1737360"/>
            <a:ext cx="2020824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rag-service 检索增强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hybrid 检索 · 行级权限 · 引用必附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9729216" y="2267712"/>
            <a:ext cx="2130552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784080" y="2304288"/>
            <a:ext cx="2020824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copilot-api 会话编排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HCP 助手 · 销售 / 运营 Copilot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9729216" y="2834640"/>
            <a:ext cx="2130552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784080" y="2871216"/>
            <a:ext cx="2020824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recommend · review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个性化推荐 · AI 合规预审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9729216" y="3401568"/>
            <a:ext cx="1033271" cy="256032"/>
          </a:xfrm>
          <a:prstGeom prst="roundRect">
            <a:avLst>
              <a:gd name="adj" fmla="val 14285"/>
            </a:avLst>
          </a:prstGeom>
          <a:solidFill>
            <a:srgbClr val="ECFEFF"/>
          </a:solidFill>
          <a:ln w="1270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9756648" y="3401568"/>
            <a:ext cx="978407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0E7490"/>
                </a:solidFill>
                <a:latin typeface="Segoe UI"/>
                <a:ea typeface="Microsoft YaHei"/>
              </a:rPr>
              <a:t>AI Search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10826496" y="3401568"/>
            <a:ext cx="1033271" cy="256032"/>
          </a:xfrm>
          <a:prstGeom prst="roundRect">
            <a:avLst>
              <a:gd name="adj" fmla="val 14285"/>
            </a:avLst>
          </a:prstGeom>
          <a:solidFill>
            <a:srgbClr val="ECFEFF"/>
          </a:solidFill>
          <a:ln w="1270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0853928" y="3401568"/>
            <a:ext cx="978407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0E7490"/>
                </a:solidFill>
                <a:latin typeface="Segoe UI"/>
                <a:ea typeface="Microsoft YaHei"/>
              </a:rPr>
              <a:t>Content Safety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9729216" y="3712463"/>
            <a:ext cx="2130552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756648" y="3712463"/>
            <a:ext cx="207568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Prompt Flow 评测 · 入 CI 门禁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9729216" y="4059936"/>
            <a:ext cx="2130552" cy="566928"/>
          </a:xfrm>
          <a:prstGeom prst="roundRect">
            <a:avLst>
              <a:gd name="adj" fmla="val 8064"/>
            </a:avLst>
          </a:prstGeom>
          <a:solidFill>
            <a:srgbClr val="FFF1F2"/>
          </a:solidFill>
          <a:ln w="16510">
            <a:solidFill>
              <a:srgbClr val="E11D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784080" y="4096512"/>
            <a:ext cx="2020824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E11D48"/>
                </a:solidFill>
                <a:latin typeface="Segoe UI"/>
                <a:ea typeface="Microsoft YaHei"/>
              </a:rPr>
              <a:t>AE / PQ 出站护栏 ★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475569"/>
                </a:solidFill>
                <a:latin typeface="Segoe UI"/>
                <a:ea typeface="Microsoft YaHei"/>
              </a:rPr>
              <a:t>自动捕获 → PV 工单 · 会话全留痕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9729216" y="4700016"/>
            <a:ext cx="2130552" cy="530352"/>
          </a:xfrm>
          <a:prstGeom prst="roundRect">
            <a:avLst>
              <a:gd name="adj" fmla="val 862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9784080" y="4736592"/>
            <a:ext cx="2020824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模型路线 C（推荐）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非敏 → AOAI · 敏感 → 境内驻留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29216" y="5303520"/>
            <a:ext cx="213055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94A3B8"/>
                </a:solidFill>
                <a:latin typeface="Segoe UI"/>
                <a:ea typeface="Microsoft YaHei"/>
              </a:rPr>
              <a:t>Phase 3：AI Search → 推荐 →
Copilot → AI 合规审核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9253728" y="3867912"/>
            <a:ext cx="329184" cy="0"/>
          </a:xfrm>
          <a:prstGeom prst="line">
            <a:avLst/>
          </a:prstGeom>
          <a:ln w="20320">
            <a:solidFill>
              <a:srgbClr val="7C3AED"/>
            </a:solidFill>
            <a:prstDash val="dash"/>
            <a:tailEnd type="triangle" w="med" len="med"/>
          </a:ln>
          <a:effectLst/>
        </p:spPr>
      </p:cxnSp>
      <p:sp>
        <p:nvSpPr>
          <p:cNvPr id="142" name="TextBox 141"/>
          <p:cNvSpPr txBox="1"/>
          <p:nvPr/>
        </p:nvSpPr>
        <p:spPr>
          <a:xfrm>
            <a:off x="201168" y="6437376"/>
            <a:ext cx="117957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分层对应 archi.md：Experience → Application → Capability → Data → AI → Cloud ｜ 多租户：tid 全链路 ＋ SQL 行级安全 ｜ 发布：GitOps 金丝雀 ＋ 微前端 manifest 灰度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微前端与插件架构 · Micro Frontend &amp; Plugin Runtime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React 18 + TS5 + Rspack/Vite + Module Federation
小程序 Taro · App React Native · 多端复用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" y="566928"/>
            <a:ext cx="5760720" cy="1188720"/>
          </a:xfrm>
          <a:prstGeom prst="roundRect">
            <a:avLst>
              <a:gd name="adj" fmla="val 5384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9184" y="640080"/>
            <a:ext cx="53949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Portal Shell · Next.js Host（平台团队统一维护）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" y="841248"/>
            <a:ext cx="1042415" cy="438912"/>
          </a:xfrm>
          <a:prstGeom prst="roundRect">
            <a:avLst>
              <a:gd name="adj" fmla="val 10416"/>
            </a:avLst>
          </a:prstGeom>
          <a:solidFill>
            <a:srgbClr val="ECFEFF"/>
          </a:solidFill>
          <a:ln w="1270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" y="841248"/>
            <a:ext cx="987551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0E7490"/>
                </a:solidFill>
                <a:latin typeface="Segoe UI"/>
                <a:ea typeface="Microsoft YaHei"/>
              </a:rPr>
              <a:t>路由 / 布局
RBAC 菜单下发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35607" y="841248"/>
            <a:ext cx="1042415" cy="438912"/>
          </a:xfrm>
          <a:prstGeom prst="roundRect">
            <a:avLst>
              <a:gd name="adj" fmla="val 10416"/>
            </a:avLst>
          </a:prstGeom>
          <a:solidFill>
            <a:srgbClr val="ECFEFF"/>
          </a:solidFill>
          <a:ln w="1270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39" y="841248"/>
            <a:ext cx="987551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0E7490"/>
                </a:solidFill>
                <a:latin typeface="Segoe UI"/>
                <a:ea typeface="Microsoft YaHei"/>
              </a:rPr>
              <a:t>SSO 会话
权限 SDK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42032" y="841248"/>
            <a:ext cx="1042415" cy="438912"/>
          </a:xfrm>
          <a:prstGeom prst="roundRect">
            <a:avLst>
              <a:gd name="adj" fmla="val 10416"/>
            </a:avLst>
          </a:prstGeom>
          <a:solidFill>
            <a:srgbClr val="ECFEFF"/>
          </a:solidFill>
          <a:ln w="1270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9463" y="841248"/>
            <a:ext cx="987551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0E7490"/>
                </a:solidFill>
                <a:latin typeface="Segoe UI"/>
                <a:ea typeface="Microsoft YaHei"/>
              </a:rPr>
              <a:t>Design Tokens
主题 / 暗色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48456" y="841248"/>
            <a:ext cx="1042415" cy="438912"/>
          </a:xfrm>
          <a:prstGeom prst="roundRect">
            <a:avLst>
              <a:gd name="adj" fmla="val 10416"/>
            </a:avLst>
          </a:prstGeom>
          <a:solidFill>
            <a:srgbClr val="ECFEFF"/>
          </a:solidFill>
          <a:ln w="1270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75887" y="841248"/>
            <a:ext cx="987551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0E7490"/>
                </a:solidFill>
                <a:latin typeface="Segoe UI"/>
                <a:ea typeface="Microsoft YaHei"/>
              </a:rPr>
              <a:t>事件总线
mitt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79" y="841248"/>
            <a:ext cx="1042415" cy="438912"/>
          </a:xfrm>
          <a:prstGeom prst="roundRect">
            <a:avLst>
              <a:gd name="adj" fmla="val 10416"/>
            </a:avLst>
          </a:prstGeom>
          <a:solidFill>
            <a:srgbClr val="ECFEFF"/>
          </a:solidFill>
          <a:ln w="1270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82312" y="841248"/>
            <a:ext cx="987551" cy="43891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0E7490"/>
                </a:solidFill>
                <a:latin typeface="Segoe UI"/>
                <a:ea typeface="Microsoft YaHei"/>
              </a:rPr>
              <a:t>MF 注册表
manifest 灰度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" y="1371600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全局错误兜底：模块加载失败 → 降级占位不白屏 · 菜单 / 权限按 RBAC 动态下发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081528" y="1755648"/>
            <a:ext cx="0" cy="9144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201168" y="1847088"/>
            <a:ext cx="5760720" cy="1426464"/>
          </a:xfrm>
          <a:prstGeom prst="roundRect">
            <a:avLst>
              <a:gd name="adj" fmla="val 4487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184" y="1911095"/>
            <a:ext cx="45720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E7490"/>
                </a:solidFill>
                <a:latin typeface="Segoe UI"/>
                <a:ea typeface="Microsoft YaHei"/>
              </a:rPr>
              <a:t>远程模块 Remote MF · 独立仓库 / 独立流水线（8 个）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9184" y="2103120"/>
            <a:ext cx="1316736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524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6616" y="2103120"/>
            <a:ext cx="1261872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产品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product-mf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723643" y="2103120"/>
            <a:ext cx="1316736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524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51075" y="2103120"/>
            <a:ext cx="1261872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内容学术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content-mf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118103" y="2103120"/>
            <a:ext cx="1316736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524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45535" y="2103120"/>
            <a:ext cx="1261872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会议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event-mf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12564" y="2103120"/>
            <a:ext cx="1316736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524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39996" y="2103120"/>
            <a:ext cx="1261872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销售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sales-mf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9184" y="2670048"/>
            <a:ext cx="1316736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524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6616" y="2670048"/>
            <a:ext cx="1261872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售后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service-mf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723643" y="2670048"/>
            <a:ext cx="1316736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524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51075" y="2670048"/>
            <a:ext cx="1261872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客户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customer-mf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18103" y="2670048"/>
            <a:ext cx="1316736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524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45535" y="2670048"/>
            <a:ext cx="1261872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AI 助手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ai-mf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12564" y="2670048"/>
            <a:ext cx="1316736" cy="493776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524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39996" y="2670048"/>
            <a:ext cx="1261872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插件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plugin-mf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" y="3127248"/>
            <a:ext cx="5486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E7490"/>
                </a:solidFill>
                <a:latin typeface="Segoe UI"/>
                <a:ea typeface="Microsoft YaHei"/>
              </a:rPr>
              <a:t>跨模块通信仅走事件总线 mf:&lt;module&gt;:&lt;event&gt; · 禁止跨 MF 直接 import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1168" y="3364992"/>
            <a:ext cx="5760720" cy="365760"/>
          </a:xfrm>
          <a:prstGeom prst="roundRect">
            <a:avLst>
              <a:gd name="adj" fmla="val 15000"/>
            </a:avLst>
          </a:prstGeom>
          <a:solidFill>
            <a:srgbClr val="FFFBEB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9184" y="3364992"/>
            <a:ext cx="5504688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92400E"/>
                </a:solidFill>
                <a:latin typeface="Segoe UI"/>
                <a:ea typeface="Microsoft YaHei"/>
              </a:rPr>
              <a:t>shared 单例白名单：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react · design-system · auth-sdk · api-client · i18n · telemetry（白名单外独立打包，杜绝版本地狱）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01168" y="3822191"/>
            <a:ext cx="5760720" cy="859536"/>
          </a:xfrm>
          <a:prstGeom prst="roundRect">
            <a:avLst>
              <a:gd name="adj" fmla="val 7446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9184" y="3886200"/>
            <a:ext cx="53949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发布与灰度（回滚 = manifest 指回旧版，分钟级）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9184" y="4078224"/>
            <a:ext cx="987552" cy="45720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6616" y="4078224"/>
            <a:ext cx="932688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047857"/>
                </a:solidFill>
                <a:latin typeface="Segoe UI"/>
                <a:ea typeface="Microsoft YaHei"/>
              </a:rPr>
              <a:t>① 构建
CI 产物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316736" y="4306824"/>
            <a:ext cx="128016" cy="0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45" name="Rounded Rectangle 44"/>
          <p:cNvSpPr/>
          <p:nvPr/>
        </p:nvSpPr>
        <p:spPr>
          <a:xfrm>
            <a:off x="1444752" y="4078224"/>
            <a:ext cx="987552" cy="45720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472184" y="4078224"/>
            <a:ext cx="932688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047857"/>
                </a:solidFill>
                <a:latin typeface="Segoe UI"/>
                <a:ea typeface="Microsoft YaHei"/>
              </a:rPr>
              <a:t>② CDN
不可变版本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2432304" y="4306824"/>
            <a:ext cx="128016" cy="0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48" name="Rounded Rectangle 47"/>
          <p:cNvSpPr/>
          <p:nvPr/>
        </p:nvSpPr>
        <p:spPr>
          <a:xfrm>
            <a:off x="2560320" y="4078224"/>
            <a:ext cx="987552" cy="45720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87751" y="4078224"/>
            <a:ext cx="932688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047857"/>
                </a:solidFill>
                <a:latin typeface="Segoe UI"/>
                <a:ea typeface="Microsoft YaHei"/>
              </a:rPr>
              <a:t>③ manifest
PR 审批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547872" y="4306824"/>
            <a:ext cx="128015" cy="0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51" name="Rounded Rectangle 50"/>
          <p:cNvSpPr/>
          <p:nvPr/>
        </p:nvSpPr>
        <p:spPr>
          <a:xfrm>
            <a:off x="3675887" y="4078224"/>
            <a:ext cx="987552" cy="45720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703320" y="4078224"/>
            <a:ext cx="932688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047857"/>
                </a:solidFill>
                <a:latin typeface="Segoe UI"/>
                <a:ea typeface="Microsoft YaHei"/>
              </a:rPr>
              <a:t>④ 灰度
1→10→100%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663440" y="4306824"/>
            <a:ext cx="128015" cy="0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54" name="Rounded Rectangle 53"/>
          <p:cNvSpPr/>
          <p:nvPr/>
        </p:nvSpPr>
        <p:spPr>
          <a:xfrm>
            <a:off x="4791455" y="4078224"/>
            <a:ext cx="987552" cy="45720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818888" y="4078224"/>
            <a:ext cx="932688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047857"/>
                </a:solidFill>
                <a:latin typeface="Segoe UI"/>
                <a:ea typeface="Microsoft YaHei"/>
              </a:rPr>
              <a:t>⑤ 异常
自动回滚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01168" y="4773168"/>
            <a:ext cx="5760720" cy="365760"/>
          </a:xfrm>
          <a:prstGeom prst="roundRect">
            <a:avLst>
              <a:gd name="adj" fmla="val 15000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9184" y="4773168"/>
            <a:ext cx="5504688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47857"/>
                </a:solidFill>
                <a:latin typeface="Segoe UI"/>
                <a:ea typeface="Microsoft YaHei"/>
              </a:rPr>
              <a:t>契约与门禁：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@abbott/contracts（API / 事件 / 权限码同源）· Playwright 冒烟 ＋ Shell E2E · manifest 兼容性 CI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01168" y="5230368"/>
            <a:ext cx="5760720" cy="566928"/>
          </a:xfrm>
          <a:prstGeom prst="roundRect">
            <a:avLst>
              <a:gd name="adj" fmla="val 9677"/>
            </a:avLst>
          </a:prstGeom>
          <a:solidFill>
            <a:srgbClr val="F8FAFC"/>
          </a:solidFill>
          <a:ln w="1397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29184" y="5285232"/>
            <a:ext cx="45720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475569"/>
                </a:solidFill>
                <a:latin typeface="Segoe UI"/>
                <a:ea typeface="Microsoft YaHei"/>
              </a:rPr>
              <a:t>多端适配（同一套能力，按渠道裁剪）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29184" y="5449824"/>
            <a:ext cx="1316736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56616" y="5449824"/>
            <a:ext cx="1261872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小程序 · Taro 分包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709928" y="5449824"/>
            <a:ext cx="1316736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737360" y="5449824"/>
            <a:ext cx="1261872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企微 / 公众号 H5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090672" y="5449824"/>
            <a:ext cx="1316736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118103" y="5449824"/>
            <a:ext cx="1261872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App · React Native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471416" y="5449824"/>
            <a:ext cx="1316736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498848" y="5449824"/>
            <a:ext cx="1261872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共享逻辑层 Monorepo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089904" y="566928"/>
            <a:ext cx="5897880" cy="676656"/>
          </a:xfrm>
          <a:prstGeom prst="roundRect">
            <a:avLst>
              <a:gd name="adj" fmla="val 9459"/>
            </a:avLst>
          </a:prstGeom>
          <a:solidFill>
            <a:srgbClr val="F5F3FF"/>
          </a:solidFill>
          <a:ln w="1651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17920" y="640080"/>
            <a:ext cx="564184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6D28D9"/>
                </a:solidFill>
                <a:latin typeface="Segoe UI"/>
                <a:ea typeface="Microsoft YaHei"/>
              </a:rPr>
              <a:t>Plugin Hub · 插件运行时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插件 = 远程 MF ＋ 后端插件 API ＋ manifest 声明（菜单挂点 · 权限 scope · 订阅事件 · 回调 URL）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089904" y="1353312"/>
            <a:ext cx="274320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F172A"/>
                </a:solidFill>
                <a:latin typeface="Segoe UI"/>
                <a:ea typeface="Microsoft YaHei"/>
              </a:rPr>
              <a:t>插件生命周期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089904" y="1536192"/>
            <a:ext cx="1371600" cy="512064"/>
          </a:xfrm>
          <a:prstGeom prst="roundRect">
            <a:avLst>
              <a:gd name="adj" fmla="val 8928"/>
            </a:avLst>
          </a:prstGeom>
          <a:solidFill>
            <a:srgbClr val="FFFF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117336" y="1536192"/>
            <a:ext cx="1316736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F172A"/>
                </a:solidFill>
                <a:latin typeface="Segoe UI"/>
                <a:ea typeface="Microsoft YaHei"/>
              </a:rPr>
              <a:t>① 注册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安全评审 · 契约校验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7461504" y="1792224"/>
            <a:ext cx="100584" cy="0"/>
          </a:xfrm>
          <a:prstGeom prst="line">
            <a:avLst/>
          </a:prstGeom>
          <a:ln w="1778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4" name="Rounded Rectangle 73"/>
          <p:cNvSpPr/>
          <p:nvPr/>
        </p:nvSpPr>
        <p:spPr>
          <a:xfrm>
            <a:off x="7562088" y="1536192"/>
            <a:ext cx="1371600" cy="512064"/>
          </a:xfrm>
          <a:prstGeom prst="roundRect">
            <a:avLst>
              <a:gd name="adj" fmla="val 8928"/>
            </a:avLst>
          </a:prstGeom>
          <a:solidFill>
            <a:srgbClr val="FFFF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589519" y="1536192"/>
            <a:ext cx="1316736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F172A"/>
                </a:solidFill>
                <a:latin typeface="Segoe UI"/>
                <a:ea typeface="Microsoft YaHei"/>
              </a:rPr>
              <a:t>② 启用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租户级 feature flag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8933688" y="1792224"/>
            <a:ext cx="100584" cy="0"/>
          </a:xfrm>
          <a:prstGeom prst="line">
            <a:avLst/>
          </a:prstGeom>
          <a:ln w="1778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7" name="Rounded Rectangle 76"/>
          <p:cNvSpPr/>
          <p:nvPr/>
        </p:nvSpPr>
        <p:spPr>
          <a:xfrm>
            <a:off x="9034272" y="1536192"/>
            <a:ext cx="1371600" cy="512064"/>
          </a:xfrm>
          <a:prstGeom prst="roundRect">
            <a:avLst>
              <a:gd name="adj" fmla="val 8928"/>
            </a:avLst>
          </a:prstGeom>
          <a:solidFill>
            <a:srgbClr val="FFFF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061703" y="1536192"/>
            <a:ext cx="1316736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F172A"/>
                </a:solidFill>
                <a:latin typeface="Segoe UI"/>
                <a:ea typeface="Microsoft YaHei"/>
              </a:rPr>
              <a:t>③ 运行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失败自动降级隔离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10405872" y="1792224"/>
            <a:ext cx="100583" cy="0"/>
          </a:xfrm>
          <a:prstGeom prst="line">
            <a:avLst/>
          </a:prstGeom>
          <a:ln w="1778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80" name="Rounded Rectangle 79"/>
          <p:cNvSpPr/>
          <p:nvPr/>
        </p:nvSpPr>
        <p:spPr>
          <a:xfrm>
            <a:off x="10506455" y="1536192"/>
            <a:ext cx="1371600" cy="512064"/>
          </a:xfrm>
          <a:prstGeom prst="roundRect">
            <a:avLst>
              <a:gd name="adj" fmla="val 8928"/>
            </a:avLst>
          </a:prstGeom>
          <a:solidFill>
            <a:srgbClr val="FFFF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33887" y="1536192"/>
            <a:ext cx="1316736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F172A"/>
                </a:solidFill>
                <a:latin typeface="Segoe UI"/>
                <a:ea typeface="Microsoft YaHei"/>
              </a:rPr>
              <a:t>④ 下线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数据导出 ＋ 归档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089904" y="2157984"/>
            <a:ext cx="5897880" cy="512064"/>
          </a:xfrm>
          <a:prstGeom prst="roundRect">
            <a:avLst>
              <a:gd name="adj" fmla="val 10714"/>
            </a:avLst>
          </a:prstGeom>
          <a:solidFill>
            <a:srgbClr val="EFF6FF"/>
          </a:solidFill>
          <a:ln w="1397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217920" y="2157984"/>
            <a:ext cx="5641848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1E40AF"/>
                </a:solidFill>
                <a:latin typeface="Segoe UI"/>
                <a:ea typeface="Microsoft YaHei"/>
              </a:rPr>
              <a:t>插件 API 安全：</a:t>
            </a:r>
            <a:r>
              <a:rPr sz="660" b="0" i="0">
                <a:solidFill>
                  <a:srgbClr val="475569"/>
                </a:solidFill>
                <a:latin typeface="Segoe UI"/>
                <a:ea typeface="Microsoft YaHei"/>
              </a:rPr>
              <a:t>统一经 APIM plugin product 暴露 · HMAC 签名 ＋ IP 白名单 · 限流配额 · 不能直连内网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089904" y="2761488"/>
            <a:ext cx="5897880" cy="1225296"/>
          </a:xfrm>
          <a:prstGeom prst="roundRect">
            <a:avLst>
              <a:gd name="adj" fmla="val 5223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217920" y="2825496"/>
            <a:ext cx="365760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F172A"/>
                </a:solidFill>
                <a:latin typeface="Segoe UI"/>
                <a:ea typeface="Microsoft YaHei"/>
              </a:rPr>
              <a:t>插件目录（首期场景）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217920" y="3017520"/>
            <a:ext cx="181051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245352" y="3017520"/>
            <a:ext cx="175564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0F172A"/>
                </a:solidFill>
                <a:latin typeface="Segoe UI"/>
                <a:ea typeface="Microsoft YaHei"/>
              </a:rPr>
              <a:t>术后随访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8138160" y="3017520"/>
            <a:ext cx="181051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165592" y="3017520"/>
            <a:ext cx="175564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0F172A"/>
                </a:solidFill>
                <a:latin typeface="Segoe UI"/>
                <a:ea typeface="Microsoft YaHei"/>
              </a:rPr>
              <a:t>医学咨询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0058400" y="3017520"/>
            <a:ext cx="181051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085832" y="3017520"/>
            <a:ext cx="175564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0F172A"/>
                </a:solidFill>
                <a:latin typeface="Segoe UI"/>
                <a:ea typeface="Microsoft YaHei"/>
              </a:rPr>
              <a:t>竞品情报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217920" y="3474720"/>
            <a:ext cx="181051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245352" y="3474720"/>
            <a:ext cx="175564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0F172A"/>
                </a:solidFill>
                <a:latin typeface="Segoe UI"/>
                <a:ea typeface="Microsoft YaHei"/>
              </a:rPr>
              <a:t>成本计算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138160" y="3474720"/>
            <a:ext cx="181051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165592" y="3474720"/>
            <a:ext cx="175564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0F172A"/>
                </a:solidFill>
                <a:latin typeface="Segoe UI"/>
                <a:ea typeface="Microsoft YaHei"/>
              </a:rPr>
              <a:t>差旅管理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0058400" y="3474720"/>
            <a:ext cx="1810512" cy="384048"/>
          </a:xfrm>
          <a:prstGeom prst="roundRect">
            <a:avLst>
              <a:gd name="adj" fmla="val 11904"/>
            </a:avLst>
          </a:prstGeom>
          <a:solidFill>
            <a:srgbClr val="FDF2F8"/>
          </a:solidFill>
          <a:ln w="13970">
            <a:solidFill>
              <a:srgbClr val="F9A8D4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085832" y="3474720"/>
            <a:ext cx="175564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BE185D"/>
                </a:solidFill>
                <a:latin typeface="Segoe UI"/>
                <a:ea typeface="Microsoft YaHei"/>
              </a:rPr>
              <a:t>＋ 第三方扩展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089904" y="4078224"/>
            <a:ext cx="5897880" cy="566928"/>
          </a:xfrm>
          <a:prstGeom prst="roundRect">
            <a:avLst>
              <a:gd name="adj" fmla="val 9677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217920" y="4078224"/>
            <a:ext cx="5641848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47857"/>
                </a:solidFill>
                <a:latin typeface="Segoe UI"/>
                <a:ea typeface="Microsoft YaHei"/>
              </a:rPr>
              <a:t>Build Once, Reuse Everywhere：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新场景 = 挂载 MF ＋ 注册 API，不动平台内核；租户按需启用、按标签计量计费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089904" y="4736592"/>
            <a:ext cx="5897880" cy="1060704"/>
          </a:xfrm>
          <a:prstGeom prst="roundRect">
            <a:avLst>
              <a:gd name="adj" fmla="val 5172"/>
            </a:avLst>
          </a:prstGeom>
          <a:solidFill>
            <a:srgbClr val="FFF7ED"/>
          </a:solidFill>
          <a:ln w="1397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217920" y="4800600"/>
            <a:ext cx="274320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B45309"/>
                </a:solidFill>
                <a:latin typeface="Segoe UI"/>
                <a:ea typeface="Microsoft YaHei"/>
              </a:rPr>
              <a:t>微前端 / 插件治理（防腐化）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974336"/>
            <a:ext cx="564184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97706"/>
                </a:solidFill>
                <a:latin typeface="Segoe UI"/>
                <a:ea typeface="Microsoft YaHei"/>
              </a:rPr>
              <a:t>·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shared 白名单 ＋ 版本范围（react ^18 singleton）· CI 门禁校验兼容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217920" y="5212080"/>
            <a:ext cx="564184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97706"/>
                </a:solidFill>
                <a:latin typeface="Segoe UI"/>
                <a:ea typeface="Microsoft YaHei"/>
              </a:rPr>
              <a:t>·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样式隔离：Design Tokens ＋ 模块级 class 前缀 · 全局样式仅 Shell 注入一次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217920" y="5449824"/>
            <a:ext cx="564184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97706"/>
                </a:solidFill>
                <a:latin typeface="Segoe UI"/>
                <a:ea typeface="Microsoft YaHei"/>
              </a:rPr>
              <a:t>·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契约破坏即阻断合并 · 季度架构体检（依赖漂移 / 跨模块引用扫描）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201168" y="5925312"/>
            <a:ext cx="11786616" cy="384048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925312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334155"/>
                </a:solidFill>
                <a:latin typeface="Segoe UI"/>
                <a:ea typeface="Microsoft YaHei"/>
              </a:rPr>
              <a:t>技术栈：</a:t>
            </a:r>
            <a:r>
              <a:rPr sz="660" b="0" i="0">
                <a:solidFill>
                  <a:srgbClr val="475569"/>
                </a:solidFill>
                <a:latin typeface="Segoe UI"/>
                <a:ea typeface="Microsoft YaHei"/>
              </a:rPr>
              <a:t>Module Federation 运行时远程加载（single-spa 仅作异构框架逃生舱）｜ Portal Next.js 14 · HCP 端纯 SPA ＋ CDN 分发 ｜ 微信审核发布流水线（体验包 → 审核 → 发布）</a:t>
            </a:r>
          </a:p>
        </p:txBody>
      </p:sp>
      <p:sp>
        <p:nvSpPr>
          <p:cNvPr id="107" name="Oval 106"/>
          <p:cNvSpPr/>
          <p:nvPr/>
        </p:nvSpPr>
        <p:spPr>
          <a:xfrm>
            <a:off x="365760" y="6455664"/>
            <a:ext cx="82296" cy="82296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93776" y="6409944"/>
            <a:ext cx="192024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Portal Shell（平台团队）</a:t>
            </a:r>
          </a:p>
        </p:txBody>
      </p:sp>
      <p:sp>
        <p:nvSpPr>
          <p:cNvPr id="109" name="Oval 108"/>
          <p:cNvSpPr/>
          <p:nvPr/>
        </p:nvSpPr>
        <p:spPr>
          <a:xfrm>
            <a:off x="2761488" y="6455664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889504" y="6409944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远程模块 / 插件</a:t>
            </a:r>
          </a:p>
        </p:txBody>
      </p:sp>
      <p:sp>
        <p:nvSpPr>
          <p:cNvPr id="111" name="Oval 110"/>
          <p:cNvSpPr/>
          <p:nvPr/>
        </p:nvSpPr>
        <p:spPr>
          <a:xfrm>
            <a:off x="4334256" y="6455664"/>
            <a:ext cx="82296" cy="822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4462272" y="6409944"/>
            <a:ext cx="64008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发布链路</a:t>
            </a:r>
          </a:p>
        </p:txBody>
      </p:sp>
      <p:sp>
        <p:nvSpPr>
          <p:cNvPr id="113" name="Oval 112"/>
          <p:cNvSpPr/>
          <p:nvPr/>
        </p:nvSpPr>
        <p:spPr>
          <a:xfrm>
            <a:off x="5449824" y="6455664"/>
            <a:ext cx="82296" cy="82296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577840" y="6409944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安全 / 契约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HCP Pool · 数据架构（OneID · Consent · Customer360）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数据流：Channel → Behavior Event → HCP Pool →
Customer360 → AI Platform（archi.md §9）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" y="566928"/>
            <a:ext cx="4206240" cy="548640"/>
          </a:xfrm>
          <a:prstGeom prst="roundRect">
            <a:avLst>
              <a:gd name="adj" fmla="val 11666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10896" y="685800"/>
            <a:ext cx="310896" cy="310896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" y="68580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891B2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630936"/>
            <a:ext cx="35661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F172A"/>
                </a:solidFill>
                <a:latin typeface="Segoe UI"/>
                <a:ea typeface="Microsoft YaHei"/>
              </a:rPr>
              <a:t>渠道行为采集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822960"/>
            <a:ext cx="3602736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埋点 SDK → collector → Event Hub（分区按租户）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04288" y="1115568"/>
            <a:ext cx="0" cy="91439"/>
          </a:xfrm>
          <a:prstGeom prst="line">
            <a:avLst/>
          </a:prstGeom>
          <a:ln w="2032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11" name="Rounded Rectangle 10"/>
          <p:cNvSpPr/>
          <p:nvPr/>
        </p:nvSpPr>
        <p:spPr>
          <a:xfrm>
            <a:off x="201168" y="1207007"/>
            <a:ext cx="4206240" cy="548640"/>
          </a:xfrm>
          <a:prstGeom prst="roundRect">
            <a:avLst>
              <a:gd name="adj" fmla="val 11666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10896" y="1325879"/>
            <a:ext cx="310896" cy="310896"/>
          </a:xfrm>
          <a:prstGeom prst="ellipse">
            <a:avLst/>
          </a:prstGeom>
          <a:solidFill>
            <a:srgbClr val="FFFFFF"/>
          </a:solidFill>
          <a:ln w="2032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0896" y="13258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475569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1271016"/>
            <a:ext cx="35661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F172A"/>
                </a:solidFill>
                <a:latin typeface="Segoe UI"/>
                <a:ea typeface="Microsoft YaHei"/>
              </a:rPr>
              <a:t>Bronze 原始层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1463039"/>
            <a:ext cx="3602736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存量四系统快照 · SQL CDC Mirroring · 行为流 Capture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304288" y="1755648"/>
            <a:ext cx="0" cy="91439"/>
          </a:xfrm>
          <a:prstGeom prst="line">
            <a:avLst/>
          </a:prstGeom>
          <a:ln w="2032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17" name="Rounded Rectangle 16"/>
          <p:cNvSpPr/>
          <p:nvPr/>
        </p:nvSpPr>
        <p:spPr>
          <a:xfrm>
            <a:off x="201168" y="1847087"/>
            <a:ext cx="4206240" cy="548640"/>
          </a:xfrm>
          <a:prstGeom prst="roundRect">
            <a:avLst>
              <a:gd name="adj" fmla="val 1166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10896" y="1965959"/>
            <a:ext cx="310896" cy="310896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0896" y="196595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Consolas"/>
                <a:ea typeface="Microsoft Ya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1911095"/>
            <a:ext cx="35661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F172A"/>
                </a:solidFill>
                <a:latin typeface="Segoe UI"/>
                <a:ea typeface="Microsoft YaHei"/>
              </a:rPr>
              <a:t>Silver 标准层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2103120"/>
            <a:ext cx="3602736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清洗标准化 · OneID 关联 · ★Consent 过滤 · 脱敏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304288" y="2395727"/>
            <a:ext cx="0" cy="91441"/>
          </a:xfrm>
          <a:prstGeom prst="line">
            <a:avLst/>
          </a:prstGeom>
          <a:ln w="2032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23" name="Rounded Rectangle 22"/>
          <p:cNvSpPr/>
          <p:nvPr/>
        </p:nvSpPr>
        <p:spPr>
          <a:xfrm>
            <a:off x="201168" y="2487168"/>
            <a:ext cx="4206240" cy="548640"/>
          </a:xfrm>
          <a:prstGeom prst="roundRect">
            <a:avLst>
              <a:gd name="adj" fmla="val 11666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10896" y="2606039"/>
            <a:ext cx="310896" cy="310896"/>
          </a:xfrm>
          <a:prstGeom prst="ellipse">
            <a:avLst/>
          </a:prstGeom>
          <a:solidFill>
            <a:srgbClr val="FFFFFF"/>
          </a:solidFill>
          <a:ln w="2032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0896" y="260603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7C3AED"/>
                </a:solidFill>
                <a:latin typeface="Consolas"/>
                <a:ea typeface="Microsoft Ya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2551175"/>
            <a:ext cx="35661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F172A"/>
                </a:solidFill>
                <a:latin typeface="Segoe UI"/>
                <a:ea typeface="Microsoft YaHei"/>
              </a:rPr>
              <a:t>Gold 指标层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2743200"/>
            <a:ext cx="3602736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维度 / 事实 · Customer360 宽表 · 销售 KPI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304288" y="3035808"/>
            <a:ext cx="0" cy="91440"/>
          </a:xfrm>
          <a:prstGeom prst="line">
            <a:avLst/>
          </a:prstGeom>
          <a:ln w="2032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29" name="Rounded Rectangle 28"/>
          <p:cNvSpPr/>
          <p:nvPr/>
        </p:nvSpPr>
        <p:spPr>
          <a:xfrm>
            <a:off x="201168" y="3127248"/>
            <a:ext cx="4206240" cy="548640"/>
          </a:xfrm>
          <a:prstGeom prst="roundRect">
            <a:avLst>
              <a:gd name="adj" fmla="val 11666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10896" y="3246120"/>
            <a:ext cx="310896" cy="310896"/>
          </a:xfrm>
          <a:prstGeom prst="ellipse">
            <a:avLst/>
          </a:prstGeom>
          <a:solidFill>
            <a:srgbClr val="FFFFFF"/>
          </a:solidFill>
          <a:ln w="2032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0896" y="3246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59669"/>
                </a:solidFill>
                <a:latin typeface="Consolas"/>
                <a:ea typeface="Microsoft YaHei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3191256"/>
            <a:ext cx="35661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0F172A"/>
                </a:solidFill>
                <a:latin typeface="Segoe UI"/>
                <a:ea typeface="Microsoft YaHei"/>
              </a:rPr>
              <a:t>Serving 服务层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3383280"/>
            <a:ext cx="3602736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Power BI 看板 · c360-api（Redis 热点 ＋ Cosmos 全量）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01168" y="3785615"/>
            <a:ext cx="4206240" cy="365760"/>
          </a:xfrm>
          <a:prstGeom prst="roundRect">
            <a:avLst>
              <a:gd name="adj" fmla="val 15000"/>
            </a:avLst>
          </a:prstGeom>
          <a:solidFill>
            <a:srgbClr val="F0FAF6"/>
          </a:solidFill>
          <a:ln w="1397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9184" y="3785615"/>
            <a:ext cx="3968496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47857"/>
                </a:solidFill>
                <a:latin typeface="Segoe UI"/>
                <a:ea typeface="Microsoft YaHei"/>
              </a:rPr>
              <a:t>存储与计算：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OneLake（Delta）· Databricks 匹配 / 训练 · Cosmos 画像 · Purview 血缘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0" y="566928"/>
            <a:ext cx="3584448" cy="310896"/>
          </a:xfrm>
          <a:prstGeom prst="roundRect">
            <a:avLst>
              <a:gd name="adj" fmla="val 14705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0" y="566928"/>
            <a:ext cx="3584448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Segoe UI"/>
                <a:ea typeface="Microsoft YaHei"/>
              </a:rPr>
              <a:t>OneID 身份归一（平台级唯一标识 · 永不变更）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0" y="950976"/>
            <a:ext cx="3584448" cy="310896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99432" y="950976"/>
            <a:ext cx="3529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来源：渠道注册 · 存量导入 · 第三方参考库（需法务评估来源合法性）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364224" y="1261872"/>
            <a:ext cx="0" cy="73152"/>
          </a:xfrm>
          <a:prstGeom prst="line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41" name="Rounded Rectangle 40"/>
          <p:cNvSpPr/>
          <p:nvPr/>
        </p:nvSpPr>
        <p:spPr>
          <a:xfrm>
            <a:off x="4572000" y="1335024"/>
            <a:ext cx="3584448" cy="310896"/>
          </a:xfrm>
          <a:prstGeom prst="roundRect">
            <a:avLst>
              <a:gd name="adj" fmla="val 1176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99432" y="1335024"/>
            <a:ext cx="3529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E7490"/>
                </a:solidFill>
                <a:latin typeface="Segoe UI"/>
                <a:ea typeface="Microsoft YaHei"/>
              </a:rPr>
              <a:t>标准化：姓名拼音 · 医院别名归一 · 科室字典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364224" y="1645920"/>
            <a:ext cx="0" cy="73152"/>
          </a:xfrm>
          <a:prstGeom prst="line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44" name="Rounded Rectangle 43"/>
          <p:cNvSpPr/>
          <p:nvPr/>
        </p:nvSpPr>
        <p:spPr>
          <a:xfrm>
            <a:off x="4572000" y="1719072"/>
            <a:ext cx="3584448" cy="329184"/>
          </a:xfrm>
          <a:prstGeom prst="roundRect">
            <a:avLst>
              <a:gd name="adj" fmla="val 13888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99432" y="1719072"/>
            <a:ext cx="3529584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确定性匹配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医师编号 / 证件 / 手机 Hash → 自动关联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364224" y="2048255"/>
            <a:ext cx="0" cy="73153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47" name="Rounded Rectangle 46"/>
          <p:cNvSpPr/>
          <p:nvPr/>
        </p:nvSpPr>
        <p:spPr>
          <a:xfrm>
            <a:off x="4572000" y="2121408"/>
            <a:ext cx="3584448" cy="329184"/>
          </a:xfrm>
          <a:prstGeom prst="roundRect">
            <a:avLst>
              <a:gd name="adj" fmla="val 13888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99432" y="2121408"/>
            <a:ext cx="3529584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概率匹配 p ≥ 0.95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加权相似度（姓名＋医院＋科室＋职称）→ 自动合并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364224" y="2450591"/>
            <a:ext cx="0" cy="73153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50" name="Rounded Rectangle 49"/>
          <p:cNvSpPr/>
          <p:nvPr/>
        </p:nvSpPr>
        <p:spPr>
          <a:xfrm>
            <a:off x="4572000" y="2523744"/>
            <a:ext cx="3584448" cy="329184"/>
          </a:xfrm>
          <a:prstGeom prst="roundRect">
            <a:avLst>
              <a:gd name="adj" fmla="val 13888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99432" y="2523744"/>
            <a:ext cx="3529584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0.70 ≤ p &lt; 0.95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Steward 人工审核队列（确认合并 / 否决新建）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364224" y="2852927"/>
            <a:ext cx="0" cy="73152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53" name="Rounded Rectangle 52"/>
          <p:cNvSpPr/>
          <p:nvPr/>
        </p:nvSpPr>
        <p:spPr>
          <a:xfrm>
            <a:off x="4572000" y="2926079"/>
            <a:ext cx="3584448" cy="329184"/>
          </a:xfrm>
          <a:prstGeom prst="roundRect">
            <a:avLst>
              <a:gd name="adj" fmla="val 13888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99432" y="2926079"/>
            <a:ext cx="3529584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p &lt; 0.70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新建 OneID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364224" y="3255263"/>
            <a:ext cx="0" cy="73152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56" name="Rounded Rectangle 55"/>
          <p:cNvSpPr/>
          <p:nvPr/>
        </p:nvSpPr>
        <p:spPr>
          <a:xfrm>
            <a:off x="4572000" y="3346704"/>
            <a:ext cx="3584448" cy="457200"/>
          </a:xfrm>
          <a:prstGeom prst="roundRect">
            <a:avLst>
              <a:gd name="adj" fmla="val 10000"/>
            </a:avLst>
          </a:prstGeom>
          <a:solidFill>
            <a:srgbClr val="FFF1F2"/>
          </a:solidFill>
          <a:ln w="13970">
            <a:solidFill>
              <a:srgbClr val="E11D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63440" y="3346704"/>
            <a:ext cx="3401568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E11D48"/>
                </a:solidFill>
                <a:latin typeface="Segoe UI"/>
                <a:ea typeface="Microsoft YaHei"/>
              </a:rPr>
              <a:t>合并 / 拆分：全程审计 · 不可逆操作二次确认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人工审核结果每月回流再训练匹配模型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572000" y="3877056"/>
            <a:ext cx="3584448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99432" y="3877056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OneID ↔ 微信 UnionID / 手机号 / 企微 / 存量系统 ID（一对多渠道身份）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284464" y="566928"/>
            <a:ext cx="3703320" cy="1517904"/>
          </a:xfrm>
          <a:prstGeom prst="roundRect">
            <a:avLst>
              <a:gd name="adj" fmla="val 4216"/>
            </a:avLst>
          </a:prstGeom>
          <a:solidFill>
            <a:srgbClr val="ECFDF5"/>
          </a:solidFill>
          <a:ln w="1651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94192" y="630936"/>
            <a:ext cx="3483863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47857"/>
                </a:solidFill>
                <a:latin typeface="Segoe UI"/>
                <a:ea typeface="Microsoft YaHei"/>
              </a:rPr>
              <a:t>Consent 同意账本（PIPL 合规核心）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394192" y="804672"/>
            <a:ext cx="574243" cy="201168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421624" y="804672"/>
            <a:ext cx="519379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047857"/>
                </a:solidFill>
                <a:latin typeface="Segoe UI"/>
                <a:ea typeface="Microsoft YaHei"/>
              </a:rPr>
              <a:t>marketing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023299" y="804672"/>
            <a:ext cx="716889" cy="201168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050731" y="804672"/>
            <a:ext cx="662025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047857"/>
                </a:solidFill>
                <a:latin typeface="Segoe UI"/>
                <a:ea typeface="Microsoft YaHei"/>
              </a:rPr>
              <a:t>event_invite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795052" y="804672"/>
            <a:ext cx="574243" cy="201168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22484" y="804672"/>
            <a:ext cx="519379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047857"/>
                </a:solidFill>
                <a:latin typeface="Segoe UI"/>
                <a:ea typeface="Microsoft YaHei"/>
              </a:rPr>
              <a:t>profiling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24160" y="804672"/>
            <a:ext cx="1002182" cy="201168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51592" y="804672"/>
            <a:ext cx="947318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047857"/>
                </a:solidFill>
                <a:latin typeface="Segoe UI"/>
                <a:ea typeface="Microsoft YaHei"/>
              </a:rPr>
              <a:t>ai_personalization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394192" y="1042416"/>
            <a:ext cx="954633" cy="201168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421624" y="1042416"/>
            <a:ext cx="899769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047857"/>
                </a:solidFill>
                <a:latin typeface="Segoe UI"/>
                <a:ea typeface="Microsoft YaHei"/>
              </a:rPr>
              <a:t>third_party_share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94192" y="1298448"/>
            <a:ext cx="3483863" cy="402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采集：注册 / 活动表单 / 小程序授权（存证据与版本）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触达前置校验 API：notification / 推荐调用前强制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394192" y="1755648"/>
            <a:ext cx="3483863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394192" y="1755648"/>
            <a:ext cx="3483863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47857"/>
                </a:solidFill>
                <a:latin typeface="Segoe UI"/>
                <a:ea typeface="Microsoft YaHei"/>
              </a:rPr>
              <a:t>撤回 ≤ 24h 全渠道生效</a:t>
            </a: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（consent.revoked 广播 ＋ 缓存 TTL）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284464" y="2194560"/>
            <a:ext cx="3703320" cy="804672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394192" y="2258568"/>
            <a:ext cx="3483863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F172A"/>
                </a:solidFill>
                <a:latin typeface="Segoe UI"/>
                <a:ea typeface="Microsoft YaHei"/>
              </a:rPr>
              <a:t>标签引擎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394192" y="2414016"/>
            <a:ext cx="3483863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规则标签（rules-engine 表达式）· 统计标签（日批 Fabric）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实时标签（KEDA 消费行为流，如「近 1h 观看直播中」）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字典治理：owner · 口径 · 生命周期（Purview 术语库）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284464" y="3090672"/>
            <a:ext cx="3703320" cy="841248"/>
          </a:xfrm>
          <a:prstGeom prst="roundRect">
            <a:avLst>
              <a:gd name="adj" fmla="val 6521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394192" y="3154680"/>
            <a:ext cx="3483863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0F172A"/>
                </a:solidFill>
                <a:latin typeface="Segoe UI"/>
                <a:ea typeface="Microsoft YaHei"/>
              </a:rPr>
              <a:t>Customer360 服务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394192" y="3310128"/>
            <a:ext cx="3483863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主档 ＋ 标签 ＋ 兴趣偏好 ＋ 行为摘要（90 天）＋ 会议 /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拜访 / 积分 / 工单交互史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读模型：Redis 热点 TTL 5min · Cosmos 全量 · 10 万 HCP / 500 QPS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284464" y="4005072"/>
            <a:ext cx="3703320" cy="841248"/>
          </a:xfrm>
          <a:prstGeom prst="roundRect">
            <a:avLst>
              <a:gd name="adj" fmla="val 6521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394192" y="4069080"/>
            <a:ext cx="3483863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75569"/>
                </a:solidFill>
                <a:latin typeface="Segoe UI"/>
                <a:ea typeface="Microsoft YaHei"/>
              </a:rPr>
              <a:t>数据治理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394192" y="4224528"/>
            <a:ext cx="3483863" cy="5669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分类分级 P1–P4 · 列级血缘（源 → Gold → 看板）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质量规则：OneID 唯一性 · 积分账本平衡 · Freshness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第三方 HCP 参考库入库前法务评估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201168" y="4992624"/>
            <a:ext cx="11786616" cy="402336"/>
          </a:xfrm>
          <a:prstGeom prst="roundRect">
            <a:avLst>
              <a:gd name="adj" fmla="val 13636"/>
            </a:avLst>
          </a:prstGeom>
          <a:solidFill>
            <a:srgbClr val="EFF6FF"/>
          </a:solidFill>
          <a:ln w="1397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65760" y="4992624"/>
            <a:ext cx="1143000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1D4ED8"/>
                </a:solidFill>
                <a:latin typeface="Segoe UI"/>
                <a:ea typeface="Microsoft YaHei"/>
              </a:rPr>
              <a:t>关键指标：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OneID 误并率 &lt; 0.5%（阈值保守 ＋ 人工审核）· Consent 撤回生效 ≤ 24h · C360 读 p95 ≤ 100ms · 行为流峰值 5k events/s · Silver 层即执行 Consent 过滤（无 profiling 同意不进画像）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01168" y="5468112"/>
            <a:ext cx="11786616" cy="402336"/>
          </a:xfrm>
          <a:prstGeom prst="roundRect">
            <a:avLst>
              <a:gd name="adj" fmla="val 13636"/>
            </a:avLst>
          </a:prstGeom>
          <a:solidFill>
            <a:srgbClr val="FFF7ED"/>
          </a:solidFill>
          <a:ln w="1397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5760" y="5468112"/>
            <a:ext cx="1143000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B45309"/>
                </a:solidFill>
                <a:latin typeface="Segoe UI"/>
                <a:ea typeface="Microsoft YaHei"/>
              </a:rPr>
              <a:t>合规映射：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PIPL（来源合法 · 最小必要 · 出境评估）｜ 网安法 / 数安法（境内驻留 · 分类分级）｜ 处方药信息（HCP 认证 ＋ 内容受众标签 ＋ 检索行级过滤）</a:t>
            </a:r>
          </a:p>
        </p:txBody>
      </p:sp>
      <p:sp>
        <p:nvSpPr>
          <p:cNvPr id="88" name="Oval 87"/>
          <p:cNvSpPr/>
          <p:nvPr/>
        </p:nvSpPr>
        <p:spPr>
          <a:xfrm>
            <a:off x="365760" y="6035040"/>
            <a:ext cx="82296" cy="82296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93776" y="5989320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Medallion 分层</a:t>
            </a:r>
          </a:p>
        </p:txBody>
      </p:sp>
      <p:sp>
        <p:nvSpPr>
          <p:cNvPr id="90" name="Oval 89"/>
          <p:cNvSpPr/>
          <p:nvPr/>
        </p:nvSpPr>
        <p:spPr>
          <a:xfrm>
            <a:off x="2212848" y="6035040"/>
            <a:ext cx="82296" cy="822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340864" y="5989320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OneID 匹配</a:t>
            </a:r>
          </a:p>
        </p:txBody>
      </p:sp>
      <p:sp>
        <p:nvSpPr>
          <p:cNvPr id="92" name="Oval 91"/>
          <p:cNvSpPr/>
          <p:nvPr/>
        </p:nvSpPr>
        <p:spPr>
          <a:xfrm>
            <a:off x="3694176" y="6035040"/>
            <a:ext cx="82296" cy="822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822192" y="5989320"/>
            <a:ext cx="13716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Consent / 合规</a:t>
            </a:r>
          </a:p>
        </p:txBody>
      </p:sp>
      <p:sp>
        <p:nvSpPr>
          <p:cNvPr id="94" name="Oval 93"/>
          <p:cNvSpPr/>
          <p:nvPr/>
        </p:nvSpPr>
        <p:spPr>
          <a:xfrm>
            <a:off x="5541264" y="6035040"/>
            <a:ext cx="82296" cy="82296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669280" y="5989320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标签 / C360</a:t>
            </a:r>
          </a:p>
        </p:txBody>
      </p:sp>
      <p:sp>
        <p:nvSpPr>
          <p:cNvPr id="96" name="Oval 95"/>
          <p:cNvSpPr/>
          <p:nvPr/>
        </p:nvSpPr>
        <p:spPr>
          <a:xfrm>
            <a:off x="7114032" y="6035040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242048" y="5989320"/>
            <a:ext cx="4572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治理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AI 平台架构 · 模型网关 · RAG · 医药合规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AI First：可评测 · 可审计 · 可切换 · 可计量
AI 问答 · 推荐 · 客服 · 合规审核 · 运营分析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" y="566928"/>
            <a:ext cx="3749039" cy="310896"/>
          </a:xfrm>
          <a:prstGeom prst="roundRect">
            <a:avLst>
              <a:gd name="adj" fmla="val 14705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" y="566928"/>
            <a:ext cx="3749039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FFFFFF"/>
                </a:solidFill>
                <a:latin typeface="Segoe UI"/>
                <a:ea typeface="Microsoft YaHei"/>
              </a:rPr>
              <a:t>model-gateway · 统一模型接入（一切调用必经）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50976"/>
            <a:ext cx="3749039" cy="329184"/>
          </a:xfrm>
          <a:prstGeom prst="roundRect">
            <a:avLst>
              <a:gd name="adj" fmla="val 13888"/>
            </a:avLst>
          </a:prstGeom>
          <a:solidFill>
            <a:srgbClr val="EFF6FF"/>
          </a:solidFill>
          <a:ln w="1397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" y="950976"/>
            <a:ext cx="3566159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1E40AF"/>
                </a:solidFill>
                <a:latin typeface="Segoe UI"/>
                <a:ea typeface="Microsoft YaHei"/>
              </a:rPr>
              <a:t>非敏场景 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→ Azure OpenAI（全球区 East Asia）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353312"/>
            <a:ext cx="3749039" cy="329184"/>
          </a:xfrm>
          <a:prstGeom prst="roundRect">
            <a:avLst>
              <a:gd name="adj" fmla="val 13888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1353312"/>
            <a:ext cx="3566159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47857"/>
                </a:solidFill>
                <a:latin typeface="Segoe UI"/>
                <a:ea typeface="Microsoft YaHei"/>
              </a:rPr>
              <a:t>含个人数据 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→ 境内驻留模型（国产备案 · AKS 推理）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" y="1755648"/>
            <a:ext cx="3749039" cy="329184"/>
          </a:xfrm>
          <a:prstGeom prst="roundRect">
            <a:avLst>
              <a:gd name="adj" fmla="val 13888"/>
            </a:avLst>
          </a:prstGeom>
          <a:solidFill>
            <a:srgbClr val="FFFBEB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" y="1755648"/>
            <a:ext cx="3566159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简单任务 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→ mini 档小模型（分类 / 审核初筛）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" y="2194560"/>
            <a:ext cx="1819656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8600" y="2194560"/>
            <a:ext cx="1764792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配额 · 成本标签（hub / tenant / 场景）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93976" y="2194560"/>
            <a:ext cx="1819656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21408" y="2194560"/>
            <a:ext cx="1764792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Prompt / 响应全量审计（Cosmos 留痕）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01168" y="2578608"/>
            <a:ext cx="1819656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600" y="2578608"/>
            <a:ext cx="1764792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降级链：重试 → 备用模型 → 兜底话术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93976" y="2578608"/>
            <a:ext cx="1819656" cy="329184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21408" y="2578608"/>
            <a:ext cx="1764792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语义缓存：高频学术问答命中直返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1168" y="2999232"/>
            <a:ext cx="3749039" cy="603504"/>
          </a:xfrm>
          <a:prstGeom prst="roundRect">
            <a:avLst>
              <a:gd name="adj" fmla="val 9090"/>
            </a:avLst>
          </a:prstGeom>
          <a:solidFill>
            <a:srgbClr val="FFF7ED"/>
          </a:solidFill>
          <a:ln w="1524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" y="2999232"/>
            <a:ext cx="3529583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B45309"/>
                </a:solidFill>
                <a:latin typeface="Segoe UI"/>
                <a:ea typeface="Microsoft YaHei"/>
              </a:rPr>
              <a:t>模型路线 C（推荐）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92400E"/>
                </a:solidFill>
                <a:latin typeface="Segoe UI"/>
                <a:ea typeface="Microsoft YaHei"/>
              </a:rPr>
              <a:t>AOAI ＋ 驻留模型混合 · 网关按场景路由，规避中国区不可用 / 出境风险；网关抽象保证可切换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1168" y="3675887"/>
            <a:ext cx="3749039" cy="512064"/>
          </a:xfrm>
          <a:prstGeom prst="roundRect">
            <a:avLst>
              <a:gd name="adj" fmla="val 10714"/>
            </a:avLst>
          </a:prstGeom>
          <a:solidFill>
            <a:srgbClr val="F6F8FA"/>
          </a:solidFill>
          <a:ln w="1397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896" y="3675887"/>
            <a:ext cx="3529583" cy="51206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475569"/>
                </a:solidFill>
                <a:latin typeface="Segoe UI"/>
                <a:ea typeface="Microsoft YaHei"/>
              </a:rPr>
              <a:t>工具调用：Copilot 仅连只读内部 API（经 APIM）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运营 NL2SQL 限白名单视图（受控语义层）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78224" y="566928"/>
            <a:ext cx="4059936" cy="310896"/>
          </a:xfrm>
          <a:prstGeom prst="roundRect">
            <a:avLst>
              <a:gd name="adj" fmla="val 14705"/>
            </a:avLst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78224" y="566928"/>
            <a:ext cx="405993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FFFFFF"/>
                </a:solidFill>
                <a:latin typeface="Segoe UI"/>
                <a:ea typeface="Microsoft YaHei"/>
              </a:rPr>
              <a:t>RAG 检索增强管道（rag-service）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78224" y="950976"/>
            <a:ext cx="4059936" cy="402336"/>
          </a:xfrm>
          <a:prstGeom prst="roundRect">
            <a:avLst>
              <a:gd name="adj" fmla="val 11363"/>
            </a:avLst>
          </a:prstGeom>
          <a:solidFill>
            <a:srgbClr val="F6F8FA"/>
          </a:solidFill>
          <a:ln w="1397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091939" y="996696"/>
            <a:ext cx="36576" cy="310896"/>
          </a:xfrm>
          <a:prstGeom prst="roundRect">
            <a:avLst>
              <a:gd name="adj" fmla="val 50000"/>
            </a:avLst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87952" y="987552"/>
            <a:ext cx="96012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内容库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57216" y="950976"/>
            <a:ext cx="2871216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DAM / CMS 已审核产品与学术内容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108192" y="1353312"/>
            <a:ext cx="0" cy="73152"/>
          </a:xfrm>
          <a:prstGeom prst="line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32" name="Rounded Rectangle 31"/>
          <p:cNvSpPr/>
          <p:nvPr/>
        </p:nvSpPr>
        <p:spPr>
          <a:xfrm>
            <a:off x="4078224" y="1426464"/>
            <a:ext cx="4059936" cy="402336"/>
          </a:xfrm>
          <a:prstGeom prst="roundRect">
            <a:avLst>
              <a:gd name="adj" fmla="val 11363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091939" y="1472184"/>
            <a:ext cx="36576" cy="310896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87952" y="1463040"/>
            <a:ext cx="96012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解析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57216" y="1426464"/>
            <a:ext cx="2871216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AI Document Intelligence（PDF / 视频 / 图文）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108192" y="1828800"/>
            <a:ext cx="0" cy="73152"/>
          </a:xfrm>
          <a:prstGeom prst="line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37" name="Rounded Rectangle 36"/>
          <p:cNvSpPr/>
          <p:nvPr/>
        </p:nvSpPr>
        <p:spPr>
          <a:xfrm>
            <a:off x="4078224" y="1901952"/>
            <a:ext cx="4059936" cy="402336"/>
          </a:xfrm>
          <a:prstGeom prst="roundRect">
            <a:avLst>
              <a:gd name="adj" fmla="val 11363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091939" y="1947672"/>
            <a:ext cx="36576" cy="310896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87952" y="1938528"/>
            <a:ext cx="96012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结构化分块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57216" y="1901952"/>
            <a:ext cx="2871216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保留医学元数据：适应症 · 证据等级 · 有效期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108192" y="2304288"/>
            <a:ext cx="0" cy="73152"/>
          </a:xfrm>
          <a:prstGeom prst="line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42" name="Rounded Rectangle 41"/>
          <p:cNvSpPr/>
          <p:nvPr/>
        </p:nvSpPr>
        <p:spPr>
          <a:xfrm>
            <a:off x="4078224" y="2377440"/>
            <a:ext cx="4059936" cy="402336"/>
          </a:xfrm>
          <a:prstGeom prst="roundRect">
            <a:avLst>
              <a:gd name="adj" fmla="val 11363"/>
            </a:avLst>
          </a:prstGeom>
          <a:solidFill>
            <a:srgbClr val="EFF6FF"/>
          </a:solidFill>
          <a:ln w="1397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091939" y="2423160"/>
            <a:ext cx="36576" cy="310896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87952" y="2414016"/>
            <a:ext cx="96012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嵌入 ＋ 索引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57216" y="2377440"/>
            <a:ext cx="2871216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双语嵌入 → AI Search（向量＋BM25＋语义排序）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108192" y="2779776"/>
            <a:ext cx="0" cy="73152"/>
          </a:xfrm>
          <a:prstGeom prst="line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47" name="Rounded Rectangle 46"/>
          <p:cNvSpPr/>
          <p:nvPr/>
        </p:nvSpPr>
        <p:spPr>
          <a:xfrm>
            <a:off x="4078224" y="2852928"/>
            <a:ext cx="4059936" cy="402336"/>
          </a:xfrm>
          <a:prstGeom prst="roundRect">
            <a:avLst>
              <a:gd name="adj" fmla="val 11363"/>
            </a:avLst>
          </a:prstGeom>
          <a:solidFill>
            <a:srgbClr val="EFF6FF"/>
          </a:solidFill>
          <a:ln w="1397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091939" y="2898648"/>
            <a:ext cx="36576" cy="310896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87952" y="2889504"/>
            <a:ext cx="96012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检索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57216" y="2852928"/>
            <a:ext cx="2871216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top-k ＋ 引用定位 · 行级过滤（tenant ＋ 角色）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108192" y="3255264"/>
            <a:ext cx="0" cy="73152"/>
          </a:xfrm>
          <a:prstGeom prst="line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52" name="Rounded Rectangle 51"/>
          <p:cNvSpPr/>
          <p:nvPr/>
        </p:nvSpPr>
        <p:spPr>
          <a:xfrm>
            <a:off x="4078224" y="3328416"/>
            <a:ext cx="4059936" cy="402336"/>
          </a:xfrm>
          <a:prstGeom prst="roundRect">
            <a:avLst>
              <a:gd name="adj" fmla="val 11363"/>
            </a:avLst>
          </a:prstGeom>
          <a:solidFill>
            <a:srgbClr val="F5F3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091939" y="3374136"/>
            <a:ext cx="36576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87952" y="3364992"/>
            <a:ext cx="96012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生成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157216" y="3328416"/>
            <a:ext cx="2871216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LLM（system prompt 约束 · 引用必附 · 免责声明）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078224" y="3840480"/>
            <a:ext cx="4059936" cy="347472"/>
          </a:xfrm>
          <a:prstGeom prst="roundRect">
            <a:avLst>
              <a:gd name="adj" fmla="val 13157"/>
            </a:avLst>
          </a:prstGeom>
          <a:solidFill>
            <a:srgbClr val="FFF1F2"/>
          </a:solidFill>
          <a:ln w="1397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69663" y="3840480"/>
            <a:ext cx="3877056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E11D48"/>
                </a:solidFill>
                <a:latin typeface="Segoe UI"/>
                <a:ea typeface="Microsoft YaHei"/>
              </a:rPr>
              <a:t>检索安全：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处方药内容行级过滤 → 仅专业人士渠道可见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266175" y="566928"/>
            <a:ext cx="3721608" cy="310896"/>
          </a:xfrm>
          <a:prstGeom prst="roundRect">
            <a:avLst>
              <a:gd name="adj" fmla="val 14705"/>
            </a:avLst>
          </a:prstGeom>
          <a:solidFill>
            <a:srgbClr val="9F1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66175" y="566928"/>
            <a:ext cx="3721608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FFFFFF"/>
                </a:solidFill>
                <a:latin typeface="Segoe UI"/>
                <a:ea typeface="Microsoft YaHei"/>
              </a:rPr>
              <a:t>AI 治理 · 医药合规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266175" y="950976"/>
            <a:ext cx="372160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75903" y="1005840"/>
            <a:ext cx="3502152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两步审核工作流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AI 预审（review-service）→ 医学 / 合规人审（workflow）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→ 发布 · 审核结果回流优化分类器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266175" y="1591056"/>
            <a:ext cx="3721608" cy="859536"/>
          </a:xfrm>
          <a:prstGeom prst="roundRect">
            <a:avLst>
              <a:gd name="adj" fmla="val 6382"/>
            </a:avLst>
          </a:prstGeom>
          <a:solidFill>
            <a:srgbClr val="FFF1F2"/>
          </a:solidFill>
          <a:ln w="16510">
            <a:solidFill>
              <a:srgbClr val="E11D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375903" y="1645920"/>
            <a:ext cx="3502152" cy="7680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E11D48"/>
                </a:solidFill>
                <a:latin typeface="Segoe UI"/>
                <a:ea typeface="Microsoft YaHei"/>
              </a:rPr>
              <a:t>AE / PQ 出站护栏 ★（药物警戒）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识别不良事件 / 产品质量投诉 → 中断个性化回复 →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引导话术 → 自动创建 PV 工单（按 SOP 时效）→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会话全量留痕可追溯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266175" y="2523744"/>
            <a:ext cx="372160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375903" y="2578608"/>
            <a:ext cx="3502152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红队与评测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golden set 回归 ＋ prompt 注入 / 越狱用例库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Prompt Flow 评估入 CI · 不通过不上线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266175" y="3163824"/>
            <a:ext cx="3721608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75903" y="3218688"/>
            <a:ext cx="350215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Copilot 场景（数据最小化）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375903" y="3383280"/>
            <a:ext cx="1170432" cy="173736"/>
          </a:xfrm>
          <a:prstGeom prst="roundRect">
            <a:avLst>
              <a:gd name="adj" fmla="val 21052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403335" y="3383280"/>
            <a:ext cx="111556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D28D9"/>
                </a:solidFill>
                <a:latin typeface="Segoe UI"/>
                <a:ea typeface="Microsoft YaHei"/>
              </a:rPr>
              <a:t>HCP 学术助手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37776" y="3383280"/>
            <a:ext cx="224028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小程序 · 已审核内容库 RAG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375903" y="3579876"/>
            <a:ext cx="1170432" cy="173736"/>
          </a:xfrm>
          <a:prstGeom prst="roundRect">
            <a:avLst>
              <a:gd name="adj" fmla="val 21052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03335" y="3579876"/>
            <a:ext cx="111556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D28D9"/>
                </a:solidFill>
                <a:latin typeface="Segoe UI"/>
                <a:ea typeface="Microsoft YaHei"/>
              </a:rPr>
              <a:t>销售 Copilot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37776" y="3579876"/>
            <a:ext cx="224028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企微侧边栏 · 拜访总结 / 客户简报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375903" y="3776472"/>
            <a:ext cx="1170432" cy="173736"/>
          </a:xfrm>
          <a:prstGeom prst="roundRect">
            <a:avLst>
              <a:gd name="adj" fmla="val 21052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403335" y="3776472"/>
            <a:ext cx="111556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D28D9"/>
                </a:solidFill>
                <a:latin typeface="Segoe UI"/>
                <a:ea typeface="Microsoft YaHei"/>
              </a:rPr>
              <a:t>运营 Copilot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637776" y="3776472"/>
            <a:ext cx="224028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NL2SQL 白名单视图 · 指标问答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375903" y="3973068"/>
            <a:ext cx="1170432" cy="173736"/>
          </a:xfrm>
          <a:prstGeom prst="roundRect">
            <a:avLst>
              <a:gd name="adj" fmla="val 21052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403335" y="3973068"/>
            <a:ext cx="1115568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D28D9"/>
                </a:solidFill>
                <a:latin typeface="Segoe UI"/>
                <a:ea typeface="Microsoft YaHei"/>
              </a:rPr>
              <a:t>服务 Copilot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37776" y="3973068"/>
            <a:ext cx="224028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工单诊断 · 备件推荐（IoT ＋ KB）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266175" y="4261104"/>
            <a:ext cx="3721608" cy="402336"/>
          </a:xfrm>
          <a:prstGeom prst="roundRect">
            <a:avLst>
              <a:gd name="adj" fmla="val 13636"/>
            </a:avLst>
          </a:prstGeom>
          <a:solidFill>
            <a:srgbClr val="F6F8FA"/>
          </a:solidFill>
          <a:ln w="1397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375903" y="4261104"/>
            <a:ext cx="3502152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475569"/>
                </a:solidFill>
                <a:latin typeface="Segoe UI"/>
                <a:ea typeface="Microsoft YaHei"/>
              </a:rPr>
              <a:t>医学边界：system prompt 禁诊疗建议 · 高危转人工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输出强制附引用来源与免责声明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950207" y="1737360"/>
            <a:ext cx="128017" cy="0"/>
          </a:xfrm>
          <a:prstGeom prst="line">
            <a:avLst/>
          </a:prstGeom>
          <a:ln w="17780">
            <a:solidFill>
              <a:srgbClr val="7C3AED"/>
            </a:solidFill>
            <a:prstDash val="dash"/>
            <a:tailEnd type="triangle" w="med" len="med"/>
          </a:ln>
          <a:effectLst/>
        </p:spPr>
      </p:cxnSp>
      <p:cxnSp>
        <p:nvCxnSpPr>
          <p:cNvPr id="83" name="Connector 82"/>
          <p:cNvCxnSpPr/>
          <p:nvPr/>
        </p:nvCxnSpPr>
        <p:spPr>
          <a:xfrm>
            <a:off x="8138160" y="2011680"/>
            <a:ext cx="128015" cy="0"/>
          </a:xfrm>
          <a:prstGeom prst="line">
            <a:avLst/>
          </a:prstGeom>
          <a:ln w="17780">
            <a:solidFill>
              <a:srgbClr val="E11D48"/>
            </a:solidFill>
            <a:prstDash val="dash"/>
            <a:tailEnd type="triangle" w="med" len="med"/>
          </a:ln>
          <a:effectLst/>
        </p:spPr>
      </p:cxnSp>
      <p:sp>
        <p:nvSpPr>
          <p:cNvPr id="84" name="Rounded Rectangle 83"/>
          <p:cNvSpPr/>
          <p:nvPr/>
        </p:nvSpPr>
        <p:spPr>
          <a:xfrm>
            <a:off x="201168" y="4828032"/>
            <a:ext cx="11786616" cy="402336"/>
          </a:xfrm>
          <a:prstGeom prst="roundRect">
            <a:avLst>
              <a:gd name="adj" fmla="val 13636"/>
            </a:avLst>
          </a:prstGeom>
          <a:solidFill>
            <a:srgbClr val="F5F3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65760" y="4828032"/>
            <a:ext cx="1143000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D28D9"/>
                </a:solidFill>
                <a:latin typeface="Segoe UI"/>
                <a:ea typeface="Microsoft YaHei"/>
              </a:rPr>
              <a:t>AI 能力（archi.md §10）：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AI 问答 · AI 推荐 · AI 客服 · AI 合规审核 · AI 运营分析　｜　统一经 model-gateway：可评测（评估集入 CI）· 可审计（全量留痕）· 可切换（路由抽象）· 可计量（token 打标）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01168" y="5303520"/>
            <a:ext cx="11786616" cy="402336"/>
          </a:xfrm>
          <a:prstGeom prst="roundRect">
            <a:avLst>
              <a:gd name="adj" fmla="val 13636"/>
            </a:avLst>
          </a:prstGeom>
          <a:solidFill>
            <a:srgbClr val="FFF7ED"/>
          </a:solidFill>
          <a:ln w="1397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5760" y="5303520"/>
            <a:ext cx="1143000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B45309"/>
                </a:solidFill>
                <a:latin typeface="Segoe UI"/>
                <a:ea typeface="Microsoft YaHei"/>
              </a:rPr>
              <a:t>风险与缓解：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R1 Azure OpenAI 中国区不可用 / 出境未获批 → 网关抽象 ＋ 国产模型备选（Phase 1 合规预沟通）· R2 微信医疗类目资质 → 提前申报 ＋ H5 降级 · R3 AI 幻觉 → 引用必附 ＋ 两步审核 ＋ 红队回归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01168" y="5870448"/>
            <a:ext cx="1179576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64748B"/>
                </a:solidFill>
                <a:latin typeface="Segoe UI"/>
                <a:ea typeface="Microsoft YaHei"/>
              </a:rPr>
              <a:t>落地节奏：Phase 1 统一底座（OneID / CMS / Event / HCP Pool）→ Phase 2 能力复用（微前端 / Capability Hub / 插件 / C360）→ Phase 3 AI 赋能（AI Search / 推荐 / Copilot / AI 合规）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One-Abbott 共享应用平台 · 技术架构图集</dc:title>
  <dc:subject/>
  <dc:creator>One-Abbott Platform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