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1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7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804672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393192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1178661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1472184"/>
            <a:ext cx="24688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44951" y="1472184"/>
            <a:ext cx="24140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59552" y="1472184"/>
            <a:ext cx="265176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147218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1472184"/>
            <a:ext cx="34747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1472184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4048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804672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1178661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18688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46120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9048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24544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1976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84048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804672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813816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1178661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4464" y="2615184"/>
            <a:ext cx="361188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38144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83863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83863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83863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5352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45352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5352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61120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06840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7997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2569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2569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2569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8329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2901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通用服务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2901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身份 · 通知 · 工作流 · 规则 · 审计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2901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所有 Hub 共用的技术能力 · API / SDK 复用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041648"/>
            <a:ext cx="11430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84048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804672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393192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352544"/>
            <a:ext cx="1178661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61872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89304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55664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83096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84048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804672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4864608"/>
            <a:ext cx="1178661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33088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60520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00416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27848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5797296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9184" y="5797296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D4ED8"/>
                </a:solidFill>
                <a:latin typeface="Segoe UI"/>
                <a:ea typeface="Microsoft YaHei"/>
              </a:rPr>
              <a:t>租户级复用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92224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819656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79392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306824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766560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793992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253728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1168" y="6327648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版本清单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516367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644383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71815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942832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9070848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098280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0369296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10497312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4744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2" name="Oval 111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4" name="Oval 113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6" name="Oval 115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22191" y="584301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发布链路</a:t>
            </a:r>
          </a:p>
        </p:txBody>
      </p:sp>
      <p:sp>
        <p:nvSpPr>
          <p:cNvPr id="118" name="Oval 117"/>
          <p:cNvSpPr/>
          <p:nvPr/>
        </p:nvSpPr>
        <p:spPr>
          <a:xfrm>
            <a:off x="48097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9377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One-Abbott Shared Application Platform · 技术架构图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微前端 ＋ 共享能力中心 ＋ HCP Pool
实现一次构建 · 多 BU 复用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0277856" cy="365760"/>
          </a:xfrm>
          <a:prstGeom prst="roundRect">
            <a:avLst>
              <a:gd name="adj" fmla="val 175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566928"/>
            <a:ext cx="804671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Segoe UI"/>
                <a:ea typeface="Microsoft YaHei"/>
              </a:rPr>
              <a:t>渠道接入层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33856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微信公众号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04288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微信小程序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H5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15584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43016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Mobile 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86016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3448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PC Portal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658368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658368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CRM/其他系统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3856" y="987552"/>
            <a:ext cx="9308592" cy="219456"/>
          </a:xfrm>
          <a:prstGeom prst="roundRect">
            <a:avLst>
              <a:gd name="adj" fmla="val 20833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987552"/>
            <a:ext cx="930859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D4ED8"/>
                </a:solidFill>
                <a:latin typeface="Segoe UI"/>
                <a:ea typeface="Microsoft YaHei"/>
              </a:rPr>
              <a:t>One-Abbott Portal（统一入口）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261872"/>
            <a:ext cx="1027785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" y="1261872"/>
            <a:ext cx="804671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5569"/>
                </a:solidFill>
                <a:latin typeface="Segoe UI"/>
                <a:ea typeface="Microsoft YaHei"/>
              </a:rPr>
              <a:t>统一接入层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385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OneID/SSO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统一身份认证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8833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1576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API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统一 API 网关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4281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权限中心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RBAC / ABAC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9729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72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消息中心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站内信 / 通知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1775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79207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搜索中心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全局搜索服务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06256" y="1389888"/>
            <a:ext cx="1554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33688" y="1389888"/>
            <a:ext cx="1499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个性化中心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用户偏好 / 配置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1792224"/>
            <a:ext cx="10277856" cy="1408176"/>
          </a:xfrm>
          <a:prstGeom prst="roundRect">
            <a:avLst>
              <a:gd name="adj" fmla="val 454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1792224"/>
            <a:ext cx="804671" cy="14081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微前端应用层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Micro Frontend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1847088"/>
            <a:ext cx="930859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E7490"/>
                </a:solidFill>
                <a:latin typeface="Segoe UI"/>
                <a:ea typeface="Microsoft YaHei"/>
              </a:rPr>
              <a:t>Micro Frontend（微前端）· 按需组合，灵活装配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3856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Product MF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0432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产品中心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·产品介绍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·资料下载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88720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·试剂速查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04288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0864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Content MF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40864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学术中心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59152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·文献库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59152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·学术内容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59152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·培训课程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74720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11296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Event MF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11296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会议中心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29584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·会议管理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9584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·直播/录播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9584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·报名/签到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45152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81728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Sales MF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81728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销售中心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0016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·拜访管理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00016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·客户规划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00016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·绩效目标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15584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52160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Service MF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服务中心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70448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·报修工单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70448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·现场服务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70448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·巡检管理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86016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22592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HCP MF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2592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客户 360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0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·HCP360 视图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40880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·互动轨迹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0880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·标签画像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56448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93023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AI MF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93023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·智能问答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11312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·内容推荐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11312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·运营助手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326880" y="2011680"/>
            <a:ext cx="1126540" cy="877824"/>
          </a:xfrm>
          <a:prstGeom prst="roundRect">
            <a:avLst>
              <a:gd name="adj" fmla="val 5208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63456" y="2043684"/>
            <a:ext cx="10561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BE185D"/>
                </a:solidFill>
                <a:latin typeface="Segoe UI"/>
                <a:ea typeface="Microsoft YaHei"/>
              </a:rPr>
              <a:t>Plugin MF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63456" y="2171700"/>
            <a:ext cx="105613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插件扩展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31720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·术后随访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81744" y="2473451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·医学咨询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81744" y="2615184"/>
            <a:ext cx="101955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·竞品情报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33856" y="2944368"/>
            <a:ext cx="5120640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1288" y="2944368"/>
            <a:ext cx="506577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E7490"/>
                </a:solidFill>
                <a:latin typeface="Segoe UI"/>
                <a:ea typeface="Microsoft YaHei"/>
              </a:rPr>
              <a:t>微前端框架：React + Module Federation / Single-SPA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345936" y="2944368"/>
            <a:ext cx="4096512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73368" y="2944368"/>
            <a:ext cx="4041648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E7490"/>
                </a:solidFill>
                <a:latin typeface="Segoe UI"/>
                <a:ea typeface="Microsoft YaHei"/>
              </a:rPr>
              <a:t>UI 组件库 &amp; Design System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1168" y="3273552"/>
            <a:ext cx="10277856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6032" y="3273552"/>
            <a:ext cx="804671" cy="12252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F172A"/>
                </a:solidFill>
                <a:latin typeface="Segoe UI"/>
                <a:ea typeface="Microsoft YaHei"/>
              </a:rPr>
              <a:t>共享能力中心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Capability Hub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133856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61288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内容能力中心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1288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1E40AF"/>
                </a:solidFill>
                <a:latin typeface="Segoe UI"/>
                <a:ea typeface="Microsoft YaHei"/>
              </a:rPr>
              <a:t>(Content Hub)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9576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·CMS 内容管理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9576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·文献管理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79576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·文件管理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79576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·内容审核发布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71623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99055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活动能力中心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99055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047857"/>
                </a:solidFill>
                <a:latin typeface="Segoe UI"/>
                <a:ea typeface="Microsoft YaHei"/>
              </a:rPr>
              <a:t>(Event Hub)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17343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·会议管理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517343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·直播/录播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517343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·报名/签到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517343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·CME 学分/积分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09390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36822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销售能力中心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36822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92400E"/>
                </a:solidFill>
                <a:latin typeface="Segoe UI"/>
                <a:ea typeface="Microsoft YaHei"/>
              </a:rPr>
              <a:t>(Sales Hub)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855110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·客户管理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55110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·拜访管理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55110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·协访管理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55110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·KPI/绩效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147157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174589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服务能力中心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74589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475569"/>
                </a:solidFill>
                <a:latin typeface="Segoe UI"/>
                <a:ea typeface="Microsoft YaHei"/>
              </a:rPr>
              <a:t>(Service Hub)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92877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·工单管理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192877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·SLA 管理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92877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·派工调度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92877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·备件管理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84924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12356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客户数据能力中心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12356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0E7490"/>
                </a:solidFill>
                <a:latin typeface="Segoe UI"/>
                <a:ea typeface="Microsoft YaHei"/>
              </a:rPr>
              <a:t>(Customer Data Hub)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30644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·客户主数据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30644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·客户 360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30644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·标签引擎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30644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·行为分析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822692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850123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AI 能力中心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850123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6D28D9"/>
                </a:solidFill>
                <a:latin typeface="Segoe UI"/>
                <a:ea typeface="Microsoft YaHei"/>
              </a:rPr>
              <a:t>(AI Hub)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68412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·AI 问答（RAG）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8412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·内容推荐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8412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·合规审查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68412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·智能预测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60459" y="3346704"/>
            <a:ext cx="1298448" cy="1078992"/>
          </a:xfrm>
          <a:prstGeom prst="roundRect">
            <a:avLst>
              <a:gd name="adj" fmla="val 4237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87891" y="3383280"/>
            <a:ext cx="124358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Plugin 容器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87891" y="3520440"/>
            <a:ext cx="124358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" b="1" i="0">
                <a:solidFill>
                  <a:srgbClr val="BE185D"/>
                </a:solidFill>
                <a:latin typeface="Segoe UI"/>
                <a:ea typeface="Microsoft YaHei"/>
              </a:rPr>
              <a:t>(Plugin Container)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06179" y="3675887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·插件市场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206179" y="3826763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·插件管理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206179" y="3977639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·插件运行时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206179" y="4128515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·OpenAPI / SDK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1168" y="4553712"/>
            <a:ext cx="10277856" cy="420624"/>
          </a:xfrm>
          <a:prstGeom prst="roundRect">
            <a:avLst>
              <a:gd name="adj" fmla="val 15217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56032" y="4553712"/>
            <a:ext cx="804671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平台基础层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Platform Foundation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33856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61288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身份与访问管理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Entra ID / B2C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471623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99055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API 管理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Azure API Management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809390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836822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消息总线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Service Bus / Event Hub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147157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174589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配置中心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App Configuration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84924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512356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日志与审计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Log &amp; Audit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822692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850123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文件存储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Blob Storage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60459" y="4645152"/>
            <a:ext cx="129844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87891" y="464515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监控告警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01168" y="5029200"/>
            <a:ext cx="10277856" cy="731520"/>
          </a:xfrm>
          <a:prstGeom prst="roundRect">
            <a:avLst>
              <a:gd name="adj" fmla="val 875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56032" y="5029200"/>
            <a:ext cx="804671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D4ED8"/>
                </a:solidFill>
                <a:latin typeface="Segoe UI"/>
                <a:ea typeface="Microsoft YaHei"/>
              </a:rPr>
              <a:t>数据底座层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HCP Pool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133856" y="5102352"/>
            <a:ext cx="5797296" cy="603504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207008" y="5129784"/>
            <a:ext cx="565099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D4ED8"/>
                </a:solidFill>
                <a:latin typeface="Segoe UI"/>
                <a:ea typeface="Microsoft YaHei"/>
              </a:rPr>
              <a:t>HCP Pool（统一数据资产）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207008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234440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OneID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统一身份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633472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660903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HCP Master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客户主数据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059936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087368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HCO Master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机构主数据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5486400" y="5266944"/>
            <a:ext cx="1371600" cy="201168"/>
          </a:xfrm>
          <a:prstGeom prst="roundRect">
            <a:avLst>
              <a:gd name="adj" fmla="val 18181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513832" y="5266944"/>
            <a:ext cx="1316736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Consent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授权管理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207008" y="5486400"/>
            <a:ext cx="1188720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234440" y="5486400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Customer 360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487168" y="5486400"/>
            <a:ext cx="1847088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514600" y="5486400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Tag Engine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　标签引擎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425696" y="5486400"/>
            <a:ext cx="1847088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453128" y="5486400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F172A"/>
                </a:solidFill>
                <a:latin typeface="Segoe UI"/>
                <a:ea typeface="Microsoft YaHei"/>
              </a:rPr>
              <a:t>Behavior Event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20" b="0" i="0">
                <a:solidFill>
                  <a:srgbClr val="64748B"/>
                </a:solidFill>
                <a:latin typeface="Segoe UI"/>
                <a:ea typeface="Microsoft YaHei"/>
              </a:rPr>
              <a:t>　行为事件中心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7022592" y="5102352"/>
            <a:ext cx="3419856" cy="603504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095744" y="5129784"/>
            <a:ext cx="327355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D4ED8"/>
                </a:solidFill>
                <a:latin typeface="Segoe UI"/>
                <a:ea typeface="Microsoft YaHei"/>
              </a:rPr>
              <a:t>数据集成与治理（Data Integration &amp; Governance）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095744" y="5266944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123176" y="52669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数据集成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Factory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759952" y="5266944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787384" y="5266944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数据质量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Quality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7095744" y="5486400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23176" y="5486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数据治理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Governance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759952" y="5486400"/>
            <a:ext cx="1609344" cy="182880"/>
          </a:xfrm>
          <a:prstGeom prst="roundRect">
            <a:avLst>
              <a:gd name="adj" fmla="val 20000"/>
            </a:avLst>
          </a:prstGeom>
          <a:solidFill>
            <a:srgbClr val="F0F7FC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87384" y="548640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F172A"/>
                </a:solidFill>
                <a:latin typeface="Segoe UI"/>
                <a:ea typeface="Microsoft YaHei"/>
              </a:rPr>
              <a:t>元数据管理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Metadata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01168" y="5815584"/>
            <a:ext cx="10277856" cy="420624"/>
          </a:xfrm>
          <a:prstGeom prst="roundRect">
            <a:avLst>
              <a:gd name="adj" fmla="val 15217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56032" y="5815584"/>
            <a:ext cx="804671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数据与 AI 平台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80" b="0" i="0">
                <a:solidFill>
                  <a:srgbClr val="64748B"/>
                </a:solidFill>
                <a:latin typeface="Segoe UI"/>
                <a:ea typeface="Microsoft YaHei"/>
              </a:rPr>
              <a:t>Data &amp; AI Platform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13385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16128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数据湖仓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Data Lake · ADLS Gen2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268833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71576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数据处理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Databricks · ETL/ELT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424281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ECFEFF"/>
          </a:solidFill>
          <a:ln w="1397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27024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AI 搜索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Azure AI Search · 全文/向量检索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79729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82472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Azure OpenAI · GPT/RAG/Prompt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7351775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7379207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数据分析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Microsoft Fabric · 建模/分析/共享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8906256" y="590702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8933688" y="590702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可视化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00" b="0" i="0">
                <a:solidFill>
                  <a:srgbClr val="64748B"/>
                </a:solidFill>
                <a:latin typeface="Segoe UI"/>
                <a:ea typeface="Microsoft YaHei"/>
              </a:rPr>
              <a:t>Power BI · 报表/仪表盘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201168" y="6291072"/>
            <a:ext cx="10277856" cy="310896"/>
          </a:xfrm>
          <a:prstGeom prst="roundRect">
            <a:avLst>
              <a:gd name="adj" fmla="val 20588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56032" y="6291072"/>
            <a:ext cx="804671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外部系统对接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133856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61288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ERP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2304288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331720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SAP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3474720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502151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CRM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4645152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672584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MDM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5815584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843016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EHR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986016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7013448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BI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8156448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8183879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IoT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9326880" y="6355080"/>
            <a:ext cx="11265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9354312" y="6355080"/>
            <a:ext cx="1071676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2400E"/>
                </a:solidFill>
                <a:latin typeface="Segoe UI"/>
                <a:ea typeface="Microsoft YaHei"/>
              </a:rPr>
              <a:t>第三方系统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0533888" y="566928"/>
            <a:ext cx="1453896" cy="237744"/>
          </a:xfrm>
          <a:prstGeom prst="roundRect">
            <a:avLst>
              <a:gd name="adj" fmla="val 1923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0533888" y="566928"/>
            <a:ext cx="14538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  <a:ea typeface="Microsoft YaHei"/>
              </a:rPr>
              <a:t>能力复用 &amp; 价值</a:t>
            </a:r>
          </a:p>
        </p:txBody>
      </p:sp>
      <p:sp>
        <p:nvSpPr>
          <p:cNvPr id="223" name="Oval 222"/>
          <p:cNvSpPr/>
          <p:nvPr/>
        </p:nvSpPr>
        <p:spPr>
          <a:xfrm>
            <a:off x="10588752" y="909828"/>
            <a:ext cx="73152" cy="73152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716767" y="877824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微前端 ＋ 共享能力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0533888" y="1033271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0561319" y="1033271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一次构建 · 多端复用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10533888" y="12618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0561319" y="12618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BU 应用按需组合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0533888" y="14904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561319" y="14904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统一标准 · 统一技术栈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10533888" y="17190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0561319" y="17190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统一开发规范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0533888" y="19476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561319" y="19476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降低 80%+ 重复建设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0533888" y="2176272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0561319" y="2176272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降低成本</a:t>
            </a:r>
          </a:p>
        </p:txBody>
      </p:sp>
      <p:sp>
        <p:nvSpPr>
          <p:cNvPr id="237" name="Oval 236"/>
          <p:cNvSpPr/>
          <p:nvPr/>
        </p:nvSpPr>
        <p:spPr>
          <a:xfrm>
            <a:off x="10588752" y="2546604"/>
            <a:ext cx="73152" cy="7315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0716767" y="2514600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数据价值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0533888" y="26700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0561319" y="26700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数据统一 · 洞察驱动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10533888" y="28986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561319" y="28986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HCP Pool 打通数据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10533888" y="31272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10561319" y="31272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构建客户 360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10533888" y="3355848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0561319" y="3355848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赋能精准运营与 AI</a:t>
            </a:r>
          </a:p>
        </p:txBody>
      </p:sp>
      <p:sp>
        <p:nvSpPr>
          <p:cNvPr id="247" name="Oval 246"/>
          <p:cNvSpPr/>
          <p:nvPr/>
        </p:nvSpPr>
        <p:spPr>
          <a:xfrm>
            <a:off x="10588752" y="3726180"/>
            <a:ext cx="73152" cy="73152"/>
          </a:xfrm>
          <a:prstGeom prst="ellipse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0716767" y="3694176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插件生态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10533888" y="38496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10561319" y="38496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插件扩展 · 生态开放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10533888" y="40782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10561319" y="40782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Plugin Container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10533888" y="43068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10561319" y="43068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快速扩展能力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10533888" y="4535424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10561319" y="4535424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支持创新与合作</a:t>
            </a:r>
          </a:p>
        </p:txBody>
      </p:sp>
      <p:sp>
        <p:nvSpPr>
          <p:cNvPr id="257" name="Oval 256"/>
          <p:cNvSpPr/>
          <p:nvPr/>
        </p:nvSpPr>
        <p:spPr>
          <a:xfrm>
            <a:off x="10588752" y="4905756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0716767" y="4873752"/>
            <a:ext cx="1234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智能运营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10533888" y="50292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0561319" y="50292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智能运营 · 降本增效</a:t>
            </a:r>
          </a:p>
        </p:txBody>
      </p:sp>
      <p:sp>
        <p:nvSpPr>
          <p:cNvPr id="261" name="Rounded Rectangle 260"/>
          <p:cNvSpPr/>
          <p:nvPr/>
        </p:nvSpPr>
        <p:spPr>
          <a:xfrm>
            <a:off x="10533888" y="52578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61319" y="52578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AI 赋能运营全流程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10533888" y="5486400"/>
            <a:ext cx="1453896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10561319" y="5486400"/>
            <a:ext cx="139903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提升效率与体验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10533888" y="587044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10561319" y="587044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059669"/>
                </a:solidFill>
                <a:latin typeface="Segoe UI"/>
                <a:ea typeface="Microsoft YaHei"/>
              </a:rPr>
              <a:t>渠道与接入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11283696" y="587044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1311128" y="587044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0078D4"/>
                </a:solidFill>
                <a:latin typeface="Segoe UI"/>
                <a:ea typeface="Microsoft YaHei"/>
              </a:rPr>
              <a:t>平台能力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10533888" y="614476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561319" y="614476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0891B2"/>
                </a:solidFill>
                <a:latin typeface="Segoe UI"/>
                <a:ea typeface="Microsoft YaHei"/>
              </a:rPr>
              <a:t>应用与体验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1283696" y="614476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1311128" y="614476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7C3AED"/>
                </a:solidFill>
                <a:latin typeface="Segoe UI"/>
                <a:ea typeface="Microsoft YaHei"/>
              </a:rPr>
              <a:t>数据资产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10533888" y="641908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10561319" y="641908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D97706"/>
                </a:solidFill>
                <a:latin typeface="Segoe UI"/>
                <a:ea typeface="Microsoft YaHei"/>
              </a:rPr>
              <a:t>共享能力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11283696" y="6419088"/>
            <a:ext cx="704088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1311128" y="6419088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475569"/>
                </a:solidFill>
                <a:latin typeface="Segoe UI"/>
                <a:ea typeface="Microsoft YaHei"/>
              </a:rPr>
              <a:t>基础设施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201168" y="6656832"/>
            <a:ext cx="1178661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依据 archi.jpeg 原图重绘（PPT 原生形状）｜ 分层：渠道接入 → 统一接入 → 微前端应用 → 共享能力中心 → 平台基础 → 数据底座 → 数据与 AI 平台 ｜ 外部系统对接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