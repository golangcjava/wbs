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总体技术架构 · Capability First —— Build Once, Reuse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复用三形态：API · 事件 · 微前端模块
多租户：ADC / EPD / MD / APOC → 平台租户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566928"/>
            <a:ext cx="7626096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0936"/>
            <a:ext cx="420624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7857"/>
                </a:solidFill>
                <a:latin typeface="Segoe UI"/>
                <a:ea typeface="Microsoft YaHei"/>
              </a:rPr>
              <a:t>01 渠道层 · 同一能力 · 多渠道触达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41248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841248"/>
            <a:ext cx="136245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微信公众号 · H5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内容 / 会议 / 积分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2516" y="841248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9948" y="841248"/>
            <a:ext cx="136245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微信小程序 · Taro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内容 / 签到 /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841248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3" y="841248"/>
            <a:ext cx="136245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企业微信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侧边栏 · 拜访 / C360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6028" y="841248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3460" y="841248"/>
            <a:ext cx="136245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App · RN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离线拜访 / 工单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841248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841248"/>
            <a:ext cx="136245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F172A"/>
                </a:solidFill>
                <a:latin typeface="Segoe UI"/>
                <a:ea typeface="Microsoft YaHei"/>
              </a:rPr>
              <a:t>Portal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运营后台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1280160"/>
            <a:ext cx="0" cy="91440"/>
          </a:xfrm>
          <a:prstGeom prst="line">
            <a:avLst/>
          </a:prstGeom>
          <a:ln w="22860">
            <a:solidFill>
              <a:srgbClr val="059669"/>
            </a:solidFill>
            <a:tailEnd type="triangle" w="med" len="med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5486400" y="1280160"/>
            <a:ext cx="0" cy="91440"/>
          </a:xfrm>
          <a:prstGeom prst="line">
            <a:avLst/>
          </a:prstGeom>
          <a:ln w="2286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468880" y="1275588"/>
            <a:ext cx="109728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59669"/>
                </a:solidFill>
                <a:latin typeface="Segoe UI"/>
                <a:ea typeface="Microsoft YaHei"/>
              </a:rPr>
              <a:t>HTTPS · 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" y="1371600"/>
            <a:ext cx="7626096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147218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475569"/>
                </a:solidFill>
                <a:latin typeface="Segoe UI"/>
                <a:ea typeface="Microsoft YaHei"/>
              </a:rPr>
              <a:t>02 接入边缘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89888" y="1472184"/>
            <a:ext cx="960120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1472184"/>
            <a:ext cx="90525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F172A"/>
                </a:solidFill>
                <a:latin typeface="Segoe UI"/>
                <a:ea typeface="Microsoft YaHei"/>
              </a:rPr>
              <a:t>CDN ＋ WAF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04872" y="1472184"/>
            <a:ext cx="1371600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524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3" y="147218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E40AF"/>
                </a:solidFill>
                <a:latin typeface="Segoe UI"/>
                <a:ea typeface="Microsoft YaHei"/>
              </a:rPr>
              <a:t>外部 APIM · 公网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31336" y="1472184"/>
            <a:ext cx="1463040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147218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E40AF"/>
                </a:solidFill>
                <a:latin typeface="Segoe UI"/>
                <a:ea typeface="Microsoft YaHei"/>
              </a:rPr>
              <a:t>Entra ID · 内部 SSO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1472184"/>
            <a:ext cx="2286000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6672" y="1472184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E40AF"/>
                </a:solidFill>
                <a:latin typeface="Segoe UI"/>
                <a:ea typeface="Microsoft YaHei"/>
              </a:rPr>
              <a:t>identity-service 微信 / 验证码 → OneID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77440" y="1828800"/>
            <a:ext cx="0" cy="9144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486400" y="1828800"/>
            <a:ext cx="0" cy="9144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32" name="Rounded Rectangle 31"/>
          <p:cNvSpPr/>
          <p:nvPr/>
        </p:nvSpPr>
        <p:spPr>
          <a:xfrm>
            <a:off x="201168" y="1920240"/>
            <a:ext cx="7626096" cy="530352"/>
          </a:xfrm>
          <a:prstGeom prst="roundRect">
            <a:avLst>
              <a:gd name="adj" fmla="val 13793"/>
            </a:avLst>
          </a:prstGeom>
          <a:solidFill>
            <a:srgbClr val="ECFEFF"/>
          </a:solidFill>
          <a:ln w="1524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1984248"/>
            <a:ext cx="420624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E7490"/>
                </a:solidFill>
                <a:latin typeface="Segoe UI"/>
                <a:ea typeface="Microsoft YaHei"/>
              </a:rPr>
              <a:t>03 BFF 聚合层 · 只做聚合裁剪 · 不重复实现业务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157984"/>
            <a:ext cx="173736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97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2157984"/>
            <a:ext cx="168249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hcp-bff · 小程序 / H5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67128" y="2157984"/>
            <a:ext cx="173736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97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2157984"/>
            <a:ext cx="168249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wework-bff · 企微侧边栏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8496" y="2157984"/>
            <a:ext cx="173736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97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5928" y="2157984"/>
            <a:ext cx="168249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app-bff · 离线同步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9864" y="2157984"/>
            <a:ext cx="173736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97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97296" y="2157984"/>
            <a:ext cx="168249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0F172A"/>
                </a:solidFill>
                <a:latin typeface="Segoe UI"/>
                <a:ea typeface="Microsoft YaHei"/>
              </a:rPr>
              <a:t>portal-bff · 运营门户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77440" y="2450592"/>
            <a:ext cx="0" cy="9144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5486400" y="2450592"/>
            <a:ext cx="0" cy="91440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5577840" y="2446020"/>
            <a:ext cx="91440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91B2"/>
                </a:solidFill>
                <a:latin typeface="Segoe UI"/>
                <a:ea typeface="Microsoft YaHei"/>
              </a:rPr>
              <a:t>聚合调用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1168" y="2542032"/>
            <a:ext cx="7626096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2606040"/>
            <a:ext cx="466344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34155"/>
                </a:solidFill>
                <a:latin typeface="Segoe UI"/>
                <a:ea typeface="Microsoft YaHei"/>
              </a:rPr>
              <a:t>04 能力层 · Capability Hub —— 一次建设（Build Once）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2615184"/>
            <a:ext cx="2596896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94A3B8"/>
                </a:solidFill>
                <a:latin typeface="Segoe UI"/>
                <a:ea typeface="Microsoft YaHei"/>
              </a:rPr>
              <a:t>一 Hub 一限界上下文 · Database-per-Service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184" y="2724912"/>
            <a:ext cx="274320" cy="128016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" y="2724912"/>
            <a:ext cx="274320" cy="1280160"/>
          </a:xfrm>
          <a:prstGeom prst="rect">
            <a:avLst/>
          </a:prstGeom>
          <a:noFill/>
        </p:spPr>
        <p:txBody>
          <a:bodyPr wrap="square" lIns="0" rIns="0" tIns="0" bIns="0" anchor="ctr" vert="eaVer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1E40AF"/>
                </a:solidFill>
                <a:latin typeface="Segoe UI"/>
                <a:ea typeface="Microsoft YaHei"/>
              </a:rPr>
              <a:t>内部 APIM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3504" y="3026664"/>
            <a:ext cx="54864" cy="0"/>
          </a:xfrm>
          <a:prstGeom prst="line">
            <a:avLst/>
          </a:prstGeom>
          <a:ln w="16510">
            <a:solidFill>
              <a:srgbClr val="0078D4"/>
            </a:solidFill>
            <a:tailEnd type="triangle" w="med" len="med"/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603504" y="3703320"/>
            <a:ext cx="54864" cy="0"/>
          </a:xfrm>
          <a:prstGeom prst="line">
            <a:avLst/>
          </a:prstGeom>
          <a:ln w="1651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52" name="Rounded Rectangle 51"/>
          <p:cNvSpPr/>
          <p:nvPr/>
        </p:nvSpPr>
        <p:spPr>
          <a:xfrm>
            <a:off x="676656" y="2724912"/>
            <a:ext cx="1691640" cy="603504"/>
          </a:xfrm>
          <a:prstGeom prst="roundRect">
            <a:avLst>
              <a:gd name="adj" fmla="val 7575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" y="2766060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Content Hub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2930652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内容 · 学术 · DAM · 搜索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3108960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复用：API · 事件 · MF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32304" y="2724912"/>
            <a:ext cx="1691640" cy="603504"/>
          </a:xfrm>
          <a:prstGeom prst="roundRect">
            <a:avLst>
              <a:gd name="adj" fmla="val 7575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78024" y="2766060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Event 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78024" y="2930652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会议 · 报名签到 · 积分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78024" y="3108960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复用：API · 事件 · MF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87952" y="2724912"/>
            <a:ext cx="1691640" cy="603504"/>
          </a:xfrm>
          <a:prstGeom prst="roundRect">
            <a:avLst>
              <a:gd name="adj" fmla="val 7575"/>
            </a:avLst>
          </a:prstGeom>
          <a:solidFill>
            <a:srgbClr val="ECFEFF"/>
          </a:solidFill>
          <a:ln w="15240">
            <a:solidFill>
              <a:srgbClr val="A5F3FC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33672" y="2766060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Customer Hub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3672" y="2930652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HCP / HCO · OneID · Consent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33672" y="3108960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复用：API · 事件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0" y="2724912"/>
            <a:ext cx="1691640" cy="603504"/>
          </a:xfrm>
          <a:prstGeom prst="roundRect">
            <a:avLst>
              <a:gd name="adj" fmla="val 7575"/>
            </a:avLst>
          </a:prstGeom>
          <a:solidFill>
            <a:srgbClr val="FFFBEB"/>
          </a:solidFill>
          <a:ln w="15240">
            <a:solidFill>
              <a:srgbClr val="FDE68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89320" y="2766060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Sales Hub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2930652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拜访 · 打卡 · 离线同步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9320" y="3108960"/>
            <a:ext cx="160020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复用：API · 事件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6656" y="3401568"/>
            <a:ext cx="2286000" cy="603504"/>
          </a:xfrm>
          <a:prstGeom prst="roundRect">
            <a:avLst>
              <a:gd name="adj" fmla="val 7575"/>
            </a:avLst>
          </a:prstGeom>
          <a:solidFill>
            <a:srgbClr val="F6F8FA"/>
          </a:solidFill>
          <a:ln w="15240">
            <a:solidFill>
              <a:srgbClr val="CBD5E1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2376" y="344271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Service Hub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3607308"/>
            <a:ext cx="219456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工单 · SLA · 备件 · IoT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3785615"/>
            <a:ext cx="219456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复用：API · 事件 · MF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35808" y="3401568"/>
            <a:ext cx="2286000" cy="603504"/>
          </a:xfrm>
          <a:prstGeom prst="roundRect">
            <a:avLst>
              <a:gd name="adj" fmla="val 7575"/>
            </a:avLst>
          </a:prstGeom>
          <a:solidFill>
            <a:srgbClr val="FDF2F8"/>
          </a:solidFill>
          <a:ln w="15240">
            <a:solidFill>
              <a:srgbClr val="F9A8D4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81528" y="344271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Plugin Hub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81528" y="3607308"/>
            <a:ext cx="219456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插件 API · 租户级启用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81528" y="3785615"/>
            <a:ext cx="219456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复用：API · 事件 · MF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394960" y="3401568"/>
            <a:ext cx="2286000" cy="603504"/>
          </a:xfrm>
          <a:prstGeom prst="roundRect">
            <a:avLst>
              <a:gd name="adj" fmla="val 7575"/>
            </a:avLst>
          </a:prstGeom>
          <a:solidFill>
            <a:srgbClr val="FFF7ED"/>
          </a:solidFill>
          <a:ln w="15240">
            <a:solidFill>
              <a:srgbClr val="FED7AA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0680" y="344271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172A"/>
                </a:solidFill>
                <a:latin typeface="Segoe UI"/>
                <a:ea typeface="Microsoft YaHei"/>
              </a:rPr>
              <a:t>通用服务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0680" y="3607308"/>
            <a:ext cx="219456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身份 · 通知 · 工作流 · 规则 · 审计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40680" y="3785615"/>
            <a:ext cx="2194560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1E40AF"/>
                </a:solidFill>
                <a:latin typeface="Segoe UI"/>
                <a:ea typeface="Microsoft YaHei"/>
              </a:rPr>
              <a:t>所有 Hub 共用的技术能力 · API / SDK 复用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041648"/>
            <a:ext cx="73152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92400E"/>
                </a:solidFill>
                <a:latin typeface="Segoe UI"/>
                <a:ea typeface="Microsoft YaHei"/>
              </a:rPr>
              <a:t>消费三形态：① API 复用（BFF / 应用 → 内部 APIM · OpenAPI 契约 · 版本并存）　② 事件复用（订阅领域事件 · 解耦集成）　③ 模块复用（MF 远程模块多端挂载 → 详见下页）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377440" y="4261104"/>
            <a:ext cx="0" cy="91440"/>
          </a:xfrm>
          <a:prstGeom prst="line">
            <a:avLst/>
          </a:prstGeom>
          <a:ln w="22860">
            <a:solidFill>
              <a:srgbClr val="D97706"/>
            </a:solidFill>
            <a:tailEnd type="triangle" w="med" len="med"/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5486400" y="4261104"/>
            <a:ext cx="0" cy="91440"/>
          </a:xfrm>
          <a:prstGeom prst="line">
            <a:avLst/>
          </a:prstGeom>
          <a:ln w="22860">
            <a:solidFill>
              <a:srgbClr val="D97706"/>
            </a:solidFill>
            <a:tailEnd type="triangle" w="med" len="med"/>
          </a:ln>
          <a:effectLst/>
        </p:spPr>
      </p:cxnSp>
      <p:sp>
        <p:nvSpPr>
          <p:cNvPr id="83" name="TextBox 82"/>
          <p:cNvSpPr txBox="1"/>
          <p:nvPr/>
        </p:nvSpPr>
        <p:spPr>
          <a:xfrm>
            <a:off x="2468880" y="4256532"/>
            <a:ext cx="109728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D97706"/>
                </a:solidFill>
                <a:latin typeface="Segoe UI"/>
                <a:ea typeface="Microsoft YaHei"/>
              </a:rPr>
              <a:t>事件 / CDC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01168" y="4352544"/>
            <a:ext cx="7626096" cy="420624"/>
          </a:xfrm>
          <a:prstGeom prst="roundRect">
            <a:avLst>
              <a:gd name="adj" fmla="val 15217"/>
            </a:avLst>
          </a:prstGeom>
          <a:solidFill>
            <a:srgbClr val="FFF7ED"/>
          </a:solidFill>
          <a:ln w="1524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29184" y="4434840"/>
            <a:ext cx="859536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6616" y="4434840"/>
            <a:ext cx="80467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92400E"/>
                </a:solidFill>
                <a:latin typeface="Segoe UI"/>
                <a:ea typeface="Microsoft YaHei"/>
              </a:rPr>
              <a:t>05 事件骨干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261872" y="4434840"/>
            <a:ext cx="3145536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289304" y="443484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F172A"/>
                </a:solidFill>
                <a:latin typeface="Segoe UI"/>
                <a:ea typeface="Microsoft YaHei"/>
              </a:rPr>
              <a:t>Service Bus · 领域事件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CloudEvents · Outbox · 幂等 / DLQ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480560" y="4434840"/>
            <a:ext cx="3145536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7992" y="4434840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F172A"/>
                </a:solidFill>
                <a:latin typeface="Segoe UI"/>
                <a:ea typeface="Microsoft YaHei"/>
              </a:rPr>
              <a:t>Event Hub · 行为流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埋点 → 实时标签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377440" y="4773168"/>
            <a:ext cx="0" cy="91440"/>
          </a:xfrm>
          <a:prstGeom prst="line">
            <a:avLst/>
          </a:prstGeom>
          <a:ln w="22860">
            <a:solidFill>
              <a:srgbClr val="0078D4"/>
            </a:solidFill>
            <a:tailEnd type="triangle" w="med" len="med"/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5486400" y="4773168"/>
            <a:ext cx="0" cy="91440"/>
          </a:xfrm>
          <a:prstGeom prst="line">
            <a:avLst/>
          </a:prstGeom>
          <a:ln w="22860">
            <a:solidFill>
              <a:srgbClr val="0078D4"/>
            </a:solidFill>
            <a:tailEnd type="triangle" w="med" len="med"/>
          </a:ln>
          <a:effectLst/>
        </p:spPr>
      </p:cxnSp>
      <p:sp>
        <p:nvSpPr>
          <p:cNvPr id="93" name="Rounded Rectangle 92"/>
          <p:cNvSpPr/>
          <p:nvPr/>
        </p:nvSpPr>
        <p:spPr>
          <a:xfrm>
            <a:off x="201168" y="4864608"/>
            <a:ext cx="7626096" cy="841248"/>
          </a:xfrm>
          <a:prstGeom prst="roundRect">
            <a:avLst>
              <a:gd name="adj" fmla="val 8695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4928616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ED8"/>
                </a:solidFill>
                <a:latin typeface="Segoe UI"/>
                <a:ea typeface="Microsoft YaHei"/>
              </a:rPr>
              <a:t>06 数据与智能底座 · Data / AI / Cloud —— 数据与 AI 同样只建一次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5760" y="5120640"/>
            <a:ext cx="23957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3192" y="512064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F172A"/>
                </a:solidFill>
                <a:latin typeface="Segoe UI"/>
                <a:ea typeface="Microsoft YaHei"/>
              </a:rPr>
              <a:t>HCP Pool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OneID · Consent · C360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825496" y="5120640"/>
            <a:ext cx="23957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52927" y="512064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F172A"/>
                </a:solidFill>
                <a:latin typeface="Segoe UI"/>
                <a:ea typeface="Microsoft YaHei"/>
              </a:rPr>
              <a:t>AI 平台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模型网关 · RAG · Copilot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285231" y="5120640"/>
            <a:ext cx="23957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312664" y="5120640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F172A"/>
                </a:solidFill>
                <a:latin typeface="Segoe UI"/>
                <a:ea typeface="Microsoft YaHei"/>
              </a:rPr>
              <a:t>Landing Zone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64748B"/>
                </a:solidFill>
                <a:latin typeface="Segoe UI"/>
                <a:ea typeface="Microsoft YaHei"/>
              </a:rPr>
              <a:t>AKS · GitOps · OTel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918704" y="566928"/>
            <a:ext cx="40690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28431" y="640080"/>
            <a:ext cx="384962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从重复建设到平台复用（archi.md §6）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28431" y="859536"/>
            <a:ext cx="1700784" cy="1316736"/>
          </a:xfrm>
          <a:prstGeom prst="roundRect">
            <a:avLst>
              <a:gd name="adj" fmla="val 3472"/>
            </a:avLst>
          </a:prstGeom>
          <a:solidFill>
            <a:srgbClr val="FFF1F2"/>
          </a:solidFill>
          <a:ln w="13970">
            <a:solidFill>
              <a:srgbClr val="F8717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19872" y="914400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91C1C"/>
                </a:solidFill>
                <a:latin typeface="Segoe UI"/>
                <a:ea typeface="Microsoft YaHei"/>
              </a:rPr>
              <a:t>当前 · 各自建设 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19872" y="1097280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ADC / EPD / MD / APOC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19872" y="1316736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各建 内容·会议·积分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19872" y="1536192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≈ 12 套重复实现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19872" y="175564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数据孤岛 · 体验割裂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765792" y="1517904"/>
            <a:ext cx="27432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</p:cxnSp>
      <p:sp>
        <p:nvSpPr>
          <p:cNvPr id="110" name="Rounded Rectangle 109"/>
          <p:cNvSpPr/>
          <p:nvPr/>
        </p:nvSpPr>
        <p:spPr>
          <a:xfrm>
            <a:off x="10076688" y="859536"/>
            <a:ext cx="1801368" cy="1316736"/>
          </a:xfrm>
          <a:prstGeom prst="roundRect">
            <a:avLst>
              <a:gd name="adj" fmla="val 3472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168128" y="914400"/>
            <a:ext cx="1618488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47857"/>
                </a:solidFill>
                <a:latin typeface="Segoe UI"/>
                <a:ea typeface="Microsoft YaHei"/>
              </a:rPr>
              <a:t>目标 · 平台统一 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68128" y="109728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Capability Hub 1 套能力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68128" y="1316736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应用 = 租户按需组合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68128" y="1536192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能力 / 数据 / AI 三重复用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68128" y="175564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>
                <a:solidFill>
                  <a:srgbClr val="475569"/>
                </a:solidFill>
                <a:latin typeface="Segoe UI"/>
                <a:ea typeface="Microsoft YaHei"/>
              </a:rPr>
              <a:t>Build Once · Reuse Everywhere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18704" y="2395728"/>
            <a:ext cx="4069080" cy="246888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28431" y="2468880"/>
            <a:ext cx="3849624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能力复用矩阵 · 一次建设 → 处处消费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69680" y="2670048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小程序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H5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18320" y="2670048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企微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66960" y="2670048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App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15600" y="2670048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Portal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64240" y="2670048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475569"/>
                </a:solidFill>
                <a:latin typeface="Segoe UI"/>
                <a:ea typeface="Microsoft YaHei"/>
              </a:rPr>
              <a:t>插件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8028431" y="2980944"/>
            <a:ext cx="3849625" cy="0"/>
          </a:xfrm>
          <a:prstGeom prst="line">
            <a:avLst/>
          </a:prstGeom>
          <a:ln w="10160">
            <a:solidFill>
              <a:srgbClr val="E2E8F0"/>
            </a:solidFill>
          </a:ln>
          <a:effectLst/>
        </p:spPr>
      </p:cxnSp>
      <p:sp>
        <p:nvSpPr>
          <p:cNvPr id="124" name="TextBox 123"/>
          <p:cNvSpPr txBox="1"/>
          <p:nvPr/>
        </p:nvSpPr>
        <p:spPr>
          <a:xfrm>
            <a:off x="8028431" y="3035808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0F172A"/>
                </a:solidFill>
                <a:latin typeface="Segoe UI"/>
                <a:ea typeface="Microsoft YaHei"/>
              </a:rPr>
              <a:t>内容学术</a:t>
            </a:r>
          </a:p>
        </p:txBody>
      </p:sp>
      <p:sp>
        <p:nvSpPr>
          <p:cNvPr id="125" name="Oval 124"/>
          <p:cNvSpPr/>
          <p:nvPr/>
        </p:nvSpPr>
        <p:spPr>
          <a:xfrm>
            <a:off x="9079992" y="309981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628632" y="309981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177272" y="309981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725912" y="309981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274552" y="309981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28431" y="3300984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0F172A"/>
                </a:solidFill>
                <a:latin typeface="Segoe UI"/>
                <a:ea typeface="Microsoft YaHei"/>
              </a:rPr>
              <a:t>会议积分</a:t>
            </a:r>
          </a:p>
        </p:txBody>
      </p:sp>
      <p:sp>
        <p:nvSpPr>
          <p:cNvPr id="131" name="Oval 130"/>
          <p:cNvSpPr/>
          <p:nvPr/>
        </p:nvSpPr>
        <p:spPr>
          <a:xfrm>
            <a:off x="9079992" y="3364991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8632" y="336499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177272" y="336499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725912" y="3364991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274552" y="336499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028431" y="356616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0F172A"/>
                </a:solidFill>
                <a:latin typeface="Segoe UI"/>
                <a:ea typeface="Microsoft YaHei"/>
              </a:rPr>
              <a:t>客户 360</a:t>
            </a:r>
          </a:p>
        </p:txBody>
      </p:sp>
      <p:sp>
        <p:nvSpPr>
          <p:cNvPr id="137" name="Oval 136"/>
          <p:cNvSpPr/>
          <p:nvPr/>
        </p:nvSpPr>
        <p:spPr>
          <a:xfrm>
            <a:off x="9079992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8632" y="36301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177272" y="36301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725912" y="36301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274552" y="36301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28431" y="3831335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0F172A"/>
                </a:solidFill>
                <a:latin typeface="Segoe UI"/>
                <a:ea typeface="Microsoft YaHei"/>
              </a:rPr>
              <a:t>拜访绩效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34272" y="3831335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94A3B8"/>
                </a:solidFill>
                <a:latin typeface="Segoe UI"/>
                <a:ea typeface="Microsoft YaHei"/>
              </a:rPr>
              <a:t>–</a:t>
            </a:r>
          </a:p>
        </p:txBody>
      </p:sp>
      <p:sp>
        <p:nvSpPr>
          <p:cNvPr id="144" name="Oval 143"/>
          <p:cNvSpPr/>
          <p:nvPr/>
        </p:nvSpPr>
        <p:spPr>
          <a:xfrm>
            <a:off x="9628632" y="389534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177272" y="389534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25912" y="3895344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1228832" y="3831335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94A3B8"/>
                </a:solidFill>
                <a:latin typeface="Segoe UI"/>
                <a:ea typeface="Microsoft YaHei"/>
              </a:rPr>
              <a:t>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028431" y="4096511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0F172A"/>
                </a:solidFill>
                <a:latin typeface="Segoe UI"/>
                <a:ea typeface="Microsoft YaHei"/>
              </a:rPr>
              <a:t>报修服务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4272" y="4096511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94A3B8"/>
                </a:solidFill>
                <a:latin typeface="Segoe UI"/>
                <a:ea typeface="Microsoft YaHei"/>
              </a:rPr>
              <a:t>–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82912" y="4096511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94A3B8"/>
                </a:solidFill>
                <a:latin typeface="Segoe UI"/>
                <a:ea typeface="Microsoft YaHei"/>
              </a:rPr>
              <a:t>–</a:t>
            </a:r>
          </a:p>
        </p:txBody>
      </p:sp>
      <p:sp>
        <p:nvSpPr>
          <p:cNvPr id="151" name="Oval 150"/>
          <p:cNvSpPr/>
          <p:nvPr/>
        </p:nvSpPr>
        <p:spPr>
          <a:xfrm>
            <a:off x="10177272" y="416052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25912" y="416052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1228832" y="4096511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94A3B8"/>
                </a:solidFill>
                <a:latin typeface="Segoe UI"/>
                <a:ea typeface="Microsoft YaHei"/>
              </a:rPr>
              <a:t>–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028431" y="4361688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0F172A"/>
                </a:solidFill>
                <a:latin typeface="Segoe UI"/>
                <a:ea typeface="Microsoft YaHei"/>
              </a:rPr>
              <a:t>AI 能力</a:t>
            </a:r>
          </a:p>
        </p:txBody>
      </p:sp>
      <p:sp>
        <p:nvSpPr>
          <p:cNvPr id="155" name="Oval 154"/>
          <p:cNvSpPr/>
          <p:nvPr/>
        </p:nvSpPr>
        <p:spPr>
          <a:xfrm>
            <a:off x="9079992" y="442569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628632" y="442569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177272" y="442569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25912" y="442569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1274552" y="442569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028431" y="4626864"/>
            <a:ext cx="384962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 i="0">
                <a:solidFill>
                  <a:srgbClr val="047857"/>
                </a:solidFill>
                <a:latin typeface="Segoe UI"/>
                <a:ea typeface="Microsoft YaHei"/>
              </a:rPr>
              <a:t>● 直接复用　○ 按需裁剪　– 不涉及 ｜ 例：新插件「术后随访」= C360 ＋ 内容 ＋ 积分 ＋ 通知，零新建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918704" y="4956048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1397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028431" y="5020056"/>
            <a:ext cx="3849624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D4ED8"/>
                </a:solidFill>
                <a:latin typeface="Segoe UI"/>
                <a:ea typeface="Microsoft YaHei"/>
              </a:rPr>
              <a:t>租户级复用 · 治理与计量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028431" y="5175504"/>
            <a:ext cx="1865376" cy="201168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055863" y="5175504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tid 全链路 · SQL 行级安全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966959" y="5175504"/>
            <a:ext cx="1865376" cy="201168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994391" y="5175504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feature flag 按租户启用能力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028431" y="5413248"/>
            <a:ext cx="1865376" cy="201168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055863" y="5413248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APIM 配额 / 限流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966959" y="5413248"/>
            <a:ext cx="1865376" cy="201168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994391" y="5413248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75569"/>
                </a:solidFill>
                <a:latin typeface="Segoe UI"/>
                <a:ea typeface="Microsoft YaHei"/>
              </a:rPr>
              <a:t>成本按 tid 计量分摊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01168" y="5815584"/>
            <a:ext cx="1178661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复用成效目标：12 套重复建设 → 1 套平台能力 ｜ 新渠道 / 新应用接入周期减半（只建 BFF 与视图）｜ 新场景 = 组合已有能力 ｜ 分层对应 archi.md：Experience → Application → Capability → Data → AI →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155448"/>
            <a:ext cx="50292" cy="365760"/>
          </a:xfrm>
          <a:prstGeom prst="roundRect">
            <a:avLst>
              <a:gd name="adj" fmla="val 4909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F172A"/>
                </a:solidFill>
                <a:latin typeface="Segoe UI"/>
                <a:ea typeface="Microsoft YaHei"/>
              </a:rPr>
              <a:t>微前端架构设计 · 复用与独立交付（Module Federation）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5486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4748B"/>
                </a:solidFill>
                <a:latin typeface="Segoe UI"/>
                <a:ea typeface="Microsoft YaHei"/>
              </a:rPr>
              <a:t>React 18 · TS 5 · Rspack / Vite · Taro 小程序
独立开发 · 独立部署 · 独立灰度 · 共享治理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566928"/>
            <a:ext cx="11786616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640080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172A"/>
                </a:solidFill>
                <a:latin typeface="Segoe UI"/>
                <a:ea typeface="Microsoft YaHei"/>
              </a:rPr>
              <a:t>① 分层设计 · 四层结构（谁负责什么）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859536"/>
            <a:ext cx="1243584" cy="402336"/>
          </a:xfrm>
          <a:prstGeom prst="roundRect">
            <a:avLst>
              <a:gd name="adj" fmla="val 11363"/>
            </a:avLst>
          </a:prstGeom>
          <a:solidFill>
            <a:srgbClr val="ECFEFF"/>
          </a:solidFill>
          <a:ln w="1524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85953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E7490"/>
                </a:solidFill>
                <a:latin typeface="Segoe UI"/>
                <a:ea typeface="Microsoft YaHei"/>
              </a:rPr>
              <a:t>Shell · 宿主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 i="0">
                <a:solidFill>
                  <a:srgbClr val="64748B"/>
                </a:solidFill>
                <a:latin typeface="Segoe UI"/>
                <a:ea typeface="Microsoft YaHei"/>
              </a:rPr>
              <a:t>平台团队统一维护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7632" y="859536"/>
            <a:ext cx="1627632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064" y="8595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路由 / 布局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RBAC 菜单下发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859536"/>
            <a:ext cx="1627632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8595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SSO 会话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全局权限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859536"/>
            <a:ext cx="1627632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8595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Design Tokens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主题 / 暗色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859536"/>
            <a:ext cx="1627632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7416" y="8595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事件总线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mitt 跨模块通信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859536"/>
            <a:ext cx="1627632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8595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MF 注册表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manifest 版本管理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31552" y="859536"/>
            <a:ext cx="1627632" cy="402336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1397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58984" y="8595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错误兜底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失败降级占位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1261872"/>
            <a:ext cx="0" cy="109728"/>
          </a:xfrm>
          <a:prstGeom prst="line">
            <a:avLst/>
          </a:prstGeom>
          <a:ln w="2286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236208" y="1266444"/>
            <a:ext cx="2194560" cy="1005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0891B2"/>
                </a:solidFill>
                <a:latin typeface="Segoe UI"/>
                <a:ea typeface="Microsoft YaHei"/>
              </a:rPr>
              <a:t>运行时远程加载（不是构建时打包）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" y="1371600"/>
            <a:ext cx="1243584" cy="475488"/>
          </a:xfrm>
          <a:prstGeom prst="roundRect">
            <a:avLst>
              <a:gd name="adj" fmla="val 9615"/>
            </a:avLst>
          </a:prstGeom>
          <a:solidFill>
            <a:srgbClr val="F5F3FF"/>
          </a:solidFill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1371600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D28D9"/>
                </a:solidFill>
                <a:latin typeface="Segoe UI"/>
                <a:ea typeface="Microsoft YaHei"/>
              </a:rPr>
              <a:t>Remote MF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" b="0" i="0">
                <a:solidFill>
                  <a:srgbClr val="64748B"/>
                </a:solidFill>
                <a:latin typeface="Segoe UI"/>
                <a:ea typeface="Microsoft YaHei"/>
              </a:rPr>
              <a:t>业务团队自治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27632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55064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产品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product-mf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内容学术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content-mf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33088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会议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event-mf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85816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13248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销售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sales-mf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38544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5976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售后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service-mf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91272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18704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客户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customer-mf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71432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AI 助手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ai-mf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96728" y="137160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137160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0F172A"/>
                </a:solidFill>
                <a:latin typeface="Segoe UI"/>
                <a:ea typeface="Microsoft YaHei"/>
              </a:rPr>
              <a:t>插件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plugin-mf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" y="1901952"/>
            <a:ext cx="1243584" cy="274320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 w="1524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1901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92400E"/>
                </a:solidFill>
                <a:latin typeface="Segoe UI"/>
                <a:ea typeface="Microsoft YaHei"/>
              </a:rPr>
              <a:t>Shared · 单例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27632" y="1901952"/>
            <a:ext cx="10131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55064" y="1901952"/>
            <a:ext cx="1007668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白名单：react ^18 · design-system · auth-sdk · api-client · i18n · telemetry ｜ 白名单外一律独立打包 · singleton 版本协商（防版本地狱）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" y="2212848"/>
            <a:ext cx="1243584" cy="237744"/>
          </a:xfrm>
          <a:prstGeom prst="roundRect">
            <a:avLst>
              <a:gd name="adj" fmla="val 19230"/>
            </a:avLst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" y="22128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47857"/>
                </a:solidFill>
                <a:latin typeface="Segoe UI"/>
                <a:ea typeface="Microsoft YaHei"/>
              </a:rPr>
              <a:t>Contract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27632" y="2212848"/>
            <a:ext cx="10131552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397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55064" y="2212848"/>
            <a:ext cx="1007668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475569"/>
                </a:solidFill>
                <a:latin typeface="Segoe UI"/>
                <a:ea typeface="Microsoft YaHei"/>
              </a:rPr>
              <a:t>@abbott/contracts：API DTO · 领域事件 · 权限码 —— 前后端同源引用 · CI 兼容性校验 · 破坏性变更即阻断合并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" y="2633472"/>
            <a:ext cx="5760720" cy="140817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" y="2706624"/>
            <a:ext cx="53949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② 运行时加载与版本协商（怎么跑起来）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184" y="2889504"/>
            <a:ext cx="1737360" cy="384048"/>
          </a:xfrm>
          <a:prstGeom prst="roundRect">
            <a:avLst>
              <a:gd name="adj" fmla="val 11904"/>
            </a:avLst>
          </a:prstGeom>
          <a:solidFill>
            <a:srgbClr val="ECFEFF"/>
          </a:solidFill>
          <a:ln w="1397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" y="2889504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① Shell 启动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引导 / 鉴权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066543" y="3081528"/>
            <a:ext cx="73153" cy="0"/>
          </a:xfrm>
          <a:prstGeom prst="line">
            <a:avLst/>
          </a:prstGeom>
          <a:ln w="1778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54" name="Rounded Rectangle 53"/>
          <p:cNvSpPr/>
          <p:nvPr/>
        </p:nvSpPr>
        <p:spPr>
          <a:xfrm>
            <a:off x="2139696" y="2889504"/>
            <a:ext cx="1737360" cy="384048"/>
          </a:xfrm>
          <a:prstGeom prst="roundRect">
            <a:avLst>
              <a:gd name="adj" fmla="val 11904"/>
            </a:avLst>
          </a:prstGeom>
          <a:solidFill>
            <a:srgbClr val="ECFEFF"/>
          </a:solidFill>
          <a:ln w="1397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67127" y="2889504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② 拉取 manifest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版本清单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77056" y="3081528"/>
            <a:ext cx="73152" cy="0"/>
          </a:xfrm>
          <a:prstGeom prst="line">
            <a:avLst/>
          </a:prstGeom>
          <a:ln w="1778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57" name="Rounded Rectangle 56"/>
          <p:cNvSpPr/>
          <p:nvPr/>
        </p:nvSpPr>
        <p:spPr>
          <a:xfrm>
            <a:off x="3950208" y="2889504"/>
            <a:ext cx="1737360" cy="384048"/>
          </a:xfrm>
          <a:prstGeom prst="roundRect">
            <a:avLst>
              <a:gd name="adj" fmla="val 11904"/>
            </a:avLst>
          </a:prstGeom>
          <a:solidFill>
            <a:srgbClr val="ECFEFF"/>
          </a:solidFill>
          <a:ln w="1397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40" y="2889504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③ 解析远程入口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CDN URL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" y="3364992"/>
            <a:ext cx="1737360" cy="384048"/>
          </a:xfrm>
          <a:prstGeom prst="roundRect">
            <a:avLst>
              <a:gd name="adj" fmla="val 11904"/>
            </a:avLst>
          </a:prstGeom>
          <a:solidFill>
            <a:srgbClr val="ECFEFF"/>
          </a:solidFill>
          <a:ln w="1397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" y="3364992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④ 加载 MF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import remote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066543" y="3557016"/>
            <a:ext cx="73153" cy="0"/>
          </a:xfrm>
          <a:prstGeom prst="line">
            <a:avLst/>
          </a:prstGeom>
          <a:ln w="1778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62" name="Rounded Rectangle 61"/>
          <p:cNvSpPr/>
          <p:nvPr/>
        </p:nvSpPr>
        <p:spPr>
          <a:xfrm>
            <a:off x="2139696" y="3364992"/>
            <a:ext cx="1737360" cy="384048"/>
          </a:xfrm>
          <a:prstGeom prst="roundRect">
            <a:avLst>
              <a:gd name="adj" fmla="val 11904"/>
            </a:avLst>
          </a:prstGeom>
          <a:solidFill>
            <a:srgbClr val="ECFEFF"/>
          </a:solidFill>
          <a:ln w="1397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67127" y="3364992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⑤ 版本协商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react singleton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877056" y="3557016"/>
            <a:ext cx="73152" cy="0"/>
          </a:xfrm>
          <a:prstGeom prst="line">
            <a:avLst/>
          </a:prstGeom>
          <a:ln w="17780">
            <a:solidFill>
              <a:srgbClr val="0891B2"/>
            </a:solidFill>
            <a:tailEnd type="triangle" w="med" len="med"/>
          </a:ln>
          <a:effectLst/>
        </p:spPr>
      </p:cxnSp>
      <p:sp>
        <p:nvSpPr>
          <p:cNvPr id="65" name="Rounded Rectangle 64"/>
          <p:cNvSpPr/>
          <p:nvPr/>
        </p:nvSpPr>
        <p:spPr>
          <a:xfrm>
            <a:off x="3950208" y="3364992"/>
            <a:ext cx="1737360" cy="384048"/>
          </a:xfrm>
          <a:prstGeom prst="roundRect">
            <a:avLst>
              <a:gd name="adj" fmla="val 11904"/>
            </a:avLst>
          </a:prstGeom>
          <a:solidFill>
            <a:srgbClr val="ECFEFF"/>
          </a:solidFill>
          <a:ln w="1397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77640" y="3364992"/>
            <a:ext cx="16824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⑥ 挂载渲染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路由 / 权限校验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" y="3840480"/>
            <a:ext cx="5504688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0E7490"/>
                </a:solidFill>
                <a:latin typeface="Segoe UI"/>
                <a:ea typeface="Microsoft YaHei"/>
              </a:rPr>
              <a:t>失败降级：模块加载失败 → 占位提示不白屏 · 菜单按 RBAC 动态下发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89904" y="2633472"/>
            <a:ext cx="5897880" cy="140817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2706624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③ 跨模块通信与隔离规则（怎么不腐化）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2871216"/>
            <a:ext cx="56509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7C3AED"/>
                </a:solidFill>
                <a:latin typeface="Segoe UI"/>
                <a:ea typeface="Microsoft YaHei"/>
              </a:rPr>
              <a:t>事件总线：</a:t>
            </a:r>
            <a:r>
              <a:rPr sz="630" b="0" i="0">
                <a:solidFill>
                  <a:srgbClr val="475569"/>
                </a:solidFill>
                <a:latin typeface="Segoe UI"/>
                <a:ea typeface="Microsoft YaHei"/>
              </a:rPr>
              <a:t>mf:&lt;module&gt;:&lt;event&gt;（例 content.published → 积分刷新 · 通知）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3099816"/>
            <a:ext cx="56509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E11D48"/>
                </a:solidFill>
                <a:latin typeface="Segoe UI"/>
                <a:ea typeface="Microsoft YaHei"/>
              </a:rPr>
              <a:t>禁止直连：</a:t>
            </a:r>
            <a:r>
              <a:rPr sz="630" b="0" i="0">
                <a:solidFill>
                  <a:srgbClr val="475569"/>
                </a:solidFill>
                <a:latin typeface="Segoe UI"/>
                <a:ea typeface="Microsoft YaHei"/>
              </a:rPr>
              <a:t>跨 MF 直接 import 一律禁止 · CI 扫描阻断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3328416"/>
            <a:ext cx="56509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0078D4"/>
                </a:solidFill>
                <a:latin typeface="Segoe UI"/>
                <a:ea typeface="Microsoft YaHei"/>
              </a:rPr>
              <a:t>样式隔离：</a:t>
            </a:r>
            <a:r>
              <a:rPr sz="630" b="0" i="0">
                <a:solidFill>
                  <a:srgbClr val="475569"/>
                </a:solidFill>
                <a:latin typeface="Segoe UI"/>
                <a:ea typeface="Microsoft YaHei"/>
              </a:rPr>
              <a:t>Design Tokens ＋ 模块级 class 前缀 · 全局样式仅 Shell 注入一次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3557016"/>
            <a:ext cx="56509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0891B2"/>
                </a:solidFill>
                <a:latin typeface="Segoe UI"/>
                <a:ea typeface="Microsoft YaHei"/>
              </a:rPr>
              <a:t>跳转协议：</a:t>
            </a:r>
            <a:r>
              <a:rPr sz="630" b="0" i="0">
                <a:solidFill>
                  <a:srgbClr val="475569"/>
                </a:solidFill>
                <a:latin typeface="Segoe UI"/>
                <a:ea typeface="Microsoft YaHei"/>
              </a:rPr>
              <a:t>跨模块跳转走 Shell 统一路由 /mfe/&lt;module&gt;/…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3785616"/>
            <a:ext cx="565099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 i="0">
                <a:solidFill>
                  <a:srgbClr val="059669"/>
                </a:solidFill>
                <a:latin typeface="Segoe UI"/>
                <a:ea typeface="Microsoft YaHei"/>
              </a:rPr>
              <a:t>全局一致：</a:t>
            </a:r>
            <a:r>
              <a:rPr sz="630" b="0" i="0">
                <a:solidFill>
                  <a:srgbClr val="475569"/>
                </a:solidFill>
                <a:latin typeface="Segoe UI"/>
                <a:ea typeface="Microsoft YaHei"/>
              </a:rPr>
              <a:t>Loading / 错误 / 主题 / i18n 由 Shell 统一，保证体验不割裂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01168" y="4133087"/>
            <a:ext cx="5760720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9184" y="4206240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④ 复用：一次开发 · 多端挂载（以 content-mf 为例）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9184" y="4407408"/>
            <a:ext cx="2157984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6510">
            <a:solidFill>
              <a:srgbClr val="DDD6FE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2336" y="4407408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D28D9"/>
                </a:solidFill>
                <a:latin typeface="Segoe UI"/>
                <a:ea typeface="Microsoft YaHei"/>
              </a:rPr>
              <a:t>content-mf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172A"/>
                </a:solidFill>
                <a:latin typeface="Segoe UI"/>
                <a:ea typeface="Microsoft YaHei"/>
              </a:rPr>
              <a:t>内容学术模块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4748B"/>
                </a:solidFill>
                <a:latin typeface="Segoe UI"/>
                <a:ea typeface="Microsoft YaHei"/>
              </a:rPr>
              <a:t>含 core 业务 / 状态 / 契约层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27248" y="4370832"/>
            <a:ext cx="2724912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54679" y="4370832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Portal Shell　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运营后台 · 全功能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2487168" y="4498848"/>
            <a:ext cx="329184" cy="237744"/>
          </a:xfrm>
          <a:prstGeom prst="line">
            <a:avLst/>
          </a:prstGeom>
          <a:ln w="16510">
            <a:solidFill>
              <a:srgbClr val="7C3AED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16352" y="4498848"/>
            <a:ext cx="292608" cy="0"/>
          </a:xfrm>
          <a:prstGeom prst="line">
            <a:avLst/>
          </a:prstGeom>
          <a:ln w="1651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83" name="Rounded Rectangle 82"/>
          <p:cNvSpPr/>
          <p:nvPr/>
        </p:nvSpPr>
        <p:spPr>
          <a:xfrm>
            <a:off x="3127248" y="4681728"/>
            <a:ext cx="2724912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54679" y="468172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企微 / 公众号 H5　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销售侧 · 嵌入侧边栏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487168" y="4736592"/>
            <a:ext cx="329184" cy="73152"/>
          </a:xfrm>
          <a:prstGeom prst="line">
            <a:avLst/>
          </a:prstGeom>
          <a:ln w="16510">
            <a:solidFill>
              <a:srgbClr val="7C3AED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16352" y="4809744"/>
            <a:ext cx="292608" cy="0"/>
          </a:xfrm>
          <a:prstGeom prst="line">
            <a:avLst/>
          </a:prstGeom>
          <a:ln w="1651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87" name="Rounded Rectangle 86"/>
          <p:cNvSpPr/>
          <p:nvPr/>
        </p:nvSpPr>
        <p:spPr>
          <a:xfrm>
            <a:off x="3127248" y="4992624"/>
            <a:ext cx="2724912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154679" y="4992624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小程序 · Taro　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HCP 侧 · 转译复用 core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487168" y="4736592"/>
            <a:ext cx="329184" cy="384048"/>
          </a:xfrm>
          <a:prstGeom prst="line">
            <a:avLst/>
          </a:prstGeom>
          <a:ln w="16510">
            <a:solidFill>
              <a:srgbClr val="7C3AED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816352" y="5120640"/>
            <a:ext cx="292608" cy="0"/>
          </a:xfrm>
          <a:prstGeom prst="line">
            <a:avLst/>
          </a:prstGeom>
          <a:ln w="1651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91" name="Rounded Rectangle 90"/>
          <p:cNvSpPr/>
          <p:nvPr/>
        </p:nvSpPr>
        <p:spPr>
          <a:xfrm>
            <a:off x="3127248" y="5303520"/>
            <a:ext cx="2724912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397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54679" y="5303520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App · React Native　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70" b="0" i="0">
                <a:solidFill>
                  <a:srgbClr val="64748B"/>
                </a:solidFill>
                <a:latin typeface="Segoe UI"/>
                <a:ea typeface="Microsoft YaHei"/>
              </a:rPr>
              <a:t>工程师侧 · 复用 core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487168" y="4736592"/>
            <a:ext cx="329184" cy="694944"/>
          </a:xfrm>
          <a:prstGeom prst="line">
            <a:avLst/>
          </a:prstGeom>
          <a:ln w="16510">
            <a:solidFill>
              <a:srgbClr val="7C3AED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2816352" y="5431536"/>
            <a:ext cx="292608" cy="0"/>
          </a:xfrm>
          <a:prstGeom prst="line">
            <a:avLst/>
          </a:prstGeom>
          <a:ln w="16510">
            <a:solidFill>
              <a:srgbClr val="7C3AED"/>
            </a:solidFill>
            <a:tailEnd type="triangle" w="med" len="med"/>
          </a:ln>
          <a:effectLst/>
        </p:spPr>
      </p:cxnSp>
      <p:sp>
        <p:nvSpPr>
          <p:cNvPr id="95" name="TextBox 94"/>
          <p:cNvSpPr txBox="1"/>
          <p:nvPr/>
        </p:nvSpPr>
        <p:spPr>
          <a:xfrm>
            <a:off x="329184" y="5541264"/>
            <a:ext cx="5504688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6D28D9"/>
                </a:solidFill>
                <a:latin typeface="Segoe UI"/>
                <a:ea typeface="Microsoft YaHei"/>
              </a:rPr>
              <a:t>Monorepo：core 共享（业务 / 状态 / 契约）· 视图按端适配 —— 新端接入只写视图层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89904" y="4133087"/>
            <a:ext cx="5897880" cy="1591056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55000" dist="22000" dir="5400000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17920" y="4206240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172A"/>
                </a:solidFill>
                <a:latin typeface="Segoe UI"/>
                <a:ea typeface="Microsoft YaHei"/>
              </a:rPr>
              <a:t>⑤ 独立交付与插件扩展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17920" y="4389120"/>
            <a:ext cx="1298448" cy="402336"/>
          </a:xfrm>
          <a:prstGeom prst="roundRect">
            <a:avLst>
              <a:gd name="adj" fmla="val 11363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45352" y="4389120"/>
            <a:ext cx="1243584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① 构建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4748B"/>
                </a:solidFill>
                <a:latin typeface="Segoe UI"/>
                <a:ea typeface="Microsoft YaHei"/>
              </a:rPr>
              <a:t>CI 产物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7516367" y="4590288"/>
            <a:ext cx="128016" cy="0"/>
          </a:xfrm>
          <a:prstGeom prst="line">
            <a:avLst/>
          </a:prstGeom>
          <a:ln w="1651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01" name="Rounded Rectangle 100"/>
          <p:cNvSpPr/>
          <p:nvPr/>
        </p:nvSpPr>
        <p:spPr>
          <a:xfrm>
            <a:off x="7644383" y="4389120"/>
            <a:ext cx="1298448" cy="402336"/>
          </a:xfrm>
          <a:prstGeom prst="roundRect">
            <a:avLst>
              <a:gd name="adj" fmla="val 11363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71815" y="4389120"/>
            <a:ext cx="1243584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② CDN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4748B"/>
                </a:solidFill>
                <a:latin typeface="Segoe UI"/>
                <a:ea typeface="Microsoft YaHei"/>
              </a:rPr>
              <a:t>不可变版本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942832" y="4590288"/>
            <a:ext cx="128016" cy="0"/>
          </a:xfrm>
          <a:prstGeom prst="line">
            <a:avLst/>
          </a:prstGeom>
          <a:ln w="1651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04" name="Rounded Rectangle 103"/>
          <p:cNvSpPr/>
          <p:nvPr/>
        </p:nvSpPr>
        <p:spPr>
          <a:xfrm>
            <a:off x="9070848" y="4389120"/>
            <a:ext cx="1298448" cy="402336"/>
          </a:xfrm>
          <a:prstGeom prst="roundRect">
            <a:avLst>
              <a:gd name="adj" fmla="val 11363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98280" y="4389120"/>
            <a:ext cx="1243584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③ manifest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4748B"/>
                </a:solidFill>
                <a:latin typeface="Segoe UI"/>
                <a:ea typeface="Microsoft YaHei"/>
              </a:rPr>
              <a:t>PR 审批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0369296" y="4590288"/>
            <a:ext cx="128016" cy="0"/>
          </a:xfrm>
          <a:prstGeom prst="line">
            <a:avLst/>
          </a:prstGeom>
          <a:ln w="16510">
            <a:solidFill>
              <a:srgbClr val="059669"/>
            </a:solidFill>
            <a:tailEnd type="triangle" w="med" len="med"/>
          </a:ln>
          <a:effectLst/>
        </p:spPr>
      </p:cxnSp>
      <p:sp>
        <p:nvSpPr>
          <p:cNvPr id="107" name="Rounded Rectangle 106"/>
          <p:cNvSpPr/>
          <p:nvPr/>
        </p:nvSpPr>
        <p:spPr>
          <a:xfrm>
            <a:off x="10497312" y="4389120"/>
            <a:ext cx="1298448" cy="402336"/>
          </a:xfrm>
          <a:prstGeom prst="roundRect">
            <a:avLst>
              <a:gd name="adj" fmla="val 11363"/>
            </a:avLst>
          </a:prstGeom>
          <a:solidFill>
            <a:srgbClr val="ECFDF5"/>
          </a:solidFill>
          <a:ln w="1397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24744" y="4389120"/>
            <a:ext cx="1243584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0F172A"/>
                </a:solidFill>
                <a:latin typeface="Segoe UI"/>
                <a:ea typeface="Microsoft YaHei"/>
              </a:rPr>
              <a:t>④ 回滚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i="0">
                <a:solidFill>
                  <a:srgbClr val="64748B"/>
                </a:solidFill>
                <a:latin typeface="Segoe UI"/>
                <a:ea typeface="Microsoft YaHei"/>
              </a:rPr>
              <a:t>分钟级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4846320"/>
            <a:ext cx="5650992" cy="118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模块独立流水线互不阻塞 · 回滚 = manifest 指回旧版本 · 质量门禁：Playwright 冒烟 ＋ Shell E2E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17920" y="5029200"/>
            <a:ext cx="5650992" cy="603504"/>
          </a:xfrm>
          <a:prstGeom prst="roundRect">
            <a:avLst>
              <a:gd name="adj" fmla="val 7575"/>
            </a:avLst>
          </a:prstGeom>
          <a:solidFill>
            <a:srgbClr val="FDF2F8"/>
          </a:solidFill>
          <a:ln w="13970">
            <a:solidFill>
              <a:srgbClr val="F9A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27648" y="5029200"/>
            <a:ext cx="5431536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BE185D"/>
                </a:solidFill>
                <a:latin typeface="Segoe UI"/>
                <a:ea typeface="Microsoft YaHei"/>
              </a:rPr>
              <a:t>插件 = 远程 MF ＋ 插件 API（经 APIM · HMAC 签名）＋ manifest 声明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475569"/>
                </a:solidFill>
                <a:latin typeface="Segoe UI"/>
                <a:ea typeface="Microsoft YaHei"/>
              </a:rPr>
              <a:t>租户级 feature flag 启用 · 失败自动降级隔离 · 术后随访 / 竞品情报等场景即插即用</a:t>
            </a:r>
          </a:p>
        </p:txBody>
      </p:sp>
      <p:sp>
        <p:nvSpPr>
          <p:cNvPr id="112" name="Oval 111"/>
          <p:cNvSpPr/>
          <p:nvPr/>
        </p:nvSpPr>
        <p:spPr>
          <a:xfrm>
            <a:off x="365760" y="5888736"/>
            <a:ext cx="82296" cy="82296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93776" y="584301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Shell（平台团队）</a:t>
            </a:r>
          </a:p>
        </p:txBody>
      </p:sp>
      <p:sp>
        <p:nvSpPr>
          <p:cNvPr id="114" name="Oval 113"/>
          <p:cNvSpPr/>
          <p:nvPr/>
        </p:nvSpPr>
        <p:spPr>
          <a:xfrm>
            <a:off x="2121408" y="588873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49424" y="584301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远程模块 / 插件</a:t>
            </a:r>
          </a:p>
        </p:txBody>
      </p:sp>
      <p:sp>
        <p:nvSpPr>
          <p:cNvPr id="116" name="Oval 115"/>
          <p:cNvSpPr/>
          <p:nvPr/>
        </p:nvSpPr>
        <p:spPr>
          <a:xfrm>
            <a:off x="3694176" y="5888736"/>
            <a:ext cx="82296" cy="822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822191" y="5843016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发布链路</a:t>
            </a:r>
          </a:p>
        </p:txBody>
      </p:sp>
      <p:sp>
        <p:nvSpPr>
          <p:cNvPr id="118" name="Oval 117"/>
          <p:cNvSpPr/>
          <p:nvPr/>
        </p:nvSpPr>
        <p:spPr>
          <a:xfrm>
            <a:off x="4809744" y="5888736"/>
            <a:ext cx="82296" cy="822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937759" y="58430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契约 / 安全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01168" y="6089904"/>
            <a:ext cx="1178661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4748B"/>
                </a:solidFill>
                <a:latin typeface="Segoe UI"/>
                <a:ea typeface="Microsoft YaHei"/>
              </a:rPr>
              <a:t>治理防腐化：shared 白名单 ＋ manifest 兼容性 CI 门禁 · 契约测试 · 季度架构体检（依赖漂移 / 跨模块引用扫描）｜ 目标：团队自治 · 互不阻塞 · 统一体验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One-Abbott 共享应用平台 · 技术架构图集（复用与微前端）</dc:title>
  <dc:subject/>
  <dc:creator>One-Abbott Platform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