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总体技术架构 · Capability First —— Build Once, Reuse Everywhere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复用三形态：API · 事件 · 微前端模块
多租户：ADC / EPD / MD / APOC → 平台租户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168" y="566928"/>
            <a:ext cx="11786616" cy="713232"/>
          </a:xfrm>
          <a:prstGeom prst="roundRect">
            <a:avLst>
              <a:gd name="adj" fmla="val 10256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30936"/>
            <a:ext cx="420624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47857"/>
                </a:solidFill>
                <a:latin typeface="Segoe UI"/>
                <a:ea typeface="Microsoft YaHei"/>
              </a:rPr>
              <a:t>01 渠道层 · 同一能力 · 多渠道触达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841248"/>
            <a:ext cx="2212848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3192" y="841248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F172A"/>
                </a:solidFill>
                <a:latin typeface="Segoe UI"/>
                <a:ea typeface="Microsoft YaHei"/>
              </a:rPr>
              <a:t>微信公众号 · H5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内容 / 会议 / 积分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51760" y="841248"/>
            <a:ext cx="2212848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79191" y="841248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F172A"/>
                </a:solidFill>
                <a:latin typeface="Segoe UI"/>
                <a:ea typeface="Microsoft YaHei"/>
              </a:rPr>
              <a:t>微信小程序 · Taro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内容 / 签到 / AI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60" y="841248"/>
            <a:ext cx="2212848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65192" y="841248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F172A"/>
                </a:solidFill>
                <a:latin typeface="Segoe UI"/>
                <a:ea typeface="Microsoft YaHei"/>
              </a:rPr>
              <a:t>企业微信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侧边栏 · 拜访 / C360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23760" y="841248"/>
            <a:ext cx="2212848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51192" y="841248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F172A"/>
                </a:solidFill>
                <a:latin typeface="Segoe UI"/>
                <a:ea typeface="Microsoft YaHei"/>
              </a:rPr>
              <a:t>App · RN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离线拜访 / 工单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9760" y="841248"/>
            <a:ext cx="2212848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37192" y="841248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F172A"/>
                </a:solidFill>
                <a:latin typeface="Segoe UI"/>
                <a:ea typeface="Microsoft YaHei"/>
              </a:rPr>
              <a:t>Portal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运营后台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840480" y="1280160"/>
            <a:ext cx="0" cy="91440"/>
          </a:xfrm>
          <a:prstGeom prst="line">
            <a:avLst/>
          </a:prstGeom>
          <a:ln w="22860">
            <a:solidFill>
              <a:srgbClr val="059669"/>
            </a:solidFill>
            <a:tailEnd type="triangle" w="med" len="med"/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8046720" y="1280160"/>
            <a:ext cx="0" cy="91440"/>
          </a:xfrm>
          <a:prstGeom prst="line">
            <a:avLst/>
          </a:prstGeom>
          <a:ln w="2286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9" name="TextBox 18"/>
          <p:cNvSpPr txBox="1"/>
          <p:nvPr/>
        </p:nvSpPr>
        <p:spPr>
          <a:xfrm>
            <a:off x="3931920" y="1275588"/>
            <a:ext cx="109728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59669"/>
                </a:solidFill>
                <a:latin typeface="Segoe UI"/>
                <a:ea typeface="Microsoft YaHei"/>
              </a:rPr>
              <a:t>HTTPS · SSO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1168" y="1371600"/>
            <a:ext cx="11786616" cy="457200"/>
          </a:xfrm>
          <a:prstGeom prst="roundRect">
            <a:avLst>
              <a:gd name="adj" fmla="val 14000"/>
            </a:avLst>
          </a:prstGeom>
          <a:solidFill>
            <a:srgbClr val="F8FAFC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9184" y="1472184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475569"/>
                </a:solidFill>
                <a:latin typeface="Segoe UI"/>
                <a:ea typeface="Microsoft YaHei"/>
              </a:rPr>
              <a:t>02 接入边缘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89888" y="1472184"/>
            <a:ext cx="1554480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17320" y="1472184"/>
            <a:ext cx="1499616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CDN ＋ WAF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017520" y="1472184"/>
            <a:ext cx="2468880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44951" y="1472184"/>
            <a:ext cx="2414016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1E40AF"/>
                </a:solidFill>
                <a:latin typeface="Segoe UI"/>
                <a:ea typeface="Microsoft YaHei"/>
              </a:rPr>
              <a:t>外部 APIM · 公网 API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559552" y="1472184"/>
            <a:ext cx="2651760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1472184"/>
            <a:ext cx="2596896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1E40AF"/>
                </a:solidFill>
                <a:latin typeface="Segoe UI"/>
                <a:ea typeface="Microsoft YaHei"/>
              </a:rPr>
              <a:t>Entra ID · 内部 SSO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84464" y="1472184"/>
            <a:ext cx="3474720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11896" y="1472184"/>
            <a:ext cx="3419856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1E40AF"/>
                </a:solidFill>
                <a:latin typeface="Segoe UI"/>
                <a:ea typeface="Microsoft YaHei"/>
              </a:rPr>
              <a:t>identity-service 微信 / 验证码 → OneID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840480" y="1828800"/>
            <a:ext cx="0" cy="9144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8046720" y="1828800"/>
            <a:ext cx="0" cy="9144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2" name="Rounded Rectangle 31"/>
          <p:cNvSpPr/>
          <p:nvPr/>
        </p:nvSpPr>
        <p:spPr>
          <a:xfrm>
            <a:off x="201168" y="1920240"/>
            <a:ext cx="11786616" cy="530352"/>
          </a:xfrm>
          <a:prstGeom prst="roundRect">
            <a:avLst>
              <a:gd name="adj" fmla="val 13793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1984248"/>
            <a:ext cx="420624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E7490"/>
                </a:solidFill>
                <a:latin typeface="Segoe UI"/>
                <a:ea typeface="Microsoft YaHei"/>
              </a:rPr>
              <a:t>03 BFF 聚合层 · 只做聚合裁剪 · 不重复实现业务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2157984"/>
            <a:ext cx="2761488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397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3192" y="2157984"/>
            <a:ext cx="2706624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hcp-bff · 小程序 / H5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18688" y="2157984"/>
            <a:ext cx="2761488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397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46120" y="2157984"/>
            <a:ext cx="2706624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wework-bff · 企微侧边栏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71616" y="2157984"/>
            <a:ext cx="2761488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397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99048" y="2157984"/>
            <a:ext cx="2706624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app-bff · 离线同步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24544" y="2157984"/>
            <a:ext cx="2761488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397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51976" y="2157984"/>
            <a:ext cx="2706624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portal-bff · 运营门户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840480" y="2450592"/>
            <a:ext cx="0" cy="9144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cxnSp>
        <p:nvCxnSpPr>
          <p:cNvPr id="43" name="Connector 42"/>
          <p:cNvCxnSpPr/>
          <p:nvPr/>
        </p:nvCxnSpPr>
        <p:spPr>
          <a:xfrm>
            <a:off x="8046720" y="2450592"/>
            <a:ext cx="0" cy="9144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44" name="TextBox 43"/>
          <p:cNvSpPr txBox="1"/>
          <p:nvPr/>
        </p:nvSpPr>
        <p:spPr>
          <a:xfrm>
            <a:off x="8138160" y="2446020"/>
            <a:ext cx="91440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891B2"/>
                </a:solidFill>
                <a:latin typeface="Segoe UI"/>
                <a:ea typeface="Microsoft YaHei"/>
              </a:rPr>
              <a:t>聚合调用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01168" y="2542032"/>
            <a:ext cx="11786616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2606040"/>
            <a:ext cx="466344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34155"/>
                </a:solidFill>
                <a:latin typeface="Segoe UI"/>
                <a:ea typeface="Microsoft YaHei"/>
              </a:rPr>
              <a:t>04 能力层 · Capability Hub —— 一次建设（Build Once）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84464" y="2615184"/>
            <a:ext cx="361188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Microsoft YaHei"/>
              </a:rPr>
              <a:t>一 Hub 一限界上下文 · Database-per-Service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29184" y="2724912"/>
            <a:ext cx="274320" cy="1280160"/>
          </a:xfrm>
          <a:prstGeom prst="roundRect">
            <a:avLst>
              <a:gd name="adj" fmla="val 16666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29184" y="2724912"/>
            <a:ext cx="274320" cy="1280160"/>
          </a:xfrm>
          <a:prstGeom prst="rect">
            <a:avLst/>
          </a:prstGeom>
          <a:noFill/>
        </p:spPr>
        <p:txBody>
          <a:bodyPr wrap="square" lIns="0" rIns="0" tIns="0" bIns="0" anchor="ctr" vert="eaVer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1E40AF"/>
                </a:solidFill>
                <a:latin typeface="Segoe UI"/>
                <a:ea typeface="Microsoft YaHei"/>
              </a:rPr>
              <a:t>内部 APIM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03504" y="3026664"/>
            <a:ext cx="54864" cy="0"/>
          </a:xfrm>
          <a:prstGeom prst="line">
            <a:avLst/>
          </a:prstGeom>
          <a:ln w="1651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51" name="Connector 50"/>
          <p:cNvCxnSpPr/>
          <p:nvPr/>
        </p:nvCxnSpPr>
        <p:spPr>
          <a:xfrm>
            <a:off x="603504" y="3703320"/>
            <a:ext cx="54864" cy="0"/>
          </a:xfrm>
          <a:prstGeom prst="line">
            <a:avLst/>
          </a:prstGeom>
          <a:ln w="1651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52" name="Rounded Rectangle 51"/>
          <p:cNvSpPr/>
          <p:nvPr/>
        </p:nvSpPr>
        <p:spPr>
          <a:xfrm>
            <a:off x="676656" y="2724912"/>
            <a:ext cx="2670048" cy="603504"/>
          </a:xfrm>
          <a:prstGeom prst="roundRect">
            <a:avLst>
              <a:gd name="adj" fmla="val 7575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22376" y="2766060"/>
            <a:ext cx="25786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Content Hub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2376" y="2930652"/>
            <a:ext cx="2578608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内容 · 学术 · DAM · 搜索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2376" y="3108960"/>
            <a:ext cx="2578608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1E40AF"/>
                </a:solidFill>
                <a:latin typeface="Segoe UI"/>
                <a:ea typeface="Microsoft YaHei"/>
              </a:rPr>
              <a:t>复用：API · 事件 · MF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438144" y="2724912"/>
            <a:ext cx="2670048" cy="603504"/>
          </a:xfrm>
          <a:prstGeom prst="roundRect">
            <a:avLst>
              <a:gd name="adj" fmla="val 7575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483863" y="2766060"/>
            <a:ext cx="25786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Event Hub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483863" y="2930652"/>
            <a:ext cx="2578608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会议 · 报名签到 · 积分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483863" y="3108960"/>
            <a:ext cx="2578608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1E40AF"/>
                </a:solidFill>
                <a:latin typeface="Segoe UI"/>
                <a:ea typeface="Microsoft YaHei"/>
              </a:rPr>
              <a:t>复用：API · 事件 · MF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199632" y="2724912"/>
            <a:ext cx="2670048" cy="603504"/>
          </a:xfrm>
          <a:prstGeom prst="roundRect">
            <a:avLst>
              <a:gd name="adj" fmla="val 7575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245352" y="2766060"/>
            <a:ext cx="25786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Customer Hub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45352" y="2930652"/>
            <a:ext cx="2578608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HCP / HCO · OneID · Consent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45352" y="3108960"/>
            <a:ext cx="2578608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1E40AF"/>
                </a:solidFill>
                <a:latin typeface="Segoe UI"/>
                <a:ea typeface="Microsoft YaHei"/>
              </a:rPr>
              <a:t>复用：API · 事件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961120" y="2724912"/>
            <a:ext cx="2670048" cy="603504"/>
          </a:xfrm>
          <a:prstGeom prst="roundRect">
            <a:avLst>
              <a:gd name="adj" fmla="val 7575"/>
            </a:avLst>
          </a:prstGeom>
          <a:solidFill>
            <a:srgbClr val="FFFBEB"/>
          </a:solidFill>
          <a:ln w="15240">
            <a:solidFill>
              <a:srgbClr val="FDE68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006840" y="2766060"/>
            <a:ext cx="25786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Sales Hub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06840" y="2930652"/>
            <a:ext cx="2578608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拜访 · 打卡 · 离线同步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006840" y="3108960"/>
            <a:ext cx="2578608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1E40AF"/>
                </a:solidFill>
                <a:latin typeface="Segoe UI"/>
                <a:ea typeface="Microsoft YaHei"/>
              </a:rPr>
              <a:t>复用：API · 事件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76656" y="3401568"/>
            <a:ext cx="3611880" cy="603504"/>
          </a:xfrm>
          <a:prstGeom prst="roundRect">
            <a:avLst>
              <a:gd name="adj" fmla="val 7575"/>
            </a:avLst>
          </a:prstGeom>
          <a:solidFill>
            <a:srgbClr val="F6F8FA"/>
          </a:solidFill>
          <a:ln w="15240">
            <a:solidFill>
              <a:srgbClr val="CBD5E1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22376" y="3442716"/>
            <a:ext cx="352044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Service Hub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2376" y="3607308"/>
            <a:ext cx="352044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工单 · SLA · 备件 · IoT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" y="3785615"/>
            <a:ext cx="352044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1E40AF"/>
                </a:solidFill>
                <a:latin typeface="Segoe UI"/>
                <a:ea typeface="Microsoft YaHei"/>
              </a:rPr>
              <a:t>复用：API · 事件 · MF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379976" y="3401568"/>
            <a:ext cx="3611880" cy="603504"/>
          </a:xfrm>
          <a:prstGeom prst="roundRect">
            <a:avLst>
              <a:gd name="adj" fmla="val 7575"/>
            </a:avLst>
          </a:prstGeom>
          <a:solidFill>
            <a:srgbClr val="FDF2F8"/>
          </a:solidFill>
          <a:ln w="15240">
            <a:solidFill>
              <a:srgbClr val="F9A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425696" y="3442716"/>
            <a:ext cx="352044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Plugin Hub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425696" y="3607308"/>
            <a:ext cx="352044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插件 API · 租户级启用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425696" y="3785615"/>
            <a:ext cx="352044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1E40AF"/>
                </a:solidFill>
                <a:latin typeface="Segoe UI"/>
                <a:ea typeface="Microsoft YaHei"/>
              </a:rPr>
              <a:t>复用：API · 事件 · MF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083296" y="3401568"/>
            <a:ext cx="3611880" cy="603504"/>
          </a:xfrm>
          <a:prstGeom prst="roundRect">
            <a:avLst>
              <a:gd name="adj" fmla="val 7575"/>
            </a:avLst>
          </a:prstGeom>
          <a:solidFill>
            <a:srgbClr val="FFF7ED"/>
          </a:solidFill>
          <a:ln w="15240">
            <a:solidFill>
              <a:srgbClr val="FED7A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129016" y="3442716"/>
            <a:ext cx="352044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通用服务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29016" y="3607308"/>
            <a:ext cx="352044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身份 · 通知 · 工作流 · 规则 · 审计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129016" y="3785615"/>
            <a:ext cx="352044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1E40AF"/>
                </a:solidFill>
                <a:latin typeface="Segoe UI"/>
                <a:ea typeface="Microsoft YaHei"/>
              </a:rPr>
              <a:t>所有 Hub 共用的技术能力 · API / SDK 复用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041648"/>
            <a:ext cx="114300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92400E"/>
                </a:solidFill>
                <a:latin typeface="Segoe UI"/>
                <a:ea typeface="Microsoft YaHei"/>
              </a:rPr>
              <a:t>消费三形态：① API 复用（BFF / 应用 → 内部 APIM · OpenAPI 契约 · 版本并存）　② 事件复用（订阅领域事件 · 解耦集成）　③ 模块复用（MF 远程模块多端挂载 → 详见下页）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840480" y="4261104"/>
            <a:ext cx="0" cy="91440"/>
          </a:xfrm>
          <a:prstGeom prst="line">
            <a:avLst/>
          </a:prstGeom>
          <a:ln w="22860">
            <a:solidFill>
              <a:srgbClr val="D97706"/>
            </a:solidFill>
            <a:tailEnd type="triangle" w="med" len="med"/>
          </a:ln>
          <a:effectLst/>
        </p:spPr>
      </p:cxnSp>
      <p:cxnSp>
        <p:nvCxnSpPr>
          <p:cNvPr id="82" name="Connector 81"/>
          <p:cNvCxnSpPr/>
          <p:nvPr/>
        </p:nvCxnSpPr>
        <p:spPr>
          <a:xfrm>
            <a:off x="8046720" y="4261104"/>
            <a:ext cx="0" cy="91440"/>
          </a:xfrm>
          <a:prstGeom prst="line">
            <a:avLst/>
          </a:prstGeom>
          <a:ln w="2286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83" name="TextBox 82"/>
          <p:cNvSpPr txBox="1"/>
          <p:nvPr/>
        </p:nvSpPr>
        <p:spPr>
          <a:xfrm>
            <a:off x="3931920" y="4256532"/>
            <a:ext cx="109728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D97706"/>
                </a:solidFill>
                <a:latin typeface="Segoe UI"/>
                <a:ea typeface="Microsoft YaHei"/>
              </a:rPr>
              <a:t>事件 / CDC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201168" y="4352544"/>
            <a:ext cx="11786616" cy="420624"/>
          </a:xfrm>
          <a:prstGeom prst="roundRect">
            <a:avLst>
              <a:gd name="adj" fmla="val 15217"/>
            </a:avLst>
          </a:prstGeom>
          <a:solidFill>
            <a:srgbClr val="FFF7ED"/>
          </a:solidFill>
          <a:ln w="1524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329184" y="4434840"/>
            <a:ext cx="859536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524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56616" y="4434840"/>
            <a:ext cx="804671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92400E"/>
                </a:solidFill>
                <a:latin typeface="Segoe UI"/>
                <a:ea typeface="Microsoft YaHei"/>
              </a:rPr>
              <a:t>05 事件骨干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261872" y="4434840"/>
            <a:ext cx="5120640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397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289304" y="4434840"/>
            <a:ext cx="5065776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0F172A"/>
                </a:solidFill>
                <a:latin typeface="Segoe UI"/>
                <a:ea typeface="Microsoft YaHei"/>
              </a:rPr>
              <a:t>Service Bus · 领域事件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CloudEvents · Outbox · 幂等 / DLQ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455664" y="4434840"/>
            <a:ext cx="5120640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397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483096" y="4434840"/>
            <a:ext cx="5065776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0F172A"/>
                </a:solidFill>
                <a:latin typeface="Segoe UI"/>
                <a:ea typeface="Microsoft YaHei"/>
              </a:rPr>
              <a:t>Event Hub · 行为流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埋点 → 实时标签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3840480" y="4773168"/>
            <a:ext cx="0" cy="91440"/>
          </a:xfrm>
          <a:prstGeom prst="line">
            <a:avLst/>
          </a:prstGeom>
          <a:ln w="2286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92" name="Connector 91"/>
          <p:cNvCxnSpPr/>
          <p:nvPr/>
        </p:nvCxnSpPr>
        <p:spPr>
          <a:xfrm>
            <a:off x="8046720" y="4773168"/>
            <a:ext cx="0" cy="91440"/>
          </a:xfrm>
          <a:prstGeom prst="line">
            <a:avLst/>
          </a:prstGeom>
          <a:ln w="2286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93" name="Rounded Rectangle 92"/>
          <p:cNvSpPr/>
          <p:nvPr/>
        </p:nvSpPr>
        <p:spPr>
          <a:xfrm>
            <a:off x="201168" y="4864608"/>
            <a:ext cx="11786616" cy="841248"/>
          </a:xfrm>
          <a:prstGeom prst="roundRect">
            <a:avLst>
              <a:gd name="adj" fmla="val 8695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65760" y="4928616"/>
            <a:ext cx="54864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D4ED8"/>
                </a:solidFill>
                <a:latin typeface="Segoe UI"/>
                <a:ea typeface="Microsoft YaHei"/>
              </a:rPr>
              <a:t>06 数据与智能底座 · Data / AI / Cloud —— 数据与 AI 同样只建一次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365760" y="5120640"/>
            <a:ext cx="3675887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93192" y="5120640"/>
            <a:ext cx="3621023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F172A"/>
                </a:solidFill>
                <a:latin typeface="Segoe UI"/>
                <a:ea typeface="Microsoft YaHei"/>
              </a:rPr>
              <a:t>HCP Pool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OneID · Consent · C360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133088" y="5120640"/>
            <a:ext cx="3675887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160520" y="5120640"/>
            <a:ext cx="3621023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F172A"/>
                </a:solidFill>
                <a:latin typeface="Segoe UI"/>
                <a:ea typeface="Microsoft YaHei"/>
              </a:rPr>
              <a:t>AI 平台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模型网关 · RAG · Copilot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7900416" y="5120640"/>
            <a:ext cx="3675887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927848" y="5120640"/>
            <a:ext cx="3621023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F172A"/>
                </a:solidFill>
                <a:latin typeface="Segoe UI"/>
                <a:ea typeface="Microsoft YaHei"/>
              </a:rPr>
              <a:t>Landing Zone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AKS · GitOps · OTel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201168" y="5797296"/>
            <a:ext cx="11786616" cy="402336"/>
          </a:xfrm>
          <a:prstGeom prst="roundRect">
            <a:avLst>
              <a:gd name="adj" fmla="val 13636"/>
            </a:avLst>
          </a:prstGeom>
          <a:solidFill>
            <a:srgbClr val="EFF6FF"/>
          </a:solidFill>
          <a:ln w="1397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29184" y="5797296"/>
            <a:ext cx="1371600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1D4ED8"/>
                </a:solidFill>
                <a:latin typeface="Segoe UI"/>
                <a:ea typeface="Microsoft YaHei"/>
              </a:rPr>
              <a:t>租户级复用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1792224" y="5870448"/>
            <a:ext cx="2395728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819656" y="5870448"/>
            <a:ext cx="2340864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tid 全链路 · SQL 行级安全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4279392" y="5870448"/>
            <a:ext cx="2395728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4306824" y="5870448"/>
            <a:ext cx="2340864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feature flag 按租户启用能力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6766560" y="5870448"/>
            <a:ext cx="2395728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793992" y="5870448"/>
            <a:ext cx="2340864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APIM 配额 / 限流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9253728" y="5870448"/>
            <a:ext cx="2395728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9281160" y="5870448"/>
            <a:ext cx="2340864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成本按 tid 计量分摊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01168" y="6327648"/>
            <a:ext cx="11786616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复用成效目标：12 套重复建设 → 1 套平台能力 ｜ 新渠道 / 新应用接入周期减半（只建 BFF 与视图）｜ 新场景 = 组合已有能力 ｜ 分层对应 archi.md：Experience → Application → Capability → Data → AI → Cloud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微前端架构设计 · 复用与独立交付（Module Federation）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React 18 · TS 5 · Rspack / Vite · Taro 小程序
独立开发 · 独立部署 · 共享治理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168" y="566928"/>
            <a:ext cx="11786616" cy="1956816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9184" y="640080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Microsoft YaHei"/>
              </a:rPr>
              <a:t>① 分层设计 · 四层结构（谁负责什么）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" y="859536"/>
            <a:ext cx="1243584" cy="402336"/>
          </a:xfrm>
          <a:prstGeom prst="roundRect">
            <a:avLst>
              <a:gd name="adj" fmla="val 11363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" y="859536"/>
            <a:ext cx="1188720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0E7490"/>
                </a:solidFill>
                <a:latin typeface="Segoe UI"/>
                <a:ea typeface="Microsoft YaHei"/>
              </a:rPr>
              <a:t>Shell · 宿主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平台团队统一维护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27632" y="859536"/>
            <a:ext cx="1627632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5064" y="859536"/>
            <a:ext cx="1572768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路由 / 布局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RBAC 菜单下发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28416" y="859536"/>
            <a:ext cx="1627632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55848" y="859536"/>
            <a:ext cx="1572768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SSO 会话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全局权限 SDK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859536"/>
            <a:ext cx="1627632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56632" y="859536"/>
            <a:ext cx="1572768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Design Tokens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主题 / 暗色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29984" y="859536"/>
            <a:ext cx="1627632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57416" y="859536"/>
            <a:ext cx="1572768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事件总线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mitt 跨模块通信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30768" y="859536"/>
            <a:ext cx="1627632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58200" y="859536"/>
            <a:ext cx="1572768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MF 注册表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manifest 版本管理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131552" y="859536"/>
            <a:ext cx="1627632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58984" y="859536"/>
            <a:ext cx="1572768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错误兜底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失败降级占位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126480" y="1261872"/>
            <a:ext cx="0" cy="109728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22" name="TextBox 21"/>
          <p:cNvSpPr txBox="1"/>
          <p:nvPr/>
        </p:nvSpPr>
        <p:spPr>
          <a:xfrm>
            <a:off x="6236208" y="1266444"/>
            <a:ext cx="219456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891B2"/>
                </a:solidFill>
                <a:latin typeface="Segoe UI"/>
                <a:ea typeface="Microsoft YaHei"/>
              </a:rPr>
              <a:t>运行时远程加载（不是构建时打包）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" y="1371600"/>
            <a:ext cx="1243584" cy="475488"/>
          </a:xfrm>
          <a:prstGeom prst="roundRect">
            <a:avLst>
              <a:gd name="adj" fmla="val 9615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6616" y="1371600"/>
            <a:ext cx="118872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6D28D9"/>
                </a:solidFill>
                <a:latin typeface="Segoe UI"/>
                <a:ea typeface="Microsoft YaHei"/>
              </a:rPr>
              <a:t>Remote MF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业务团队自治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627632" y="1371600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55064" y="137160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产品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product-mf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880360" y="1371600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07792" y="137160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内容学术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content-mf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33088" y="1371600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60520" y="137160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会议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event-mf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85816" y="1371600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13248" y="137160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销售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sales-mf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38544" y="1371600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65976" y="137160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售后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service-mf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891272" y="1371600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18704" y="137160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客户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customer-mf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1371600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71432" y="137160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AI 助手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ai-mf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396728" y="1371600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424160" y="137160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插件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plugin-mf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29184" y="1901952"/>
            <a:ext cx="1243584" cy="274320"/>
          </a:xfrm>
          <a:prstGeom prst="roundRect">
            <a:avLst>
              <a:gd name="adj" fmla="val 16666"/>
            </a:avLst>
          </a:prstGeom>
          <a:solidFill>
            <a:srgbClr val="FFFBEB"/>
          </a:solidFill>
          <a:ln w="1524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56616" y="190195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92400E"/>
                </a:solidFill>
                <a:latin typeface="Segoe UI"/>
                <a:ea typeface="Microsoft YaHei"/>
              </a:rPr>
              <a:t>Shared · 单例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627632" y="1901952"/>
            <a:ext cx="10131552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397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55064" y="1901952"/>
            <a:ext cx="10076688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白名单：react ^18 · design-system · auth-sdk · api-client · i18n · telemetry ｜ 白名单外一律独立打包 · singleton 版本协商（防版本地狱）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9184" y="2212848"/>
            <a:ext cx="1243584" cy="237744"/>
          </a:xfrm>
          <a:prstGeom prst="roundRect">
            <a:avLst>
              <a:gd name="adj" fmla="val 19230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56616" y="2212848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47857"/>
                </a:solidFill>
                <a:latin typeface="Segoe UI"/>
                <a:ea typeface="Microsoft YaHei"/>
              </a:rPr>
              <a:t>Contract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627632" y="2212848"/>
            <a:ext cx="10131552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397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655064" y="2212848"/>
            <a:ext cx="10076688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@abbott/contracts：API DTO · 领域事件 · 权限码 —— 前后端同源引用 · CI 兼容性校验 · 破坏性变更即阻断合并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01168" y="2633472"/>
            <a:ext cx="5760720" cy="1408176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29184" y="2706624"/>
            <a:ext cx="53949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② 运行时加载与版本协商（怎么跑起来）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29184" y="2889504"/>
            <a:ext cx="1737360" cy="384048"/>
          </a:xfrm>
          <a:prstGeom prst="roundRect">
            <a:avLst>
              <a:gd name="adj" fmla="val 11904"/>
            </a:avLst>
          </a:prstGeom>
          <a:solidFill>
            <a:srgbClr val="ECFEFF"/>
          </a:solidFill>
          <a:ln w="1397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56616" y="2889504"/>
            <a:ext cx="1682495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① Shell 启动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引导 / 鉴权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2066543" y="3081528"/>
            <a:ext cx="73153" cy="0"/>
          </a:xfrm>
          <a:prstGeom prst="line">
            <a:avLst/>
          </a:prstGeom>
          <a:ln w="1778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54" name="Rounded Rectangle 53"/>
          <p:cNvSpPr/>
          <p:nvPr/>
        </p:nvSpPr>
        <p:spPr>
          <a:xfrm>
            <a:off x="2139696" y="2889504"/>
            <a:ext cx="1737360" cy="384048"/>
          </a:xfrm>
          <a:prstGeom prst="roundRect">
            <a:avLst>
              <a:gd name="adj" fmla="val 11904"/>
            </a:avLst>
          </a:prstGeom>
          <a:solidFill>
            <a:srgbClr val="ECFEFF"/>
          </a:solidFill>
          <a:ln w="1397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167127" y="2889504"/>
            <a:ext cx="1682495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② 拉取 manifest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版本清单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3877056" y="3081528"/>
            <a:ext cx="73152" cy="0"/>
          </a:xfrm>
          <a:prstGeom prst="line">
            <a:avLst/>
          </a:prstGeom>
          <a:ln w="1778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57" name="Rounded Rectangle 56"/>
          <p:cNvSpPr/>
          <p:nvPr/>
        </p:nvSpPr>
        <p:spPr>
          <a:xfrm>
            <a:off x="3950208" y="2889504"/>
            <a:ext cx="1737360" cy="384048"/>
          </a:xfrm>
          <a:prstGeom prst="roundRect">
            <a:avLst>
              <a:gd name="adj" fmla="val 11904"/>
            </a:avLst>
          </a:prstGeom>
          <a:solidFill>
            <a:srgbClr val="ECFEFF"/>
          </a:solidFill>
          <a:ln w="1397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977640" y="2889504"/>
            <a:ext cx="1682495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③ 解析远程入口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CDN URL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29184" y="3364992"/>
            <a:ext cx="1737360" cy="384048"/>
          </a:xfrm>
          <a:prstGeom prst="roundRect">
            <a:avLst>
              <a:gd name="adj" fmla="val 11904"/>
            </a:avLst>
          </a:prstGeom>
          <a:solidFill>
            <a:srgbClr val="ECFEFF"/>
          </a:solidFill>
          <a:ln w="1397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56616" y="3364992"/>
            <a:ext cx="1682495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④ 加载 MF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import remote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2066543" y="3557016"/>
            <a:ext cx="73153" cy="0"/>
          </a:xfrm>
          <a:prstGeom prst="line">
            <a:avLst/>
          </a:prstGeom>
          <a:ln w="1778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62" name="Rounded Rectangle 61"/>
          <p:cNvSpPr/>
          <p:nvPr/>
        </p:nvSpPr>
        <p:spPr>
          <a:xfrm>
            <a:off x="2139696" y="3364992"/>
            <a:ext cx="1737360" cy="384048"/>
          </a:xfrm>
          <a:prstGeom prst="roundRect">
            <a:avLst>
              <a:gd name="adj" fmla="val 11904"/>
            </a:avLst>
          </a:prstGeom>
          <a:solidFill>
            <a:srgbClr val="ECFEFF"/>
          </a:solidFill>
          <a:ln w="1397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167127" y="3364992"/>
            <a:ext cx="1682495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⑤ 版本协商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react singleton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3877056" y="3557016"/>
            <a:ext cx="73152" cy="0"/>
          </a:xfrm>
          <a:prstGeom prst="line">
            <a:avLst/>
          </a:prstGeom>
          <a:ln w="1778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65" name="Rounded Rectangle 64"/>
          <p:cNvSpPr/>
          <p:nvPr/>
        </p:nvSpPr>
        <p:spPr>
          <a:xfrm>
            <a:off x="3950208" y="3364992"/>
            <a:ext cx="1737360" cy="384048"/>
          </a:xfrm>
          <a:prstGeom prst="roundRect">
            <a:avLst>
              <a:gd name="adj" fmla="val 11904"/>
            </a:avLst>
          </a:prstGeom>
          <a:solidFill>
            <a:srgbClr val="ECFEFF"/>
          </a:solidFill>
          <a:ln w="1397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977640" y="3364992"/>
            <a:ext cx="1682495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⑥ 挂载渲染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路由 / 权限校验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29184" y="3840480"/>
            <a:ext cx="550468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E7490"/>
                </a:solidFill>
                <a:latin typeface="Segoe UI"/>
                <a:ea typeface="Microsoft YaHei"/>
              </a:rPr>
              <a:t>失败降级：模块加载失败 → 占位提示不白屏 · 菜单按 RBAC 动态下发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089904" y="2633472"/>
            <a:ext cx="5897880" cy="1408176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217920" y="2706624"/>
            <a:ext cx="54864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③ 跨模块通信与隔离规则（怎么不腐化）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17920" y="2871216"/>
            <a:ext cx="56509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7C3AED"/>
                </a:solidFill>
                <a:latin typeface="Segoe UI"/>
                <a:ea typeface="Microsoft YaHei"/>
              </a:rPr>
              <a:t>事件总线：</a:t>
            </a:r>
            <a:r>
              <a:rPr sz="630" b="0" i="0">
                <a:solidFill>
                  <a:srgbClr val="475569"/>
                </a:solidFill>
                <a:latin typeface="Segoe UI"/>
                <a:ea typeface="Microsoft YaHei"/>
              </a:rPr>
              <a:t>mf:&lt;module&gt;:&lt;event&gt;（例 content.published → 积分刷新 · 通知）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17920" y="3099816"/>
            <a:ext cx="56509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E11D48"/>
                </a:solidFill>
                <a:latin typeface="Segoe UI"/>
                <a:ea typeface="Microsoft YaHei"/>
              </a:rPr>
              <a:t>禁止直连：</a:t>
            </a:r>
            <a:r>
              <a:rPr sz="630" b="0" i="0">
                <a:solidFill>
                  <a:srgbClr val="475569"/>
                </a:solidFill>
                <a:latin typeface="Segoe UI"/>
                <a:ea typeface="Microsoft YaHei"/>
              </a:rPr>
              <a:t>跨 MF 直接 import 一律禁止 · CI 扫描阻断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217920" y="3328416"/>
            <a:ext cx="56509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0078D4"/>
                </a:solidFill>
                <a:latin typeface="Segoe UI"/>
                <a:ea typeface="Microsoft YaHei"/>
              </a:rPr>
              <a:t>样式隔离：</a:t>
            </a:r>
            <a:r>
              <a:rPr sz="630" b="0" i="0">
                <a:solidFill>
                  <a:srgbClr val="475569"/>
                </a:solidFill>
                <a:latin typeface="Segoe UI"/>
                <a:ea typeface="Microsoft YaHei"/>
              </a:rPr>
              <a:t>Design Tokens ＋ 模块级 class 前缀 · 全局样式仅 Shell 注入一次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217920" y="3557016"/>
            <a:ext cx="56509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0891B2"/>
                </a:solidFill>
                <a:latin typeface="Segoe UI"/>
                <a:ea typeface="Microsoft YaHei"/>
              </a:rPr>
              <a:t>跳转协议：</a:t>
            </a:r>
            <a:r>
              <a:rPr sz="630" b="0" i="0">
                <a:solidFill>
                  <a:srgbClr val="475569"/>
                </a:solidFill>
                <a:latin typeface="Segoe UI"/>
                <a:ea typeface="Microsoft YaHei"/>
              </a:rPr>
              <a:t>跨模块跳转走 Shell 统一路由 /mfe/&lt;module&gt;/…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17920" y="3785616"/>
            <a:ext cx="56509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059669"/>
                </a:solidFill>
                <a:latin typeface="Segoe UI"/>
                <a:ea typeface="Microsoft YaHei"/>
              </a:rPr>
              <a:t>全局一致：</a:t>
            </a:r>
            <a:r>
              <a:rPr sz="630" b="0" i="0">
                <a:solidFill>
                  <a:srgbClr val="475569"/>
                </a:solidFill>
                <a:latin typeface="Segoe UI"/>
                <a:ea typeface="Microsoft YaHei"/>
              </a:rPr>
              <a:t>Loading / 错误 / 主题 / i18n 由 Shell 统一，保证体验不割裂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01168" y="4133087"/>
            <a:ext cx="5760720" cy="1591056"/>
          </a:xfrm>
          <a:prstGeom prst="roundRect">
            <a:avLst>
              <a:gd name="adj" fmla="val 4022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29184" y="4206240"/>
            <a:ext cx="54864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④ 复用：一次开发 · 多端挂载（以 content-mf 为例）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29184" y="4407408"/>
            <a:ext cx="2157984" cy="658368"/>
          </a:xfrm>
          <a:prstGeom prst="roundRect">
            <a:avLst>
              <a:gd name="adj" fmla="val 8333"/>
            </a:avLst>
          </a:prstGeom>
          <a:solidFill>
            <a:srgbClr val="F5F3FF"/>
          </a:solidFill>
          <a:ln w="16510">
            <a:solidFill>
              <a:srgbClr val="DDD6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02336" y="4407408"/>
            <a:ext cx="2011680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content-mf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内容学术模块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含 core 业务 / 状态 / 契约层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3127248" y="4370832"/>
            <a:ext cx="2724912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154679" y="4370832"/>
            <a:ext cx="267004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Portal Shell　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运营后台 · 全功能</a:t>
            </a:r>
          </a:p>
        </p:txBody>
      </p:sp>
      <p:cxnSp>
        <p:nvCxnSpPr>
          <p:cNvPr id="81" name="Connector 80"/>
          <p:cNvCxnSpPr/>
          <p:nvPr/>
        </p:nvCxnSpPr>
        <p:spPr>
          <a:xfrm flipV="1">
            <a:off x="2487168" y="4498848"/>
            <a:ext cx="329184" cy="237744"/>
          </a:xfrm>
          <a:prstGeom prst="line">
            <a:avLst/>
          </a:prstGeom>
          <a:ln w="16510">
            <a:solidFill>
              <a:srgbClr val="7C3AED"/>
            </a:solidFill>
          </a:ln>
          <a:effectLst/>
        </p:spPr>
      </p:cxnSp>
      <p:cxnSp>
        <p:nvCxnSpPr>
          <p:cNvPr id="82" name="Connector 81"/>
          <p:cNvCxnSpPr/>
          <p:nvPr/>
        </p:nvCxnSpPr>
        <p:spPr>
          <a:xfrm>
            <a:off x="2816352" y="4498848"/>
            <a:ext cx="292608" cy="0"/>
          </a:xfrm>
          <a:prstGeom prst="line">
            <a:avLst/>
          </a:prstGeom>
          <a:ln w="1651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83" name="Rounded Rectangle 82"/>
          <p:cNvSpPr/>
          <p:nvPr/>
        </p:nvSpPr>
        <p:spPr>
          <a:xfrm>
            <a:off x="3127248" y="4681728"/>
            <a:ext cx="2724912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154679" y="4681728"/>
            <a:ext cx="267004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企微 / 公众号 H5　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销售侧 · 嵌入侧边栏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2487168" y="4736592"/>
            <a:ext cx="329184" cy="73152"/>
          </a:xfrm>
          <a:prstGeom prst="line">
            <a:avLst/>
          </a:prstGeom>
          <a:ln w="16510">
            <a:solidFill>
              <a:srgbClr val="7C3AED"/>
            </a:solidFill>
          </a:ln>
          <a:effectLst/>
        </p:spPr>
      </p:cxnSp>
      <p:cxnSp>
        <p:nvCxnSpPr>
          <p:cNvPr id="86" name="Connector 85"/>
          <p:cNvCxnSpPr/>
          <p:nvPr/>
        </p:nvCxnSpPr>
        <p:spPr>
          <a:xfrm>
            <a:off x="2816352" y="4809744"/>
            <a:ext cx="292608" cy="0"/>
          </a:xfrm>
          <a:prstGeom prst="line">
            <a:avLst/>
          </a:prstGeom>
          <a:ln w="1651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87" name="Rounded Rectangle 86"/>
          <p:cNvSpPr/>
          <p:nvPr/>
        </p:nvSpPr>
        <p:spPr>
          <a:xfrm>
            <a:off x="3127248" y="4992624"/>
            <a:ext cx="2724912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154679" y="4992624"/>
            <a:ext cx="267004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小程序 · Taro　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HCP 侧 · 转译复用 core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2487168" y="4736592"/>
            <a:ext cx="329184" cy="384048"/>
          </a:xfrm>
          <a:prstGeom prst="line">
            <a:avLst/>
          </a:prstGeom>
          <a:ln w="16510">
            <a:solidFill>
              <a:srgbClr val="7C3AED"/>
            </a:solidFill>
          </a:ln>
          <a:effectLst/>
        </p:spPr>
      </p:cxnSp>
      <p:cxnSp>
        <p:nvCxnSpPr>
          <p:cNvPr id="90" name="Connector 89"/>
          <p:cNvCxnSpPr/>
          <p:nvPr/>
        </p:nvCxnSpPr>
        <p:spPr>
          <a:xfrm>
            <a:off x="2816352" y="5120640"/>
            <a:ext cx="292608" cy="0"/>
          </a:xfrm>
          <a:prstGeom prst="line">
            <a:avLst/>
          </a:prstGeom>
          <a:ln w="1651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91" name="Rounded Rectangle 90"/>
          <p:cNvSpPr/>
          <p:nvPr/>
        </p:nvSpPr>
        <p:spPr>
          <a:xfrm>
            <a:off x="3127248" y="5303520"/>
            <a:ext cx="2724912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154679" y="5303520"/>
            <a:ext cx="267004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App · React Native　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工程师侧 · 复用 core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2487168" y="4736592"/>
            <a:ext cx="329184" cy="694944"/>
          </a:xfrm>
          <a:prstGeom prst="line">
            <a:avLst/>
          </a:prstGeom>
          <a:ln w="16510">
            <a:solidFill>
              <a:srgbClr val="7C3AED"/>
            </a:solidFill>
          </a:ln>
          <a:effectLst/>
        </p:spPr>
      </p:cxnSp>
      <p:cxnSp>
        <p:nvCxnSpPr>
          <p:cNvPr id="94" name="Connector 93"/>
          <p:cNvCxnSpPr/>
          <p:nvPr/>
        </p:nvCxnSpPr>
        <p:spPr>
          <a:xfrm>
            <a:off x="2816352" y="5431536"/>
            <a:ext cx="292608" cy="0"/>
          </a:xfrm>
          <a:prstGeom prst="line">
            <a:avLst/>
          </a:prstGeom>
          <a:ln w="1651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95" name="TextBox 94"/>
          <p:cNvSpPr txBox="1"/>
          <p:nvPr/>
        </p:nvSpPr>
        <p:spPr>
          <a:xfrm>
            <a:off x="329184" y="5541264"/>
            <a:ext cx="550468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6D28D9"/>
                </a:solidFill>
                <a:latin typeface="Segoe UI"/>
                <a:ea typeface="Microsoft YaHei"/>
              </a:rPr>
              <a:t>Monorepo：core 共享（业务 / 状态 / 契约）· 视图按端适配 —— 新端接入只写视图层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089904" y="4133087"/>
            <a:ext cx="5897880" cy="1591056"/>
          </a:xfrm>
          <a:prstGeom prst="roundRect">
            <a:avLst>
              <a:gd name="adj" fmla="val 4022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217920" y="4206240"/>
            <a:ext cx="54864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⑤ 独立交付与插件扩展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217920" y="4389120"/>
            <a:ext cx="1298448" cy="402336"/>
          </a:xfrm>
          <a:prstGeom prst="roundRect">
            <a:avLst>
              <a:gd name="adj" fmla="val 11363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245352" y="4389120"/>
            <a:ext cx="1243584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① 构建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 i="0">
                <a:solidFill>
                  <a:srgbClr val="64748B"/>
                </a:solidFill>
                <a:latin typeface="Segoe UI"/>
                <a:ea typeface="Microsoft YaHei"/>
              </a:rPr>
              <a:t>CI 产物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7516367" y="4590288"/>
            <a:ext cx="128016" cy="0"/>
          </a:xfrm>
          <a:prstGeom prst="line">
            <a:avLst/>
          </a:prstGeom>
          <a:ln w="1651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01" name="Rounded Rectangle 100"/>
          <p:cNvSpPr/>
          <p:nvPr/>
        </p:nvSpPr>
        <p:spPr>
          <a:xfrm>
            <a:off x="7644383" y="4389120"/>
            <a:ext cx="1298448" cy="402336"/>
          </a:xfrm>
          <a:prstGeom prst="roundRect">
            <a:avLst>
              <a:gd name="adj" fmla="val 11363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671815" y="4389120"/>
            <a:ext cx="1243584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② CDN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 i="0">
                <a:solidFill>
                  <a:srgbClr val="64748B"/>
                </a:solidFill>
                <a:latin typeface="Segoe UI"/>
                <a:ea typeface="Microsoft YaHei"/>
              </a:rPr>
              <a:t>不可变版本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8942832" y="4590288"/>
            <a:ext cx="128016" cy="0"/>
          </a:xfrm>
          <a:prstGeom prst="line">
            <a:avLst/>
          </a:prstGeom>
          <a:ln w="1651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04" name="Rounded Rectangle 103"/>
          <p:cNvSpPr/>
          <p:nvPr/>
        </p:nvSpPr>
        <p:spPr>
          <a:xfrm>
            <a:off x="9070848" y="4389120"/>
            <a:ext cx="1298448" cy="402336"/>
          </a:xfrm>
          <a:prstGeom prst="roundRect">
            <a:avLst>
              <a:gd name="adj" fmla="val 11363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098280" y="4389120"/>
            <a:ext cx="1243584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③ manifest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 i="0">
                <a:solidFill>
                  <a:srgbClr val="64748B"/>
                </a:solidFill>
                <a:latin typeface="Segoe UI"/>
                <a:ea typeface="Microsoft YaHei"/>
              </a:rPr>
              <a:t>PR 审批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10369296" y="4590288"/>
            <a:ext cx="128016" cy="0"/>
          </a:xfrm>
          <a:prstGeom prst="line">
            <a:avLst/>
          </a:prstGeom>
          <a:ln w="1651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07" name="Rounded Rectangle 106"/>
          <p:cNvSpPr/>
          <p:nvPr/>
        </p:nvSpPr>
        <p:spPr>
          <a:xfrm>
            <a:off x="10497312" y="4389120"/>
            <a:ext cx="1298448" cy="402336"/>
          </a:xfrm>
          <a:prstGeom prst="roundRect">
            <a:avLst>
              <a:gd name="adj" fmla="val 11363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524744" y="4389120"/>
            <a:ext cx="1243584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④ 回滚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 i="0">
                <a:solidFill>
                  <a:srgbClr val="64748B"/>
                </a:solidFill>
                <a:latin typeface="Segoe UI"/>
                <a:ea typeface="Microsoft YaHei"/>
              </a:rPr>
              <a:t>分钟级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217920" y="4846320"/>
            <a:ext cx="56509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模块独立流水线互不阻塞 · 回滚 = manifest 指回旧版本 · 质量门禁：Playwright 冒烟 ＋ Shell E2E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217920" y="5029200"/>
            <a:ext cx="5650992" cy="603504"/>
          </a:xfrm>
          <a:prstGeom prst="roundRect">
            <a:avLst>
              <a:gd name="adj" fmla="val 7575"/>
            </a:avLst>
          </a:prstGeom>
          <a:solidFill>
            <a:srgbClr val="FDF2F8"/>
          </a:solidFill>
          <a:ln w="13970">
            <a:solidFill>
              <a:srgbClr val="F9A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327648" y="5029200"/>
            <a:ext cx="5431536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BE185D"/>
                </a:solidFill>
                <a:latin typeface="Segoe UI"/>
                <a:ea typeface="Microsoft YaHei"/>
              </a:rPr>
              <a:t>插件 = 远程 MF ＋ 插件 API（经 APIM · HMAC 签名）＋ manifest 声明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租户级 feature flag 启用 · 失败自动降级隔离 · 术后随访 / 竞品情报等场景即插即用</a:t>
            </a:r>
          </a:p>
        </p:txBody>
      </p:sp>
      <p:sp>
        <p:nvSpPr>
          <p:cNvPr id="112" name="Oval 111"/>
          <p:cNvSpPr/>
          <p:nvPr/>
        </p:nvSpPr>
        <p:spPr>
          <a:xfrm>
            <a:off x="365760" y="5888736"/>
            <a:ext cx="82296" cy="82296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493776" y="5843016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Shell（平台团队）</a:t>
            </a:r>
          </a:p>
        </p:txBody>
      </p:sp>
      <p:sp>
        <p:nvSpPr>
          <p:cNvPr id="114" name="Oval 113"/>
          <p:cNvSpPr/>
          <p:nvPr/>
        </p:nvSpPr>
        <p:spPr>
          <a:xfrm>
            <a:off x="2121408" y="5888736"/>
            <a:ext cx="82296" cy="822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2249424" y="5843016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远程模块 / 插件</a:t>
            </a:r>
          </a:p>
        </p:txBody>
      </p:sp>
      <p:sp>
        <p:nvSpPr>
          <p:cNvPr id="116" name="Oval 115"/>
          <p:cNvSpPr/>
          <p:nvPr/>
        </p:nvSpPr>
        <p:spPr>
          <a:xfrm>
            <a:off x="3694176" y="5888736"/>
            <a:ext cx="82296" cy="8229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822191" y="5843016"/>
            <a:ext cx="64008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发布链路</a:t>
            </a:r>
          </a:p>
        </p:txBody>
      </p:sp>
      <p:sp>
        <p:nvSpPr>
          <p:cNvPr id="118" name="Oval 117"/>
          <p:cNvSpPr/>
          <p:nvPr/>
        </p:nvSpPr>
        <p:spPr>
          <a:xfrm>
            <a:off x="4809744" y="5888736"/>
            <a:ext cx="82296" cy="82296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937759" y="5843016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契约 / 安全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01168" y="6089904"/>
            <a:ext cx="11786616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治理防腐化：shared 白名单 ＋ manifest 兼容性 CI 门禁 · 契约测试 · 季度架构体检（依赖漂移 / 跨模块引用扫描）｜ 目标：团队自治 · 互不阻塞 · 统一体验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One-Abbott Shared Application Platform · 技术架构图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微前端 ＋ 共享能力中心 ＋ HCP Pool
实现一次构建 · 多 BU 复用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168" y="566928"/>
            <a:ext cx="10204704" cy="365760"/>
          </a:xfrm>
          <a:prstGeom prst="roundRect">
            <a:avLst>
              <a:gd name="adj" fmla="val 17500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" y="566928"/>
            <a:ext cx="804671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047857"/>
                </a:solidFill>
                <a:latin typeface="Segoe UI"/>
                <a:ea typeface="Microsoft YaHei"/>
              </a:rPr>
              <a:t>渠道接入层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33856" y="658368"/>
            <a:ext cx="11292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61288" y="658368"/>
            <a:ext cx="1074420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0F172A"/>
                </a:solidFill>
                <a:latin typeface="Segoe UI"/>
                <a:ea typeface="Microsoft YaHei"/>
              </a:rPr>
              <a:t>微信公众号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07031" y="658368"/>
            <a:ext cx="11292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34463" y="658368"/>
            <a:ext cx="1074420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0F172A"/>
                </a:solidFill>
                <a:latin typeface="Segoe UI"/>
                <a:ea typeface="Microsoft YaHei"/>
              </a:rPr>
              <a:t>微信小程序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80206" y="658368"/>
            <a:ext cx="11292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07638" y="658368"/>
            <a:ext cx="1074420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0F172A"/>
                </a:solidFill>
                <a:latin typeface="Segoe UI"/>
                <a:ea typeface="Microsoft YaHei"/>
              </a:rPr>
              <a:t>企业微信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53381" y="658368"/>
            <a:ext cx="11292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0813" y="658368"/>
            <a:ext cx="1074420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0F172A"/>
                </a:solidFill>
                <a:latin typeface="Segoe UI"/>
                <a:ea typeface="Microsoft YaHei"/>
              </a:rPr>
              <a:t>H5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26556" y="658368"/>
            <a:ext cx="11292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3988" y="658368"/>
            <a:ext cx="1074420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0F172A"/>
                </a:solidFill>
                <a:latin typeface="Segoe UI"/>
                <a:ea typeface="Microsoft YaHei"/>
              </a:rPr>
              <a:t>Mobile App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99731" y="658368"/>
            <a:ext cx="11292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27164" y="658368"/>
            <a:ext cx="1074420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0F172A"/>
                </a:solidFill>
                <a:latin typeface="Segoe UI"/>
                <a:ea typeface="Microsoft YaHei"/>
              </a:rPr>
              <a:t>PC Portal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72907" y="658368"/>
            <a:ext cx="11292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00339" y="658368"/>
            <a:ext cx="1074420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0F172A"/>
                </a:solidFill>
                <a:latin typeface="Segoe UI"/>
                <a:ea typeface="Microsoft YaHei"/>
              </a:rPr>
              <a:t>CAM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46082" y="658368"/>
            <a:ext cx="11292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3514" y="658368"/>
            <a:ext cx="1074420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0F172A"/>
                </a:solidFill>
                <a:latin typeface="Segoe UI"/>
                <a:ea typeface="Microsoft YaHei"/>
              </a:rPr>
              <a:t>CRM/其他系统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33856" y="987552"/>
            <a:ext cx="9308592" cy="219456"/>
          </a:xfrm>
          <a:prstGeom prst="roundRect">
            <a:avLst>
              <a:gd name="adj" fmla="val 20833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33856" y="987552"/>
            <a:ext cx="9308592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D4ED8"/>
                </a:solidFill>
                <a:latin typeface="Segoe UI"/>
                <a:ea typeface="Microsoft YaHei"/>
              </a:rPr>
              <a:t>One-Abbott Portal（统一入口）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1168" y="1261872"/>
            <a:ext cx="10204704" cy="457200"/>
          </a:xfrm>
          <a:prstGeom prst="roundRect">
            <a:avLst>
              <a:gd name="adj" fmla="val 14000"/>
            </a:avLst>
          </a:prstGeom>
          <a:solidFill>
            <a:srgbClr val="F8FAFC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56032" y="1261872"/>
            <a:ext cx="804671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475569"/>
                </a:solidFill>
                <a:latin typeface="Segoe UI"/>
                <a:ea typeface="Microsoft YaHei"/>
              </a:rPr>
              <a:t>统一接入层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33856" y="1389888"/>
            <a:ext cx="1522476" cy="27432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397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61288" y="1389888"/>
            <a:ext cx="1467612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OneID/SSO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统一身份认证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702052" y="1389888"/>
            <a:ext cx="1522476" cy="27432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397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29484" y="1389888"/>
            <a:ext cx="1467612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API Gateway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统一 API 网关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70248" y="1389888"/>
            <a:ext cx="1522476" cy="27432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397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97680" y="1389888"/>
            <a:ext cx="1467612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权限中心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RBAC / ABAC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838444" y="1389888"/>
            <a:ext cx="1522476" cy="27432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397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65876" y="1389888"/>
            <a:ext cx="1467612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消息中心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站内信 / 通知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406640" y="1389888"/>
            <a:ext cx="1522476" cy="27432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397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34071" y="1389888"/>
            <a:ext cx="1467612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搜索中心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全局搜索服务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74836" y="1389888"/>
            <a:ext cx="1522476" cy="27432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397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02268" y="1389888"/>
            <a:ext cx="1467612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个性化中心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用户偏好 / 配置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01168" y="1792224"/>
            <a:ext cx="10204704" cy="1408176"/>
          </a:xfrm>
          <a:prstGeom prst="roundRect">
            <a:avLst>
              <a:gd name="adj" fmla="val 4545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56032" y="1792224"/>
            <a:ext cx="804671" cy="14081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0E7490"/>
                </a:solidFill>
                <a:latin typeface="Segoe UI"/>
                <a:ea typeface="Microsoft YaHei"/>
              </a:rPr>
              <a:t>微前端应用层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80" b="0" i="0">
                <a:solidFill>
                  <a:srgbClr val="64748B"/>
                </a:solidFill>
                <a:latin typeface="Segoe UI"/>
                <a:ea typeface="Microsoft YaHei"/>
              </a:rPr>
              <a:t>Micro Frontend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" y="1847088"/>
            <a:ext cx="930859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E7490"/>
                </a:solidFill>
                <a:latin typeface="Segoe UI"/>
                <a:ea typeface="Microsoft YaHei"/>
              </a:rPr>
              <a:t>Micro Frontend（微前端）· 按需组合，灵活装配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33856" y="2011680"/>
            <a:ext cx="1129284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524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0432" y="2043684"/>
            <a:ext cx="1056132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E7490"/>
                </a:solidFill>
                <a:latin typeface="Segoe UI"/>
                <a:ea typeface="Microsoft YaHei"/>
              </a:rPr>
              <a:t>Product MF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70432" y="2171700"/>
            <a:ext cx="105613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产品中心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88720" y="2331720"/>
            <a:ext cx="101955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·产品介绍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88720" y="2473451"/>
            <a:ext cx="101955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·资料下载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88720" y="2615184"/>
            <a:ext cx="101955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·试剂速查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307031" y="2011680"/>
            <a:ext cx="1129284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524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343607" y="2043684"/>
            <a:ext cx="1056132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E7490"/>
                </a:solidFill>
                <a:latin typeface="Segoe UI"/>
                <a:ea typeface="Microsoft YaHei"/>
              </a:rPr>
              <a:t>Content MF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43607" y="2171700"/>
            <a:ext cx="105613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学术中心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61895" y="2331720"/>
            <a:ext cx="101955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·文献库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361895" y="2473451"/>
            <a:ext cx="101955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·学术内容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61895" y="2615184"/>
            <a:ext cx="101955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·培训课程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80206" y="2011680"/>
            <a:ext cx="1129284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524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516782" y="2043684"/>
            <a:ext cx="1056132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E7490"/>
                </a:solidFill>
                <a:latin typeface="Segoe UI"/>
                <a:ea typeface="Microsoft YaHei"/>
              </a:rPr>
              <a:t>Event MF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16782" y="2171700"/>
            <a:ext cx="105613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会议中心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35070" y="2331720"/>
            <a:ext cx="101955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·会议管理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35070" y="2473451"/>
            <a:ext cx="101955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·直播/录播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35070" y="2615184"/>
            <a:ext cx="101955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·报名/签到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653381" y="2011680"/>
            <a:ext cx="1129284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524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689957" y="2043684"/>
            <a:ext cx="1056132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E7490"/>
                </a:solidFill>
                <a:latin typeface="Segoe UI"/>
                <a:ea typeface="Microsoft YaHei"/>
              </a:rPr>
              <a:t>Sales MF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689957" y="2171700"/>
            <a:ext cx="105613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销售中心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708245" y="2331720"/>
            <a:ext cx="101955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·拜访管理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08245" y="2473451"/>
            <a:ext cx="101955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·客户规划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708245" y="2615184"/>
            <a:ext cx="101955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·绩效目标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826556" y="2011680"/>
            <a:ext cx="1129284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524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863132" y="2043684"/>
            <a:ext cx="1056132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E7490"/>
                </a:solidFill>
                <a:latin typeface="Segoe UI"/>
                <a:ea typeface="Microsoft YaHei"/>
              </a:rPr>
              <a:t>Service MF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863132" y="2171700"/>
            <a:ext cx="105613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服务中心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881420" y="2331720"/>
            <a:ext cx="101955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·报修工单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881420" y="2473451"/>
            <a:ext cx="101955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·现场服务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81420" y="2615184"/>
            <a:ext cx="101955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·巡检管理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999731" y="2011680"/>
            <a:ext cx="1129284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524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036307" y="2043684"/>
            <a:ext cx="1056132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E7490"/>
                </a:solidFill>
                <a:latin typeface="Segoe UI"/>
                <a:ea typeface="Microsoft YaHei"/>
              </a:rPr>
              <a:t>HCP MF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036307" y="2171700"/>
            <a:ext cx="105613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客户 360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054595" y="2331720"/>
            <a:ext cx="101955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·HCP360 视图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054595" y="2473451"/>
            <a:ext cx="101955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·互动轨迹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054595" y="2615184"/>
            <a:ext cx="101955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·标签画像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172907" y="2011680"/>
            <a:ext cx="1129284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524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09483" y="2043684"/>
            <a:ext cx="1056132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E7490"/>
                </a:solidFill>
                <a:latin typeface="Segoe UI"/>
                <a:ea typeface="Microsoft YaHei"/>
              </a:rPr>
              <a:t>AI MF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09483" y="2171700"/>
            <a:ext cx="105613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AI 助手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27771" y="2331720"/>
            <a:ext cx="101955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·智能问答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27771" y="2473451"/>
            <a:ext cx="101955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·内容推荐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27771" y="2615184"/>
            <a:ext cx="101955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·运营助手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9346082" y="2011680"/>
            <a:ext cx="1129284" cy="877824"/>
          </a:xfrm>
          <a:prstGeom prst="roundRect">
            <a:avLst>
              <a:gd name="adj" fmla="val 5208"/>
            </a:avLst>
          </a:prstGeom>
          <a:solidFill>
            <a:srgbClr val="FDF2F8"/>
          </a:solidFill>
          <a:ln w="15240">
            <a:solidFill>
              <a:srgbClr val="F9A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82658" y="2043684"/>
            <a:ext cx="1056132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BE185D"/>
                </a:solidFill>
                <a:latin typeface="Segoe UI"/>
                <a:ea typeface="Microsoft YaHei"/>
              </a:rPr>
              <a:t>Plugin MF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382658" y="2171700"/>
            <a:ext cx="105613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插件扩展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400946" y="2331720"/>
            <a:ext cx="101955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·术后随访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400946" y="2473451"/>
            <a:ext cx="101955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·医学咨询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400946" y="2615184"/>
            <a:ext cx="101955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·竞品情报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1133856" y="2944368"/>
            <a:ext cx="5120640" cy="201168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397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161288" y="2944368"/>
            <a:ext cx="5065776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0E7490"/>
                </a:solidFill>
                <a:latin typeface="Segoe UI"/>
                <a:ea typeface="Microsoft YaHei"/>
              </a:rPr>
              <a:t>微前端框架：React + Module Federation / Single-SPA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345936" y="2944368"/>
            <a:ext cx="4096512" cy="201168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397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373368" y="2944368"/>
            <a:ext cx="4041648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0E7490"/>
                </a:solidFill>
                <a:latin typeface="Segoe UI"/>
                <a:ea typeface="Microsoft YaHei"/>
              </a:rPr>
              <a:t>UI 组件库 &amp; Design System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201168" y="3273552"/>
            <a:ext cx="10204704" cy="1225296"/>
          </a:xfrm>
          <a:prstGeom prst="roundRect">
            <a:avLst>
              <a:gd name="adj" fmla="val 5223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56032" y="3273552"/>
            <a:ext cx="804671" cy="12252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0F172A"/>
                </a:solidFill>
                <a:latin typeface="Segoe UI"/>
                <a:ea typeface="Microsoft YaHei"/>
              </a:rPr>
              <a:t>共享能力中心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80" b="0" i="0">
                <a:solidFill>
                  <a:srgbClr val="64748B"/>
                </a:solidFill>
                <a:latin typeface="Segoe UI"/>
                <a:ea typeface="Microsoft YaHei"/>
              </a:rPr>
              <a:t>Capability Hub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1133856" y="3346704"/>
            <a:ext cx="1298448" cy="1078992"/>
          </a:xfrm>
          <a:prstGeom prst="roundRect">
            <a:avLst>
              <a:gd name="adj" fmla="val 4237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161288" y="3383280"/>
            <a:ext cx="124358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内容能力中心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161288" y="3520440"/>
            <a:ext cx="1243584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80" b="1" i="0">
                <a:solidFill>
                  <a:srgbClr val="1E40AF"/>
                </a:solidFill>
                <a:latin typeface="Segoe UI"/>
                <a:ea typeface="Microsoft YaHei"/>
              </a:rPr>
              <a:t>(Content Hub)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179576" y="3675887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·CMS 内容管理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179576" y="3826763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·文献管理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179576" y="3977639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·文件管理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79576" y="4128515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·内容审核发布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2475280" y="3346704"/>
            <a:ext cx="1298448" cy="1078992"/>
          </a:xfrm>
          <a:prstGeom prst="roundRect">
            <a:avLst>
              <a:gd name="adj" fmla="val 4237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502712" y="3383280"/>
            <a:ext cx="124358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活动能力中心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502712" y="3520440"/>
            <a:ext cx="1243584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80" b="1" i="0">
                <a:solidFill>
                  <a:srgbClr val="047857"/>
                </a:solidFill>
                <a:latin typeface="Segoe UI"/>
                <a:ea typeface="Microsoft YaHei"/>
              </a:rPr>
              <a:t>(Event Hub)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521000" y="3675887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·会议管理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521000" y="3826763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·直播/录播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521000" y="3977639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·报名/签到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521000" y="4128515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·CME 学分/积分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3816705" y="3346704"/>
            <a:ext cx="1298448" cy="1078992"/>
          </a:xfrm>
          <a:prstGeom prst="roundRect">
            <a:avLst>
              <a:gd name="adj" fmla="val 4237"/>
            </a:avLst>
          </a:prstGeom>
          <a:solidFill>
            <a:srgbClr val="FFFBEB"/>
          </a:solidFill>
          <a:ln w="15240">
            <a:solidFill>
              <a:srgbClr val="FDE68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844137" y="3383280"/>
            <a:ext cx="124358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销售能力中心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844137" y="3520440"/>
            <a:ext cx="1243584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80" b="1" i="0">
                <a:solidFill>
                  <a:srgbClr val="92400E"/>
                </a:solidFill>
                <a:latin typeface="Segoe UI"/>
                <a:ea typeface="Microsoft YaHei"/>
              </a:rPr>
              <a:t>(Sales Hub)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862425" y="3675887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·客户管理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862425" y="3826763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·拜访管理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862425" y="3977639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·协访管理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862425" y="4128515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·KPI/绩效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5158130" y="3346704"/>
            <a:ext cx="1298448" cy="1078992"/>
          </a:xfrm>
          <a:prstGeom prst="roundRect">
            <a:avLst>
              <a:gd name="adj" fmla="val 4237"/>
            </a:avLst>
          </a:prstGeom>
          <a:solidFill>
            <a:srgbClr val="F6F8FA"/>
          </a:solidFill>
          <a:ln w="15240">
            <a:solidFill>
              <a:srgbClr val="CBD5E1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185562" y="3383280"/>
            <a:ext cx="124358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服务能力中心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185562" y="3520440"/>
            <a:ext cx="1243584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80" b="1" i="0">
                <a:solidFill>
                  <a:srgbClr val="475569"/>
                </a:solidFill>
                <a:latin typeface="Segoe UI"/>
                <a:ea typeface="Microsoft YaHei"/>
              </a:rPr>
              <a:t>(Service Hub)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203850" y="3675887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·工单管理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203850" y="3826763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·SLA 管理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203850" y="3977639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·派工调度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203850" y="4128515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·备件管理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6499555" y="3346704"/>
            <a:ext cx="1298448" cy="1078992"/>
          </a:xfrm>
          <a:prstGeom prst="roundRect">
            <a:avLst>
              <a:gd name="adj" fmla="val 4237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526987" y="3383280"/>
            <a:ext cx="124358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客户数据能力中心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526987" y="3520440"/>
            <a:ext cx="1243584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80" b="1" i="0">
                <a:solidFill>
                  <a:srgbClr val="0E7490"/>
                </a:solidFill>
                <a:latin typeface="Segoe UI"/>
                <a:ea typeface="Microsoft YaHei"/>
              </a:rPr>
              <a:t>(Customer Data Hub)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545275" y="3675887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·客户主数据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545275" y="3826763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·客户 360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545275" y="3977639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·标签引擎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545275" y="4128515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·行为分析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7840980" y="3346704"/>
            <a:ext cx="1298448" cy="1078992"/>
          </a:xfrm>
          <a:prstGeom prst="roundRect">
            <a:avLst>
              <a:gd name="adj" fmla="val 4237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7868412" y="3383280"/>
            <a:ext cx="124358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AI 能力中心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868412" y="3520440"/>
            <a:ext cx="1243584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80" b="1" i="0">
                <a:solidFill>
                  <a:srgbClr val="6D28D9"/>
                </a:solidFill>
                <a:latin typeface="Segoe UI"/>
                <a:ea typeface="Microsoft YaHei"/>
              </a:rPr>
              <a:t>(AI Hub)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7886700" y="3675887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·AI 问答（RAG）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886700" y="3826763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·内容推荐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886700" y="3977639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·合规审查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886700" y="4128515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·智能预测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9182404" y="3346704"/>
            <a:ext cx="1298448" cy="1078992"/>
          </a:xfrm>
          <a:prstGeom prst="roundRect">
            <a:avLst>
              <a:gd name="adj" fmla="val 4237"/>
            </a:avLst>
          </a:prstGeom>
          <a:solidFill>
            <a:srgbClr val="FDF2F8"/>
          </a:solidFill>
          <a:ln w="15240">
            <a:solidFill>
              <a:srgbClr val="F9A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9209836" y="3383280"/>
            <a:ext cx="124358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Plugin 容器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209836" y="3520440"/>
            <a:ext cx="1243584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80" b="1" i="0">
                <a:solidFill>
                  <a:srgbClr val="BE185D"/>
                </a:solidFill>
                <a:latin typeface="Segoe UI"/>
                <a:ea typeface="Microsoft YaHei"/>
              </a:rPr>
              <a:t>(Plugin Container)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228124" y="3675887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·插件市场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228124" y="3826763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·插件管理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228124" y="3977639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·插件运行时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228124" y="4128515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·OpenAPI / SDK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201168" y="4553712"/>
            <a:ext cx="10204704" cy="420624"/>
          </a:xfrm>
          <a:prstGeom prst="roundRect">
            <a:avLst>
              <a:gd name="adj" fmla="val 15217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256032" y="4553712"/>
            <a:ext cx="804671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6D28D9"/>
                </a:solidFill>
                <a:latin typeface="Segoe UI"/>
                <a:ea typeface="Microsoft YaHei"/>
              </a:rPr>
              <a:t>平台基础层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80" b="0" i="0">
                <a:solidFill>
                  <a:srgbClr val="64748B"/>
                </a:solidFill>
                <a:latin typeface="Segoe UI"/>
                <a:ea typeface="Microsoft YaHei"/>
              </a:rPr>
              <a:t>Platform Foundation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1133856" y="4645152"/>
            <a:ext cx="1298448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1161288" y="4645152"/>
            <a:ext cx="1243584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0F172A"/>
                </a:solidFill>
                <a:latin typeface="Segoe UI"/>
                <a:ea typeface="Microsoft YaHei"/>
              </a:rPr>
              <a:t>身份与访问管理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00" b="0" i="0">
                <a:solidFill>
                  <a:srgbClr val="64748B"/>
                </a:solidFill>
                <a:latin typeface="Segoe UI"/>
                <a:ea typeface="Microsoft YaHei"/>
              </a:rPr>
              <a:t>Entra ID / B2C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2475280" y="4645152"/>
            <a:ext cx="1298448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502712" y="4645152"/>
            <a:ext cx="1243584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0F172A"/>
                </a:solidFill>
                <a:latin typeface="Segoe UI"/>
                <a:ea typeface="Microsoft YaHei"/>
              </a:rPr>
              <a:t>API 管理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00" b="0" i="0">
                <a:solidFill>
                  <a:srgbClr val="64748B"/>
                </a:solidFill>
                <a:latin typeface="Segoe UI"/>
                <a:ea typeface="Microsoft YaHei"/>
              </a:rPr>
              <a:t>Azure API Management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3816705" y="4645152"/>
            <a:ext cx="1298448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844137" y="4645152"/>
            <a:ext cx="1243584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0F172A"/>
                </a:solidFill>
                <a:latin typeface="Segoe UI"/>
                <a:ea typeface="Microsoft YaHei"/>
              </a:rPr>
              <a:t>消息总线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00" b="0" i="0">
                <a:solidFill>
                  <a:srgbClr val="64748B"/>
                </a:solidFill>
                <a:latin typeface="Segoe UI"/>
                <a:ea typeface="Microsoft YaHei"/>
              </a:rPr>
              <a:t>Service Bus / Event Hub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5158130" y="4645152"/>
            <a:ext cx="1298448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5185562" y="4645152"/>
            <a:ext cx="1243584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0F172A"/>
                </a:solidFill>
                <a:latin typeface="Segoe UI"/>
                <a:ea typeface="Microsoft YaHei"/>
              </a:rPr>
              <a:t>配置中心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00" b="0" i="0">
                <a:solidFill>
                  <a:srgbClr val="64748B"/>
                </a:solidFill>
                <a:latin typeface="Segoe UI"/>
                <a:ea typeface="Microsoft YaHei"/>
              </a:rPr>
              <a:t>App Configuration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499555" y="4645152"/>
            <a:ext cx="1298448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526987" y="4645152"/>
            <a:ext cx="1243584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0F172A"/>
                </a:solidFill>
                <a:latin typeface="Segoe UI"/>
                <a:ea typeface="Microsoft YaHei"/>
              </a:rPr>
              <a:t>日志与审计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00" b="0" i="0">
                <a:solidFill>
                  <a:srgbClr val="64748B"/>
                </a:solidFill>
                <a:latin typeface="Segoe UI"/>
                <a:ea typeface="Microsoft YaHei"/>
              </a:rPr>
              <a:t>Log &amp; Audit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7840980" y="4645152"/>
            <a:ext cx="1298448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7868412" y="4645152"/>
            <a:ext cx="1243584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0F172A"/>
                </a:solidFill>
                <a:latin typeface="Segoe UI"/>
                <a:ea typeface="Microsoft YaHei"/>
              </a:rPr>
              <a:t>文件存储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00" b="0" i="0">
                <a:solidFill>
                  <a:srgbClr val="64748B"/>
                </a:solidFill>
                <a:latin typeface="Segoe UI"/>
                <a:ea typeface="Microsoft YaHei"/>
              </a:rPr>
              <a:t>Blob Storage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9182404" y="4645152"/>
            <a:ext cx="1298448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9209836" y="4645152"/>
            <a:ext cx="1243584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0F172A"/>
                </a:solidFill>
                <a:latin typeface="Segoe UI"/>
                <a:ea typeface="Microsoft YaHei"/>
              </a:rPr>
              <a:t>监控告警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00" b="0" i="0">
                <a:solidFill>
                  <a:srgbClr val="64748B"/>
                </a:solidFill>
                <a:latin typeface="Segoe UI"/>
                <a:ea typeface="Microsoft YaHei"/>
              </a:rPr>
              <a:t>Application Insights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201168" y="5029200"/>
            <a:ext cx="10204704" cy="731520"/>
          </a:xfrm>
          <a:prstGeom prst="roundRect">
            <a:avLst>
              <a:gd name="adj" fmla="val 8750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256032" y="5029200"/>
            <a:ext cx="804671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D4ED8"/>
                </a:solidFill>
                <a:latin typeface="Segoe UI"/>
                <a:ea typeface="Microsoft YaHei"/>
              </a:rPr>
              <a:t>数据底座层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80" b="0" i="0">
                <a:solidFill>
                  <a:srgbClr val="64748B"/>
                </a:solidFill>
                <a:latin typeface="Segoe UI"/>
                <a:ea typeface="Microsoft YaHei"/>
              </a:rPr>
              <a:t>HCP Pool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1133856" y="5102352"/>
            <a:ext cx="5797296" cy="603504"/>
          </a:xfrm>
          <a:prstGeom prst="roundRect">
            <a:avLst>
              <a:gd name="adj" fmla="val 7575"/>
            </a:avLst>
          </a:prstGeom>
          <a:solidFill>
            <a:srgbClr val="FFFFFF"/>
          </a:solidFill>
          <a:ln w="1397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1207008" y="5129784"/>
            <a:ext cx="5650992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1D4ED8"/>
                </a:solidFill>
                <a:latin typeface="Segoe UI"/>
                <a:ea typeface="Microsoft YaHei"/>
              </a:rPr>
              <a:t>HCP Pool（统一数据资产）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1207008" y="5266944"/>
            <a:ext cx="1371600" cy="201168"/>
          </a:xfrm>
          <a:prstGeom prst="roundRect">
            <a:avLst>
              <a:gd name="adj" fmla="val 18181"/>
            </a:avLst>
          </a:prstGeom>
          <a:solidFill>
            <a:srgbClr val="F0F7FC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234440" y="5266944"/>
            <a:ext cx="1316736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F172A"/>
                </a:solidFill>
                <a:latin typeface="Segoe UI"/>
                <a:ea typeface="Microsoft YaHei"/>
              </a:rPr>
              <a:t>OneID　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4748B"/>
                </a:solidFill>
                <a:latin typeface="Segoe UI"/>
                <a:ea typeface="Microsoft YaHei"/>
              </a:rPr>
              <a:t>统一身份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2633472" y="5266944"/>
            <a:ext cx="1371600" cy="201168"/>
          </a:xfrm>
          <a:prstGeom prst="roundRect">
            <a:avLst>
              <a:gd name="adj" fmla="val 18181"/>
            </a:avLst>
          </a:prstGeom>
          <a:solidFill>
            <a:srgbClr val="F0F7FC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2660903" y="5266944"/>
            <a:ext cx="1316736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F172A"/>
                </a:solidFill>
                <a:latin typeface="Segoe UI"/>
                <a:ea typeface="Microsoft YaHei"/>
              </a:rPr>
              <a:t>HCP Master　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4748B"/>
                </a:solidFill>
                <a:latin typeface="Segoe UI"/>
                <a:ea typeface="Microsoft YaHei"/>
              </a:rPr>
              <a:t>客户主数据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4059936" y="5266944"/>
            <a:ext cx="1371600" cy="201168"/>
          </a:xfrm>
          <a:prstGeom prst="roundRect">
            <a:avLst>
              <a:gd name="adj" fmla="val 18181"/>
            </a:avLst>
          </a:prstGeom>
          <a:solidFill>
            <a:srgbClr val="F0F7FC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087368" y="5266944"/>
            <a:ext cx="1316736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F172A"/>
                </a:solidFill>
                <a:latin typeface="Segoe UI"/>
                <a:ea typeface="Microsoft YaHei"/>
              </a:rPr>
              <a:t>HCO Master　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4748B"/>
                </a:solidFill>
                <a:latin typeface="Segoe UI"/>
                <a:ea typeface="Microsoft YaHei"/>
              </a:rPr>
              <a:t>机构主数据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5486400" y="5266944"/>
            <a:ext cx="1371600" cy="201168"/>
          </a:xfrm>
          <a:prstGeom prst="roundRect">
            <a:avLst>
              <a:gd name="adj" fmla="val 18181"/>
            </a:avLst>
          </a:prstGeom>
          <a:solidFill>
            <a:srgbClr val="F0F7FC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5513832" y="5266944"/>
            <a:ext cx="1316736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F172A"/>
                </a:solidFill>
                <a:latin typeface="Segoe UI"/>
                <a:ea typeface="Microsoft YaHei"/>
              </a:rPr>
              <a:t>Consent　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4748B"/>
                </a:solidFill>
                <a:latin typeface="Segoe UI"/>
                <a:ea typeface="Microsoft YaHei"/>
              </a:rPr>
              <a:t>授权管理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1207008" y="5486400"/>
            <a:ext cx="1188720" cy="182880"/>
          </a:xfrm>
          <a:prstGeom prst="roundRect">
            <a:avLst>
              <a:gd name="adj" fmla="val 20000"/>
            </a:avLst>
          </a:prstGeom>
          <a:solidFill>
            <a:srgbClr val="F0F7FC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1234440" y="5486400"/>
            <a:ext cx="1133856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F172A"/>
                </a:solidFill>
                <a:latin typeface="Segoe UI"/>
                <a:ea typeface="Microsoft YaHei"/>
              </a:rPr>
              <a:t>Customer 360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2487168" y="5486400"/>
            <a:ext cx="1847088" cy="182880"/>
          </a:xfrm>
          <a:prstGeom prst="roundRect">
            <a:avLst>
              <a:gd name="adj" fmla="val 20000"/>
            </a:avLst>
          </a:prstGeom>
          <a:solidFill>
            <a:srgbClr val="F0F7FC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2514600" y="5486400"/>
            <a:ext cx="1792224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F172A"/>
                </a:solidFill>
                <a:latin typeface="Segoe UI"/>
                <a:ea typeface="Microsoft YaHei"/>
              </a:rPr>
              <a:t>Tag Engine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4748B"/>
                </a:solidFill>
                <a:latin typeface="Segoe UI"/>
                <a:ea typeface="Microsoft YaHei"/>
              </a:rPr>
              <a:t>　标签引擎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4425696" y="5486400"/>
            <a:ext cx="1847088" cy="182880"/>
          </a:xfrm>
          <a:prstGeom prst="roundRect">
            <a:avLst>
              <a:gd name="adj" fmla="val 20000"/>
            </a:avLst>
          </a:prstGeom>
          <a:solidFill>
            <a:srgbClr val="F0F7FC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4453128" y="5486400"/>
            <a:ext cx="1792224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F172A"/>
                </a:solidFill>
                <a:latin typeface="Segoe UI"/>
                <a:ea typeface="Microsoft YaHei"/>
              </a:rPr>
              <a:t>Behavior Event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4748B"/>
                </a:solidFill>
                <a:latin typeface="Segoe UI"/>
                <a:ea typeface="Microsoft YaHei"/>
              </a:rPr>
              <a:t>　行为事件中心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7022592" y="5102352"/>
            <a:ext cx="3419856" cy="603504"/>
          </a:xfrm>
          <a:prstGeom prst="roundRect">
            <a:avLst>
              <a:gd name="adj" fmla="val 7575"/>
            </a:avLst>
          </a:prstGeom>
          <a:solidFill>
            <a:srgbClr val="FFFFFF"/>
          </a:solidFill>
          <a:ln w="1397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7095744" y="5129784"/>
            <a:ext cx="3273552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1D4ED8"/>
                </a:solidFill>
                <a:latin typeface="Segoe UI"/>
                <a:ea typeface="Microsoft YaHei"/>
              </a:rPr>
              <a:t>数据集成与治理（Data Integration &amp; Governance）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7095744" y="5266944"/>
            <a:ext cx="1609344" cy="182880"/>
          </a:xfrm>
          <a:prstGeom prst="roundRect">
            <a:avLst>
              <a:gd name="adj" fmla="val 20000"/>
            </a:avLst>
          </a:prstGeom>
          <a:solidFill>
            <a:srgbClr val="F0F7FC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7123176" y="5266944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F172A"/>
                </a:solidFill>
                <a:latin typeface="Segoe UI"/>
                <a:ea typeface="Microsoft YaHei"/>
              </a:rPr>
              <a:t>数据集成　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480" b="0" i="0">
                <a:solidFill>
                  <a:srgbClr val="64748B"/>
                </a:solidFill>
                <a:latin typeface="Segoe UI"/>
                <a:ea typeface="Microsoft YaHei"/>
              </a:rPr>
              <a:t>Data Factory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8759952" y="5266944"/>
            <a:ext cx="1609344" cy="182880"/>
          </a:xfrm>
          <a:prstGeom prst="roundRect">
            <a:avLst>
              <a:gd name="adj" fmla="val 20000"/>
            </a:avLst>
          </a:prstGeom>
          <a:solidFill>
            <a:srgbClr val="F0F7FC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8787384" y="5266944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F172A"/>
                </a:solidFill>
                <a:latin typeface="Segoe UI"/>
                <a:ea typeface="Microsoft YaHei"/>
              </a:rPr>
              <a:t>数据质量　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480" b="0" i="0">
                <a:solidFill>
                  <a:srgbClr val="64748B"/>
                </a:solidFill>
                <a:latin typeface="Segoe UI"/>
                <a:ea typeface="Microsoft YaHei"/>
              </a:rPr>
              <a:t>Data Quality</a:t>
            </a:r>
          </a:p>
        </p:txBody>
      </p:sp>
      <p:sp>
        <p:nvSpPr>
          <p:cNvPr id="185" name="Rounded Rectangle 184"/>
          <p:cNvSpPr/>
          <p:nvPr/>
        </p:nvSpPr>
        <p:spPr>
          <a:xfrm>
            <a:off x="7095744" y="5486400"/>
            <a:ext cx="1609344" cy="182880"/>
          </a:xfrm>
          <a:prstGeom prst="roundRect">
            <a:avLst>
              <a:gd name="adj" fmla="val 20000"/>
            </a:avLst>
          </a:prstGeom>
          <a:solidFill>
            <a:srgbClr val="F0F7FC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7123176" y="5486400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F172A"/>
                </a:solidFill>
                <a:latin typeface="Segoe UI"/>
                <a:ea typeface="Microsoft YaHei"/>
              </a:rPr>
              <a:t>数据治理　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480" b="0" i="0">
                <a:solidFill>
                  <a:srgbClr val="64748B"/>
                </a:solidFill>
                <a:latin typeface="Segoe UI"/>
                <a:ea typeface="Microsoft YaHei"/>
              </a:rPr>
              <a:t>Data Governance</a:t>
            </a:r>
          </a:p>
        </p:txBody>
      </p:sp>
      <p:sp>
        <p:nvSpPr>
          <p:cNvPr id="187" name="Rounded Rectangle 186"/>
          <p:cNvSpPr/>
          <p:nvPr/>
        </p:nvSpPr>
        <p:spPr>
          <a:xfrm>
            <a:off x="8759952" y="5486400"/>
            <a:ext cx="1609344" cy="182880"/>
          </a:xfrm>
          <a:prstGeom prst="roundRect">
            <a:avLst>
              <a:gd name="adj" fmla="val 20000"/>
            </a:avLst>
          </a:prstGeom>
          <a:solidFill>
            <a:srgbClr val="F0F7FC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8787384" y="5486400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F172A"/>
                </a:solidFill>
                <a:latin typeface="Segoe UI"/>
                <a:ea typeface="Microsoft YaHei"/>
              </a:rPr>
              <a:t>元数据管理　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480" b="0" i="0">
                <a:solidFill>
                  <a:srgbClr val="64748B"/>
                </a:solidFill>
                <a:latin typeface="Segoe UI"/>
                <a:ea typeface="Microsoft YaHei"/>
              </a:rPr>
              <a:t>Metadata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201168" y="5815584"/>
            <a:ext cx="10204704" cy="420624"/>
          </a:xfrm>
          <a:prstGeom prst="roundRect">
            <a:avLst>
              <a:gd name="adj" fmla="val 15217"/>
            </a:avLst>
          </a:prstGeom>
          <a:solidFill>
            <a:srgbClr val="FAF9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256032" y="5815584"/>
            <a:ext cx="804671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6D28D9"/>
                </a:solidFill>
                <a:latin typeface="Segoe UI"/>
                <a:ea typeface="Microsoft YaHei"/>
              </a:rPr>
              <a:t>数据与 AI 平台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80" b="0" i="0">
                <a:solidFill>
                  <a:srgbClr val="64748B"/>
                </a:solidFill>
                <a:latin typeface="Segoe UI"/>
                <a:ea typeface="Microsoft YaHei"/>
              </a:rPr>
              <a:t>Data &amp; AI Platform</a:t>
            </a:r>
          </a:p>
        </p:txBody>
      </p:sp>
      <p:sp>
        <p:nvSpPr>
          <p:cNvPr id="191" name="Rounded Rectangle 190"/>
          <p:cNvSpPr/>
          <p:nvPr/>
        </p:nvSpPr>
        <p:spPr>
          <a:xfrm>
            <a:off x="1133856" y="5907024"/>
            <a:ext cx="1522476" cy="256032"/>
          </a:xfrm>
          <a:prstGeom prst="roundRect">
            <a:avLst>
              <a:gd name="adj" fmla="val 14285"/>
            </a:avLst>
          </a:prstGeom>
          <a:solidFill>
            <a:srgbClr val="EFF6FF"/>
          </a:solidFill>
          <a:ln w="1397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1161288" y="5907024"/>
            <a:ext cx="1467612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0F172A"/>
                </a:solidFill>
                <a:latin typeface="Segoe UI"/>
                <a:ea typeface="Microsoft YaHei"/>
              </a:rPr>
              <a:t>数据湖仓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00" b="0" i="0">
                <a:solidFill>
                  <a:srgbClr val="64748B"/>
                </a:solidFill>
                <a:latin typeface="Segoe UI"/>
                <a:ea typeface="Microsoft YaHei"/>
              </a:rPr>
              <a:t>Data Lake · ADLS Gen2</a:t>
            </a:r>
          </a:p>
        </p:txBody>
      </p:sp>
      <p:sp>
        <p:nvSpPr>
          <p:cNvPr id="193" name="Rounded Rectangle 192"/>
          <p:cNvSpPr/>
          <p:nvPr/>
        </p:nvSpPr>
        <p:spPr>
          <a:xfrm>
            <a:off x="2702052" y="5907024"/>
            <a:ext cx="1522476" cy="256032"/>
          </a:xfrm>
          <a:prstGeom prst="roundRect">
            <a:avLst>
              <a:gd name="adj" fmla="val 14285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2729484" y="5907024"/>
            <a:ext cx="1467612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0F172A"/>
                </a:solidFill>
                <a:latin typeface="Segoe UI"/>
                <a:ea typeface="Microsoft YaHei"/>
              </a:rPr>
              <a:t>数据处理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00" b="0" i="0">
                <a:solidFill>
                  <a:srgbClr val="64748B"/>
                </a:solidFill>
                <a:latin typeface="Segoe UI"/>
                <a:ea typeface="Microsoft YaHei"/>
              </a:rPr>
              <a:t>Databricks · ETL/ELT</a:t>
            </a:r>
          </a:p>
        </p:txBody>
      </p:sp>
      <p:sp>
        <p:nvSpPr>
          <p:cNvPr id="195" name="Rounded Rectangle 194"/>
          <p:cNvSpPr/>
          <p:nvPr/>
        </p:nvSpPr>
        <p:spPr>
          <a:xfrm>
            <a:off x="4270248" y="5907024"/>
            <a:ext cx="1522476" cy="256032"/>
          </a:xfrm>
          <a:prstGeom prst="roundRect">
            <a:avLst>
              <a:gd name="adj" fmla="val 14285"/>
            </a:avLst>
          </a:prstGeom>
          <a:solidFill>
            <a:srgbClr val="ECFEFF"/>
          </a:solidFill>
          <a:ln w="1397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4297680" y="5907024"/>
            <a:ext cx="1467612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0F172A"/>
                </a:solidFill>
                <a:latin typeface="Segoe UI"/>
                <a:ea typeface="Microsoft YaHei"/>
              </a:rPr>
              <a:t>AI 搜索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00" b="0" i="0">
                <a:solidFill>
                  <a:srgbClr val="64748B"/>
                </a:solidFill>
                <a:latin typeface="Segoe UI"/>
                <a:ea typeface="Microsoft YaHei"/>
              </a:rPr>
              <a:t>Azure AI Search · 全文/向量检索</a:t>
            </a:r>
          </a:p>
        </p:txBody>
      </p:sp>
      <p:sp>
        <p:nvSpPr>
          <p:cNvPr id="197" name="Rounded Rectangle 196"/>
          <p:cNvSpPr/>
          <p:nvPr/>
        </p:nvSpPr>
        <p:spPr>
          <a:xfrm>
            <a:off x="5838444" y="5907024"/>
            <a:ext cx="1522476" cy="256032"/>
          </a:xfrm>
          <a:prstGeom prst="roundRect">
            <a:avLst>
              <a:gd name="adj" fmla="val 14285"/>
            </a:avLst>
          </a:prstGeom>
          <a:solidFill>
            <a:srgbClr val="F5F3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5865876" y="5907024"/>
            <a:ext cx="1467612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0F172A"/>
                </a:solidFill>
                <a:latin typeface="Segoe UI"/>
                <a:ea typeface="Microsoft YaHei"/>
              </a:rPr>
              <a:t>AI 平台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00" b="0" i="0">
                <a:solidFill>
                  <a:srgbClr val="64748B"/>
                </a:solidFill>
                <a:latin typeface="Segoe UI"/>
                <a:ea typeface="Microsoft YaHei"/>
              </a:rPr>
              <a:t>Azure OpenAI · GPT/RAG/Prompt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7406640" y="5907024"/>
            <a:ext cx="1522476" cy="256032"/>
          </a:xfrm>
          <a:prstGeom prst="roundRect">
            <a:avLst>
              <a:gd name="adj" fmla="val 14285"/>
            </a:avLst>
          </a:prstGeom>
          <a:solidFill>
            <a:srgbClr val="EFF6FF"/>
          </a:solidFill>
          <a:ln w="1397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7434071" y="5907024"/>
            <a:ext cx="1467612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0F172A"/>
                </a:solidFill>
                <a:latin typeface="Segoe UI"/>
                <a:ea typeface="Microsoft YaHei"/>
              </a:rPr>
              <a:t>数据分析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00" b="0" i="0">
                <a:solidFill>
                  <a:srgbClr val="64748B"/>
                </a:solidFill>
                <a:latin typeface="Segoe UI"/>
                <a:ea typeface="Microsoft YaHei"/>
              </a:rPr>
              <a:t>Microsoft Fabric · 建模/分析/共享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8974836" y="5907024"/>
            <a:ext cx="1522476" cy="256032"/>
          </a:xfrm>
          <a:prstGeom prst="roundRect">
            <a:avLst>
              <a:gd name="adj" fmla="val 14285"/>
            </a:avLst>
          </a:prstGeom>
          <a:solidFill>
            <a:srgbClr val="FFFBEB"/>
          </a:solidFill>
          <a:ln w="1397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9002268" y="5907024"/>
            <a:ext cx="1467612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0F172A"/>
                </a:solidFill>
                <a:latin typeface="Segoe UI"/>
                <a:ea typeface="Microsoft YaHei"/>
              </a:rPr>
              <a:t>可视化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00" b="0" i="0">
                <a:solidFill>
                  <a:srgbClr val="64748B"/>
                </a:solidFill>
                <a:latin typeface="Segoe UI"/>
                <a:ea typeface="Microsoft YaHei"/>
              </a:rPr>
              <a:t>Power BI · 报表/仪表盘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201168" y="6291072"/>
            <a:ext cx="10204704" cy="310896"/>
          </a:xfrm>
          <a:prstGeom prst="roundRect">
            <a:avLst>
              <a:gd name="adj" fmla="val 20588"/>
            </a:avLst>
          </a:prstGeom>
          <a:solidFill>
            <a:srgbClr val="FFF7ED"/>
          </a:solidFill>
          <a:ln w="1524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256032" y="6291072"/>
            <a:ext cx="804671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B45309"/>
                </a:solidFill>
                <a:latin typeface="Segoe UI"/>
                <a:ea typeface="Microsoft YaHei"/>
              </a:rPr>
              <a:t>外部系统对接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1133856" y="6355080"/>
            <a:ext cx="11292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1161288" y="6355080"/>
            <a:ext cx="1074420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92400E"/>
                </a:solidFill>
                <a:latin typeface="Segoe UI"/>
                <a:ea typeface="Microsoft YaHei"/>
              </a:rPr>
              <a:t>ERP</a:t>
            </a:r>
          </a:p>
        </p:txBody>
      </p:sp>
      <p:sp>
        <p:nvSpPr>
          <p:cNvPr id="207" name="Rounded Rectangle 206"/>
          <p:cNvSpPr/>
          <p:nvPr/>
        </p:nvSpPr>
        <p:spPr>
          <a:xfrm>
            <a:off x="2307031" y="6355080"/>
            <a:ext cx="11292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2334463" y="6355080"/>
            <a:ext cx="1074420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92400E"/>
                </a:solidFill>
                <a:latin typeface="Segoe UI"/>
                <a:ea typeface="Microsoft YaHei"/>
              </a:rPr>
              <a:t>SAP</a:t>
            </a:r>
          </a:p>
        </p:txBody>
      </p:sp>
      <p:sp>
        <p:nvSpPr>
          <p:cNvPr id="209" name="Rounded Rectangle 208"/>
          <p:cNvSpPr/>
          <p:nvPr/>
        </p:nvSpPr>
        <p:spPr>
          <a:xfrm>
            <a:off x="3480206" y="6355080"/>
            <a:ext cx="11292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3507638" y="6355080"/>
            <a:ext cx="1074420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92400E"/>
                </a:solidFill>
                <a:latin typeface="Segoe UI"/>
                <a:ea typeface="Microsoft YaHei"/>
              </a:rPr>
              <a:t>CRM</a:t>
            </a:r>
          </a:p>
        </p:txBody>
      </p:sp>
      <p:sp>
        <p:nvSpPr>
          <p:cNvPr id="211" name="Rounded Rectangle 210"/>
          <p:cNvSpPr/>
          <p:nvPr/>
        </p:nvSpPr>
        <p:spPr>
          <a:xfrm>
            <a:off x="4653381" y="6355080"/>
            <a:ext cx="11292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4680813" y="6355080"/>
            <a:ext cx="1074420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92400E"/>
                </a:solidFill>
                <a:latin typeface="Segoe UI"/>
                <a:ea typeface="Microsoft YaHei"/>
              </a:rPr>
              <a:t>MDM</a:t>
            </a:r>
          </a:p>
        </p:txBody>
      </p:sp>
      <p:sp>
        <p:nvSpPr>
          <p:cNvPr id="213" name="Rounded Rectangle 212"/>
          <p:cNvSpPr/>
          <p:nvPr/>
        </p:nvSpPr>
        <p:spPr>
          <a:xfrm>
            <a:off x="5826556" y="6355080"/>
            <a:ext cx="11292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5853988" y="6355080"/>
            <a:ext cx="1074420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92400E"/>
                </a:solidFill>
                <a:latin typeface="Segoe UI"/>
                <a:ea typeface="Microsoft YaHei"/>
              </a:rPr>
              <a:t>EHR</a:t>
            </a:r>
          </a:p>
        </p:txBody>
      </p:sp>
      <p:sp>
        <p:nvSpPr>
          <p:cNvPr id="215" name="Rounded Rectangle 214"/>
          <p:cNvSpPr/>
          <p:nvPr/>
        </p:nvSpPr>
        <p:spPr>
          <a:xfrm>
            <a:off x="6999731" y="6355080"/>
            <a:ext cx="11292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7027164" y="6355080"/>
            <a:ext cx="1074420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92400E"/>
                </a:solidFill>
                <a:latin typeface="Segoe UI"/>
                <a:ea typeface="Microsoft YaHei"/>
              </a:rPr>
              <a:t>BI</a:t>
            </a:r>
          </a:p>
        </p:txBody>
      </p:sp>
      <p:sp>
        <p:nvSpPr>
          <p:cNvPr id="217" name="Rounded Rectangle 216"/>
          <p:cNvSpPr/>
          <p:nvPr/>
        </p:nvSpPr>
        <p:spPr>
          <a:xfrm>
            <a:off x="8172907" y="6355080"/>
            <a:ext cx="11292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8200339" y="6355080"/>
            <a:ext cx="1074420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92400E"/>
                </a:solidFill>
                <a:latin typeface="Segoe UI"/>
                <a:ea typeface="Microsoft YaHei"/>
              </a:rPr>
              <a:t>IoT</a:t>
            </a:r>
          </a:p>
        </p:txBody>
      </p:sp>
      <p:sp>
        <p:nvSpPr>
          <p:cNvPr id="219" name="Rounded Rectangle 218"/>
          <p:cNvSpPr/>
          <p:nvPr/>
        </p:nvSpPr>
        <p:spPr>
          <a:xfrm>
            <a:off x="9346082" y="6355080"/>
            <a:ext cx="1129284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9373514" y="6355080"/>
            <a:ext cx="1074420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92400E"/>
                </a:solidFill>
                <a:latin typeface="Segoe UI"/>
                <a:ea typeface="Microsoft YaHei"/>
              </a:rPr>
              <a:t>第三方系统</a:t>
            </a:r>
          </a:p>
        </p:txBody>
      </p:sp>
      <p:sp>
        <p:nvSpPr>
          <p:cNvPr id="221" name="Rounded Rectangle 220"/>
          <p:cNvSpPr/>
          <p:nvPr/>
        </p:nvSpPr>
        <p:spPr>
          <a:xfrm>
            <a:off x="10533888" y="566928"/>
            <a:ext cx="1453896" cy="237744"/>
          </a:xfrm>
          <a:prstGeom prst="roundRect">
            <a:avLst>
              <a:gd name="adj" fmla="val 1923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10533888" y="566928"/>
            <a:ext cx="1453896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  <a:ea typeface="Microsoft YaHei"/>
              </a:rPr>
              <a:t>能力复用 &amp; 价值</a:t>
            </a:r>
          </a:p>
        </p:txBody>
      </p:sp>
      <p:sp>
        <p:nvSpPr>
          <p:cNvPr id="223" name="Oval 222"/>
          <p:cNvSpPr/>
          <p:nvPr/>
        </p:nvSpPr>
        <p:spPr>
          <a:xfrm>
            <a:off x="10588752" y="909828"/>
            <a:ext cx="73152" cy="73152"/>
          </a:xfrm>
          <a:prstGeom prst="ellipse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10716767" y="877824"/>
            <a:ext cx="123444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475569"/>
                </a:solidFill>
                <a:latin typeface="Segoe UI"/>
                <a:ea typeface="Microsoft YaHei"/>
              </a:rPr>
              <a:t>微前端 ＋ 共享能力</a:t>
            </a:r>
          </a:p>
        </p:txBody>
      </p:sp>
      <p:sp>
        <p:nvSpPr>
          <p:cNvPr id="225" name="Rounded Rectangle 224"/>
          <p:cNvSpPr/>
          <p:nvPr/>
        </p:nvSpPr>
        <p:spPr>
          <a:xfrm>
            <a:off x="10533888" y="1033271"/>
            <a:ext cx="1453896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10561319" y="1033271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475569"/>
                </a:solidFill>
                <a:latin typeface="Segoe UI"/>
                <a:ea typeface="Microsoft YaHei"/>
              </a:rPr>
              <a:t>一次构建 · 多端复用</a:t>
            </a:r>
          </a:p>
        </p:txBody>
      </p:sp>
      <p:sp>
        <p:nvSpPr>
          <p:cNvPr id="227" name="Rounded Rectangle 226"/>
          <p:cNvSpPr/>
          <p:nvPr/>
        </p:nvSpPr>
        <p:spPr>
          <a:xfrm>
            <a:off x="10533888" y="1261872"/>
            <a:ext cx="1453896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10561319" y="1261872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475569"/>
                </a:solidFill>
                <a:latin typeface="Segoe UI"/>
                <a:ea typeface="Microsoft YaHei"/>
              </a:rPr>
              <a:t>BU 应用按需组合</a:t>
            </a:r>
          </a:p>
        </p:txBody>
      </p:sp>
      <p:sp>
        <p:nvSpPr>
          <p:cNvPr id="229" name="Rounded Rectangle 228"/>
          <p:cNvSpPr/>
          <p:nvPr/>
        </p:nvSpPr>
        <p:spPr>
          <a:xfrm>
            <a:off x="10533888" y="1490472"/>
            <a:ext cx="1453896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10561319" y="1490472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475569"/>
                </a:solidFill>
                <a:latin typeface="Segoe UI"/>
                <a:ea typeface="Microsoft YaHei"/>
              </a:rPr>
              <a:t>统一标准 · 统一技术栈</a:t>
            </a:r>
          </a:p>
        </p:txBody>
      </p:sp>
      <p:sp>
        <p:nvSpPr>
          <p:cNvPr id="231" name="Rounded Rectangle 230"/>
          <p:cNvSpPr/>
          <p:nvPr/>
        </p:nvSpPr>
        <p:spPr>
          <a:xfrm>
            <a:off x="10533888" y="1719072"/>
            <a:ext cx="1453896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10561319" y="1719072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475569"/>
                </a:solidFill>
                <a:latin typeface="Segoe UI"/>
                <a:ea typeface="Microsoft YaHei"/>
              </a:rPr>
              <a:t>统一开发规范</a:t>
            </a:r>
          </a:p>
        </p:txBody>
      </p:sp>
      <p:sp>
        <p:nvSpPr>
          <p:cNvPr id="233" name="Rounded Rectangle 232"/>
          <p:cNvSpPr/>
          <p:nvPr/>
        </p:nvSpPr>
        <p:spPr>
          <a:xfrm>
            <a:off x="10533888" y="1947672"/>
            <a:ext cx="1453896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10561319" y="1947672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475569"/>
                </a:solidFill>
                <a:latin typeface="Segoe UI"/>
                <a:ea typeface="Microsoft YaHei"/>
              </a:rPr>
              <a:t>降低 80%+ 重复建设</a:t>
            </a:r>
          </a:p>
        </p:txBody>
      </p:sp>
      <p:sp>
        <p:nvSpPr>
          <p:cNvPr id="235" name="Rounded Rectangle 234"/>
          <p:cNvSpPr/>
          <p:nvPr/>
        </p:nvSpPr>
        <p:spPr>
          <a:xfrm>
            <a:off x="10533888" y="2176272"/>
            <a:ext cx="1453896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10561319" y="2176272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475569"/>
                </a:solidFill>
                <a:latin typeface="Segoe UI"/>
                <a:ea typeface="Microsoft YaHei"/>
              </a:rPr>
              <a:t>降低成本</a:t>
            </a:r>
          </a:p>
        </p:txBody>
      </p:sp>
      <p:sp>
        <p:nvSpPr>
          <p:cNvPr id="237" name="Oval 236"/>
          <p:cNvSpPr/>
          <p:nvPr/>
        </p:nvSpPr>
        <p:spPr>
          <a:xfrm>
            <a:off x="10588752" y="2546604"/>
            <a:ext cx="73152" cy="7315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TextBox 237"/>
          <p:cNvSpPr txBox="1"/>
          <p:nvPr/>
        </p:nvSpPr>
        <p:spPr>
          <a:xfrm>
            <a:off x="10716767" y="2514600"/>
            <a:ext cx="123444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475569"/>
                </a:solidFill>
                <a:latin typeface="Segoe UI"/>
                <a:ea typeface="Microsoft YaHei"/>
              </a:rPr>
              <a:t>数据价值</a:t>
            </a:r>
          </a:p>
        </p:txBody>
      </p:sp>
      <p:sp>
        <p:nvSpPr>
          <p:cNvPr id="239" name="Rounded Rectangle 238"/>
          <p:cNvSpPr/>
          <p:nvPr/>
        </p:nvSpPr>
        <p:spPr>
          <a:xfrm>
            <a:off x="10533888" y="2670048"/>
            <a:ext cx="1453896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10561319" y="2670048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475569"/>
                </a:solidFill>
                <a:latin typeface="Segoe UI"/>
                <a:ea typeface="Microsoft YaHei"/>
              </a:rPr>
              <a:t>数据统一 · 洞察驱动</a:t>
            </a:r>
          </a:p>
        </p:txBody>
      </p:sp>
      <p:sp>
        <p:nvSpPr>
          <p:cNvPr id="241" name="Rounded Rectangle 240"/>
          <p:cNvSpPr/>
          <p:nvPr/>
        </p:nvSpPr>
        <p:spPr>
          <a:xfrm>
            <a:off x="10533888" y="2898648"/>
            <a:ext cx="1453896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10561319" y="2898648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475569"/>
                </a:solidFill>
                <a:latin typeface="Segoe UI"/>
                <a:ea typeface="Microsoft YaHei"/>
              </a:rPr>
              <a:t>HCP Pool 打通数据</a:t>
            </a:r>
          </a:p>
        </p:txBody>
      </p:sp>
      <p:sp>
        <p:nvSpPr>
          <p:cNvPr id="243" name="Rounded Rectangle 242"/>
          <p:cNvSpPr/>
          <p:nvPr/>
        </p:nvSpPr>
        <p:spPr>
          <a:xfrm>
            <a:off x="10533888" y="3127248"/>
            <a:ext cx="1453896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10561319" y="3127248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475569"/>
                </a:solidFill>
                <a:latin typeface="Segoe UI"/>
                <a:ea typeface="Microsoft YaHei"/>
              </a:rPr>
              <a:t>构建客户 360</a:t>
            </a:r>
          </a:p>
        </p:txBody>
      </p:sp>
      <p:sp>
        <p:nvSpPr>
          <p:cNvPr id="245" name="Rounded Rectangle 244"/>
          <p:cNvSpPr/>
          <p:nvPr/>
        </p:nvSpPr>
        <p:spPr>
          <a:xfrm>
            <a:off x="10533888" y="3355848"/>
            <a:ext cx="1453896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10561319" y="3355848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475569"/>
                </a:solidFill>
                <a:latin typeface="Segoe UI"/>
                <a:ea typeface="Microsoft YaHei"/>
              </a:rPr>
              <a:t>赋能精准运营与 AI</a:t>
            </a:r>
          </a:p>
        </p:txBody>
      </p:sp>
      <p:sp>
        <p:nvSpPr>
          <p:cNvPr id="247" name="Oval 246"/>
          <p:cNvSpPr/>
          <p:nvPr/>
        </p:nvSpPr>
        <p:spPr>
          <a:xfrm>
            <a:off x="10588752" y="3726180"/>
            <a:ext cx="73152" cy="73152"/>
          </a:xfrm>
          <a:prstGeom prst="ellipse">
            <a:avLst/>
          </a:prstGeom>
          <a:solidFill>
            <a:srgbClr val="BE18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10716767" y="3694176"/>
            <a:ext cx="123444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475569"/>
                </a:solidFill>
                <a:latin typeface="Segoe UI"/>
                <a:ea typeface="Microsoft YaHei"/>
              </a:rPr>
              <a:t>插件生态</a:t>
            </a:r>
          </a:p>
        </p:txBody>
      </p:sp>
      <p:sp>
        <p:nvSpPr>
          <p:cNvPr id="249" name="Rounded Rectangle 248"/>
          <p:cNvSpPr/>
          <p:nvPr/>
        </p:nvSpPr>
        <p:spPr>
          <a:xfrm>
            <a:off x="10533888" y="3849624"/>
            <a:ext cx="1453896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10561319" y="3849624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475569"/>
                </a:solidFill>
                <a:latin typeface="Segoe UI"/>
                <a:ea typeface="Microsoft YaHei"/>
              </a:rPr>
              <a:t>插件扩展 · 生态开放</a:t>
            </a:r>
          </a:p>
        </p:txBody>
      </p:sp>
      <p:sp>
        <p:nvSpPr>
          <p:cNvPr id="251" name="Rounded Rectangle 250"/>
          <p:cNvSpPr/>
          <p:nvPr/>
        </p:nvSpPr>
        <p:spPr>
          <a:xfrm>
            <a:off x="10533888" y="4078224"/>
            <a:ext cx="1453896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10561319" y="4078224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475569"/>
                </a:solidFill>
                <a:latin typeface="Segoe UI"/>
                <a:ea typeface="Microsoft YaHei"/>
              </a:rPr>
              <a:t>Plugin Container</a:t>
            </a:r>
          </a:p>
        </p:txBody>
      </p:sp>
      <p:sp>
        <p:nvSpPr>
          <p:cNvPr id="253" name="Rounded Rectangle 252"/>
          <p:cNvSpPr/>
          <p:nvPr/>
        </p:nvSpPr>
        <p:spPr>
          <a:xfrm>
            <a:off x="10533888" y="4306824"/>
            <a:ext cx="1453896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10561319" y="4306824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475569"/>
                </a:solidFill>
                <a:latin typeface="Segoe UI"/>
                <a:ea typeface="Microsoft YaHei"/>
              </a:rPr>
              <a:t>快速扩展能力</a:t>
            </a:r>
          </a:p>
        </p:txBody>
      </p:sp>
      <p:sp>
        <p:nvSpPr>
          <p:cNvPr id="255" name="Rounded Rectangle 254"/>
          <p:cNvSpPr/>
          <p:nvPr/>
        </p:nvSpPr>
        <p:spPr>
          <a:xfrm>
            <a:off x="10533888" y="4535424"/>
            <a:ext cx="1453896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10561319" y="4535424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475569"/>
                </a:solidFill>
                <a:latin typeface="Segoe UI"/>
                <a:ea typeface="Microsoft YaHei"/>
              </a:rPr>
              <a:t>支持创新与合作</a:t>
            </a:r>
          </a:p>
        </p:txBody>
      </p:sp>
      <p:sp>
        <p:nvSpPr>
          <p:cNvPr id="257" name="Oval 256"/>
          <p:cNvSpPr/>
          <p:nvPr/>
        </p:nvSpPr>
        <p:spPr>
          <a:xfrm>
            <a:off x="10588752" y="4905756"/>
            <a:ext cx="73152" cy="731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10716767" y="4873752"/>
            <a:ext cx="123444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475569"/>
                </a:solidFill>
                <a:latin typeface="Segoe UI"/>
                <a:ea typeface="Microsoft YaHei"/>
              </a:rPr>
              <a:t>智能运营</a:t>
            </a:r>
          </a:p>
        </p:txBody>
      </p:sp>
      <p:sp>
        <p:nvSpPr>
          <p:cNvPr id="259" name="Rounded Rectangle 258"/>
          <p:cNvSpPr/>
          <p:nvPr/>
        </p:nvSpPr>
        <p:spPr>
          <a:xfrm>
            <a:off x="10533888" y="5029200"/>
            <a:ext cx="1453896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10561319" y="5029200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475569"/>
                </a:solidFill>
                <a:latin typeface="Segoe UI"/>
                <a:ea typeface="Microsoft YaHei"/>
              </a:rPr>
              <a:t>智能运营 · 降本增效</a:t>
            </a:r>
          </a:p>
        </p:txBody>
      </p:sp>
      <p:sp>
        <p:nvSpPr>
          <p:cNvPr id="261" name="Rounded Rectangle 260"/>
          <p:cNvSpPr/>
          <p:nvPr/>
        </p:nvSpPr>
        <p:spPr>
          <a:xfrm>
            <a:off x="10533888" y="5257800"/>
            <a:ext cx="1453896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10561319" y="5257800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475569"/>
                </a:solidFill>
                <a:latin typeface="Segoe UI"/>
                <a:ea typeface="Microsoft YaHei"/>
              </a:rPr>
              <a:t>AI 赋能运营全流程</a:t>
            </a:r>
          </a:p>
        </p:txBody>
      </p:sp>
      <p:sp>
        <p:nvSpPr>
          <p:cNvPr id="263" name="Rounded Rectangle 262"/>
          <p:cNvSpPr/>
          <p:nvPr/>
        </p:nvSpPr>
        <p:spPr>
          <a:xfrm>
            <a:off x="10533888" y="5486400"/>
            <a:ext cx="1453896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10561319" y="5486400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475569"/>
                </a:solidFill>
                <a:latin typeface="Segoe UI"/>
                <a:ea typeface="Microsoft YaHei"/>
              </a:rPr>
              <a:t>提升效率与体验</a:t>
            </a:r>
          </a:p>
        </p:txBody>
      </p:sp>
      <p:sp>
        <p:nvSpPr>
          <p:cNvPr id="265" name="Rounded Rectangle 264"/>
          <p:cNvSpPr/>
          <p:nvPr/>
        </p:nvSpPr>
        <p:spPr>
          <a:xfrm>
            <a:off x="10533888" y="5870448"/>
            <a:ext cx="704088" cy="219456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TextBox 265"/>
          <p:cNvSpPr txBox="1"/>
          <p:nvPr/>
        </p:nvSpPr>
        <p:spPr>
          <a:xfrm>
            <a:off x="10561319" y="5870448"/>
            <a:ext cx="649224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059669"/>
                </a:solidFill>
                <a:latin typeface="Segoe UI"/>
                <a:ea typeface="Microsoft YaHei"/>
              </a:rPr>
              <a:t>渠道与接入</a:t>
            </a:r>
          </a:p>
        </p:txBody>
      </p:sp>
      <p:sp>
        <p:nvSpPr>
          <p:cNvPr id="267" name="Rounded Rectangle 266"/>
          <p:cNvSpPr/>
          <p:nvPr/>
        </p:nvSpPr>
        <p:spPr>
          <a:xfrm>
            <a:off x="11283696" y="5870448"/>
            <a:ext cx="704088" cy="219456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TextBox 267"/>
          <p:cNvSpPr txBox="1"/>
          <p:nvPr/>
        </p:nvSpPr>
        <p:spPr>
          <a:xfrm>
            <a:off x="11311128" y="5870448"/>
            <a:ext cx="649224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0078D4"/>
                </a:solidFill>
                <a:latin typeface="Segoe UI"/>
                <a:ea typeface="Microsoft YaHei"/>
              </a:rPr>
              <a:t>平台能力</a:t>
            </a:r>
          </a:p>
        </p:txBody>
      </p:sp>
      <p:sp>
        <p:nvSpPr>
          <p:cNvPr id="269" name="Rounded Rectangle 268"/>
          <p:cNvSpPr/>
          <p:nvPr/>
        </p:nvSpPr>
        <p:spPr>
          <a:xfrm>
            <a:off x="10533888" y="6144768"/>
            <a:ext cx="704088" cy="219456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10561319" y="6144768"/>
            <a:ext cx="649224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0891B2"/>
                </a:solidFill>
                <a:latin typeface="Segoe UI"/>
                <a:ea typeface="Microsoft YaHei"/>
              </a:rPr>
              <a:t>应用与体验</a:t>
            </a:r>
          </a:p>
        </p:txBody>
      </p:sp>
      <p:sp>
        <p:nvSpPr>
          <p:cNvPr id="271" name="Rounded Rectangle 270"/>
          <p:cNvSpPr/>
          <p:nvPr/>
        </p:nvSpPr>
        <p:spPr>
          <a:xfrm>
            <a:off x="11283696" y="6144768"/>
            <a:ext cx="704088" cy="219456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11311128" y="6144768"/>
            <a:ext cx="649224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7C3AED"/>
                </a:solidFill>
                <a:latin typeface="Segoe UI"/>
                <a:ea typeface="Microsoft YaHei"/>
              </a:rPr>
              <a:t>数据资产</a:t>
            </a:r>
          </a:p>
        </p:txBody>
      </p:sp>
      <p:sp>
        <p:nvSpPr>
          <p:cNvPr id="273" name="Rounded Rectangle 272"/>
          <p:cNvSpPr/>
          <p:nvPr/>
        </p:nvSpPr>
        <p:spPr>
          <a:xfrm>
            <a:off x="10533888" y="6419088"/>
            <a:ext cx="704088" cy="219456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TextBox 273"/>
          <p:cNvSpPr txBox="1"/>
          <p:nvPr/>
        </p:nvSpPr>
        <p:spPr>
          <a:xfrm>
            <a:off x="10561319" y="6419088"/>
            <a:ext cx="649224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D97706"/>
                </a:solidFill>
                <a:latin typeface="Segoe UI"/>
                <a:ea typeface="Microsoft YaHei"/>
              </a:rPr>
              <a:t>共享能力</a:t>
            </a:r>
          </a:p>
        </p:txBody>
      </p:sp>
      <p:sp>
        <p:nvSpPr>
          <p:cNvPr id="275" name="Rounded Rectangle 274"/>
          <p:cNvSpPr/>
          <p:nvPr/>
        </p:nvSpPr>
        <p:spPr>
          <a:xfrm>
            <a:off x="11283696" y="6419088"/>
            <a:ext cx="704088" cy="219456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11311128" y="6419088"/>
            <a:ext cx="649224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475569"/>
                </a:solidFill>
                <a:latin typeface="Segoe UI"/>
                <a:ea typeface="Microsoft YaHei"/>
              </a:rPr>
              <a:t>基础设施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201168" y="6656832"/>
            <a:ext cx="1178661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94A3B8"/>
                </a:solidFill>
                <a:latin typeface="Segoe UI"/>
                <a:ea typeface="Microsoft YaHei"/>
              </a:rPr>
              <a:t>依据 archi.jpeg 原图重绘（PPT 原生形状）｜ 分层：渠道接入 → 统一接入 → 微前端应用 → 共享能力中心 → 平台基础 → 数据底座 → 数据与 AI 平台 ｜ 外部系统对接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One-Abbott 共享应用平台 · 技术架构图集（复用与微前端）</dc:title>
  <dc:subject/>
  <dc:creator>One-Abbott Platform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