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总体技术架构 · Capability First —— Build Once, Reuse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复用三形态：API · 事件 · 微前端模块
多租户：ADC / EPD / MD / APOC → 平台租户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7626096" cy="713232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42062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同一能力 · 多渠道触达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42516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69948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6703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6028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3460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App · RN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Portal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运营后台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548640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2468880" y="127558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HTTPS · SSO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371600"/>
            <a:ext cx="762609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14721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89888" y="1472184"/>
            <a:ext cx="96012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472184"/>
            <a:ext cx="9052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CDN ＋ WAF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04872" y="1472184"/>
            <a:ext cx="137160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2303" y="1472184"/>
            <a:ext cx="13167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外部 APIM · 公网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31336" y="1472184"/>
            <a:ext cx="14630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1472184"/>
            <a:ext cx="14081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Entra ID · 内部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9240" y="1472184"/>
            <a:ext cx="228600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76672" y="1472184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1E40AF"/>
                </a:solidFill>
                <a:latin typeface="Segoe UI"/>
                <a:ea typeface="Microsoft YaHei"/>
              </a:rPr>
              <a:t>identity-service 微信 / 验证码 → OneID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37744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48640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201168" y="1920240"/>
            <a:ext cx="7626096" cy="530352"/>
          </a:xfrm>
          <a:prstGeom prst="roundRect">
            <a:avLst>
              <a:gd name="adj" fmla="val 1379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1984248"/>
            <a:ext cx="42062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只做聚合裁剪 · 不重复实现业务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hcp-bff · 小程序 / H5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67128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4560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wework-bff · 企微侧边栏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68496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5928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app-bff · 离线同步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9864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97296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portal-bff · 运营门户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7744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48640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5577840" y="2446020"/>
            <a:ext cx="91440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聚合调用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2542032"/>
            <a:ext cx="7626096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606040"/>
            <a:ext cx="4663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 —— 一次建设（Build Once）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2615184"/>
            <a:ext cx="25968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一 Hub 一限界上下文 · Database-per-Service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184" y="2724912"/>
            <a:ext cx="274320" cy="1280160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" y="2724912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3504" y="3026664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03504" y="3703320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676656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内容 · 学术 · DAM · 搜索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432304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78024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8024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会议 · 报名签到 · 积分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8024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87952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33672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3672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/ HCO · OneID · Consent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33672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943600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89320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9320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拜访 · 打卡 · 离线同步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9320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6656" y="3401568"/>
            <a:ext cx="2286000" cy="603504"/>
          </a:xfrm>
          <a:prstGeom prst="roundRect">
            <a:avLst>
              <a:gd name="adj" fmla="val 7575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2376" y="344271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3607308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工单 · SLA · 备件 · IoT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3785615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035808" y="3401568"/>
            <a:ext cx="2286000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81528" y="344271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Hub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81528" y="3607308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插件 API · 租户级启用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81528" y="3785615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94960" y="3401568"/>
            <a:ext cx="2286000" cy="603504"/>
          </a:xfrm>
          <a:prstGeom prst="roundRect">
            <a:avLst>
              <a:gd name="adj" fmla="val 75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80" y="344271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横切服务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3607308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身份 · 通知 · 工作流 · 规则 · 审计 · 文件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40680" y="3785615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所有 Hub 共用的技术能力 · API / SDK 复用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041648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2400E"/>
                </a:solidFill>
                <a:latin typeface="Segoe UI"/>
                <a:ea typeface="Microsoft YaHei"/>
              </a:rPr>
              <a:t>消费三形态：① API 复用（BFF / 应用 → 内部 APIM · OpenAPI 契约 · 版本并存）　② 事件复用（订阅领域事件 · 解耦集成）　③ 模块复用（MF 远程模块多端挂载 → 详见下页）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37744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548640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2468880" y="4256532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事件 / CDC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01168" y="4352544"/>
            <a:ext cx="762609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29184" y="4434840"/>
            <a:ext cx="859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6616" y="4434840"/>
            <a:ext cx="8046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61872" y="4434840"/>
            <a:ext cx="3145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89304" y="443484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Service Bus · 领域事件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CloudEvents · Outbox · 幂等 / DLQ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480560" y="4434840"/>
            <a:ext cx="3145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07992" y="443484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Event Hub · 行为流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埋点 → 实时标签 → 湖仓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37744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548640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201168" y="4864608"/>
            <a:ext cx="7626096" cy="841248"/>
          </a:xfrm>
          <a:prstGeom prst="roundRect">
            <a:avLst>
              <a:gd name="adj" fmla="val 869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4928616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06 数据与智能底座 · Data / AI / Cloud —— 数据与 AI 同样只建一次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HCP Pool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OneID · Consent · C360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212848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240279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湖仓 · Fabric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B→S→G · C360 宽表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59935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087368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模型网关 · RAG · Copilot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907023" y="5120640"/>
            <a:ext cx="17830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934455" y="5120640"/>
            <a:ext cx="172821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Landing Zone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AKS · GitOps · OTel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918704" y="566928"/>
            <a:ext cx="406908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028431" y="640080"/>
            <a:ext cx="38496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从重复建设到平台复用（archi.md §6）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028431" y="859536"/>
            <a:ext cx="1700784" cy="1316736"/>
          </a:xfrm>
          <a:prstGeom prst="roundRect">
            <a:avLst>
              <a:gd name="adj" fmla="val 3472"/>
            </a:avLst>
          </a:prstGeom>
          <a:solidFill>
            <a:srgbClr val="FFF1F2"/>
          </a:solidFill>
          <a:ln w="1397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119872" y="91440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91C1C"/>
                </a:solidFill>
                <a:latin typeface="Segoe UI"/>
                <a:ea typeface="Microsoft YaHei"/>
              </a:rPr>
              <a:t>当前 · 各自建设 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19872" y="1097280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ADC / EPD / MD / APOC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119872" y="1316736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各建 内容·会议·积分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119872" y="1536192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≈ 12 套重复实现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119872" y="175564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数据孤岛 · 体验割裂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9765792" y="1517904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12" name="Rounded Rectangle 111"/>
          <p:cNvSpPr/>
          <p:nvPr/>
        </p:nvSpPr>
        <p:spPr>
          <a:xfrm>
            <a:off x="10076688" y="859536"/>
            <a:ext cx="1801368" cy="1316736"/>
          </a:xfrm>
          <a:prstGeom prst="roundRect">
            <a:avLst>
              <a:gd name="adj" fmla="val 347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168128" y="914400"/>
            <a:ext cx="16184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Segoe UI"/>
                <a:ea typeface="Microsoft YaHei"/>
              </a:rPr>
              <a:t>目标 · 平台统一 ✓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68128" y="1097280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Capability Hub 1 套能力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68128" y="1316736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应用 = 租户按需组合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168128" y="1536192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能力 / 数据 / AI 三重复用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168128" y="175564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475569"/>
                </a:solidFill>
                <a:latin typeface="Segoe UI"/>
                <a:ea typeface="Microsoft YaHei"/>
              </a:rPr>
              <a:t>Build Once · Reuse Everywhere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918704" y="2395728"/>
            <a:ext cx="4069080" cy="24688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028431" y="2468880"/>
            <a:ext cx="38496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能力复用矩阵 · 一次建设 → 处处消费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86968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小程序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H5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41832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企微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96696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App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1560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Portal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06424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插件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8028431" y="2980944"/>
            <a:ext cx="3849625" cy="0"/>
          </a:xfrm>
          <a:prstGeom prst="line">
            <a:avLst/>
          </a:prstGeom>
          <a:ln w="10160">
            <a:solidFill>
              <a:srgbClr val="E2E8F0"/>
            </a:solidFill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8028431" y="3035808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</p:txBody>
      </p:sp>
      <p:sp>
        <p:nvSpPr>
          <p:cNvPr id="127" name="Oval 126"/>
          <p:cNvSpPr/>
          <p:nvPr/>
        </p:nvSpPr>
        <p:spPr>
          <a:xfrm>
            <a:off x="907999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62863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0177272" y="3099815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72591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27455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28431" y="3300984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会议积分</a:t>
            </a:r>
          </a:p>
        </p:txBody>
      </p:sp>
      <p:sp>
        <p:nvSpPr>
          <p:cNvPr id="133" name="Oval 132"/>
          <p:cNvSpPr/>
          <p:nvPr/>
        </p:nvSpPr>
        <p:spPr>
          <a:xfrm>
            <a:off x="9079992" y="3364991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863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017727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0725912" y="3364991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27455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028431" y="3566160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客户 360</a:t>
            </a:r>
          </a:p>
        </p:txBody>
      </p:sp>
      <p:sp>
        <p:nvSpPr>
          <p:cNvPr id="139" name="Oval 138"/>
          <p:cNvSpPr/>
          <p:nvPr/>
        </p:nvSpPr>
        <p:spPr>
          <a:xfrm>
            <a:off x="9079992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863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17727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72591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27455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028431" y="3831335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拜访绩效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034272" y="3831335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46" name="Oval 145"/>
          <p:cNvSpPr/>
          <p:nvPr/>
        </p:nvSpPr>
        <p:spPr>
          <a:xfrm>
            <a:off x="962863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17727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2591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228832" y="3831335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028431" y="4096511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报修服务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03427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58291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3" name="Oval 152"/>
          <p:cNvSpPr/>
          <p:nvPr/>
        </p:nvSpPr>
        <p:spPr>
          <a:xfrm>
            <a:off x="10177272" y="416052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25912" y="416052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1122883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028431" y="4361688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AI 能力</a:t>
            </a:r>
          </a:p>
        </p:txBody>
      </p:sp>
      <p:sp>
        <p:nvSpPr>
          <p:cNvPr id="157" name="Oval 156"/>
          <p:cNvSpPr/>
          <p:nvPr/>
        </p:nvSpPr>
        <p:spPr>
          <a:xfrm>
            <a:off x="907999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962863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177272" y="442569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2591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127455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28431" y="4626864"/>
            <a:ext cx="384962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Segoe UI"/>
                <a:ea typeface="Microsoft YaHei"/>
              </a:rPr>
              <a:t>● 直接复用　○ 按需裁剪　– 不涉及 ｜ 例：新插件「术后随访」= C360 ＋ 内容 ＋ 积分 ＋ 通知，零新建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918704" y="4956048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028431" y="5020056"/>
            <a:ext cx="384962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D4ED8"/>
                </a:solidFill>
                <a:latin typeface="Segoe UI"/>
                <a:ea typeface="Microsoft YaHei"/>
              </a:rPr>
              <a:t>租户级复用 · 治理与计量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028431" y="5175504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055863" y="5175504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tid 全链路 · SQL 行级安全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9966959" y="5175504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994391" y="5175504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feature flag 按租户启用能力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028431" y="5413248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055863" y="5413248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APIM 配额 / 限流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9966959" y="5413248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994391" y="5413248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成本按 tid 计量分摊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01168" y="581558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复用成效目标：12 套重复建设 → 1 套平台能力 ｜ 新渠道 / 新应用接入周期减半（只建 BFF 与视图）｜ 新场景 = 组合已有能力 ｜ 分层对应 archi.md：Experience → Application → Capability → Data → AI →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微前端架构设计 · 复用与独立交付（Module Federation）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· TS 5 · Rspack / Vite · Taro 小程序
独立开发 · 独立部署 · 独立灰度 · 共享治理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① 分层设计 · 四层结构（谁负责什么）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59536"/>
            <a:ext cx="1243584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5953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Shell · 宿主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平台团队统一维护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763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路由 / 布局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RBAC 菜单下发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SSO 会话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全局权限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Design Tokens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主题 / 暗色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9984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7416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事件总线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mitt 跨模块通信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MF 注册表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manifest 版本 / 灰度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5898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错误兜底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失败降级占位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1261872"/>
            <a:ext cx="0" cy="109728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36208" y="1266444"/>
            <a:ext cx="21945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运行时远程加载（不是构建时打包）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" y="1371600"/>
            <a:ext cx="1243584" cy="475488"/>
          </a:xfrm>
          <a:prstGeom prst="roundRect">
            <a:avLst>
              <a:gd name="adj" fmla="val 961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371600"/>
            <a:ext cx="11887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Remote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业务团队自治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0779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38544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9127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7143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" y="1901952"/>
            <a:ext cx="1243584" cy="274320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1901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Shared · 单例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27632" y="1901952"/>
            <a:ext cx="10131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55064" y="1901952"/>
            <a:ext cx="1007668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白名单：react ^18 · design-system · auth-sdk · api-client · i18n · telemetry ｜ 白名单外一律独立打包 · singleton 版本协商（防版本地狱）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2212848"/>
            <a:ext cx="1243584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Contract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27632" y="2212848"/>
            <a:ext cx="10131552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5064" y="2212848"/>
            <a:ext cx="1007668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@abbott/contracts：API DTO · 领域事件 · 权限码 —— 前后端同源引用 · CI 兼容性校验 · 破坏性变更即阻断合并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168" y="2633472"/>
            <a:ext cx="576072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2706624"/>
            <a:ext cx="5394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② 运行时加载与版本协商（怎么跑起来）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184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① Shell 启动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引导 / 鉴权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66543" y="3081528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2139696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67127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② 拉取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版本 ＋ 灰度比例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877056" y="3081528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7" name="Rounded Rectangle 56"/>
          <p:cNvSpPr/>
          <p:nvPr/>
        </p:nvSpPr>
        <p:spPr>
          <a:xfrm>
            <a:off x="3950208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40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③ 解析远程入口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CDN URL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184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④ 加载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import remote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66543" y="3557016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2" name="Rounded Rectangle 61"/>
          <p:cNvSpPr/>
          <p:nvPr/>
        </p:nvSpPr>
        <p:spPr>
          <a:xfrm>
            <a:off x="2139696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67127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⑤ 版本协商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react singleton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877056" y="3557016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3950208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⑥ 挂载渲染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路由 / 权限校验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" y="3840480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失败降级：模块加载失败 → 占位提示不白屏 · 菜单按 RBAC 动态下发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2633472"/>
            <a:ext cx="589788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2706624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③ 跨模块通信与隔离规则（怎么不腐化）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8712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7C3AED"/>
                </a:solidFill>
                <a:latin typeface="Segoe UI"/>
                <a:ea typeface="Microsoft YaHei"/>
              </a:rPr>
              <a:t>事件总线：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mf:&lt;module&gt;:&lt;event&gt;（例 content.published → 积分刷新 · 通知）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0998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E11D48"/>
                </a:solidFill>
                <a:latin typeface="Segoe UI"/>
                <a:ea typeface="Microsoft YaHei"/>
              </a:rPr>
              <a:t>禁止直连：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 MF 直接 import 一律禁止 · CI 扫描阻断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3284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078D4"/>
                </a:solidFill>
                <a:latin typeface="Segoe UI"/>
                <a:ea typeface="Microsoft YaHei"/>
              </a:rPr>
              <a:t>样式隔离：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Design Tokens ＋ 模块级 class 前缀 · 全局样式仅 Shell 注入一次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5570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891B2"/>
                </a:solidFill>
                <a:latin typeface="Segoe UI"/>
                <a:ea typeface="Microsoft YaHei"/>
              </a:rPr>
              <a:t>跳转协议：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跨模块跳转走 Shell 统一路由 /mfe/&lt;module&gt;/…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37856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59669"/>
                </a:solidFill>
                <a:latin typeface="Segoe UI"/>
                <a:ea typeface="Microsoft YaHei"/>
              </a:rPr>
              <a:t>全局一致：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Loading / 错误 / 主题 / i18n 由 Shell 统一，保证体验不割裂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01168" y="4133087"/>
            <a:ext cx="576072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9184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④ 复用：一次开发 · 多端挂载（以 content-mf 为例）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4407408"/>
            <a:ext cx="2157984" cy="658368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2336" y="440740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content-mf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内容学术模块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含 core 业务 / 状态 / 契约层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27248" y="4370832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54679" y="4370832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Portal Shell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运营后台 · 全功能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2487168" y="4498848"/>
            <a:ext cx="329184" cy="2377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16352" y="4498848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3" name="Rounded Rectangle 82"/>
          <p:cNvSpPr/>
          <p:nvPr/>
        </p:nvSpPr>
        <p:spPr>
          <a:xfrm>
            <a:off x="3127248" y="4681728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54679" y="4681728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企微 / 公众号 H5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销售侧 · 嵌入侧边栏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87168" y="4736592"/>
            <a:ext cx="329184" cy="73152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16352" y="4809744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7" name="Rounded Rectangle 86"/>
          <p:cNvSpPr/>
          <p:nvPr/>
        </p:nvSpPr>
        <p:spPr>
          <a:xfrm>
            <a:off x="3127248" y="4992624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54679" y="4992624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小程序 · Taro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侧 · 转译复用 core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487168" y="4736592"/>
            <a:ext cx="329184" cy="384048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816352" y="5120640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3127248" y="5303520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54679" y="5303520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App · React Native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工程师侧 · 复用 core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487168" y="4736592"/>
            <a:ext cx="329184" cy="6949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816352" y="5431536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329184" y="5541264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D28D9"/>
                </a:solidFill>
                <a:latin typeface="Segoe UI"/>
                <a:ea typeface="Microsoft YaHei"/>
              </a:rPr>
              <a:t>Monorepo：core 共享（业务 / 状态 / 契约）· 视图按端适配 —— 新端接入只写视图层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89904" y="4133087"/>
            <a:ext cx="589788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17920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⑤ 独立交付 · 灰度发布与插件扩展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17920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5352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① 构建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CI 产物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242048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1" name="Rounded Rectangle 100"/>
          <p:cNvSpPr/>
          <p:nvPr/>
        </p:nvSpPr>
        <p:spPr>
          <a:xfrm>
            <a:off x="7324344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51775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② CDN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不可变版本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348471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8430767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58199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③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PR 审批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9454896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7" name="Rounded Rectangle 106"/>
          <p:cNvSpPr/>
          <p:nvPr/>
        </p:nvSpPr>
        <p:spPr>
          <a:xfrm>
            <a:off x="9537192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564624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④ 灰度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1→10→100%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10561320" y="4590288"/>
            <a:ext cx="8229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10" name="Rounded Rectangle 109"/>
          <p:cNvSpPr/>
          <p:nvPr/>
        </p:nvSpPr>
        <p:spPr>
          <a:xfrm>
            <a:off x="10643616" y="4389120"/>
            <a:ext cx="102412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671048" y="4389120"/>
            <a:ext cx="96926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⑤ 回滚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分钟级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217920" y="4846320"/>
            <a:ext cx="56509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模块独立流水线互不阻塞 · 回滚 = manifest 指回旧版本 · 质量门禁：Playwright 冒烟 ＋ Shell E2E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17920" y="5029200"/>
            <a:ext cx="5650992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3970">
            <a:solidFill>
              <a:srgbClr val="F9A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27648" y="5029200"/>
            <a:ext cx="5431536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E185D"/>
                </a:solidFill>
                <a:latin typeface="Segoe UI"/>
                <a:ea typeface="Microsoft YaHei"/>
              </a:rPr>
              <a:t>插件 = 远程 MF ＋ 插件 API（经 APIM · HMAC 签名）＋ manifest 声明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租户级 feature flag 启用 · 失败自动降级隔离 · 术后随访 / 竞品情报等场景即插即用</a:t>
            </a:r>
          </a:p>
        </p:txBody>
      </p:sp>
      <p:sp>
        <p:nvSpPr>
          <p:cNvPr id="115" name="Oval 114"/>
          <p:cNvSpPr/>
          <p:nvPr/>
        </p:nvSpPr>
        <p:spPr>
          <a:xfrm>
            <a:off x="365760" y="5888736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93776" y="58430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Shell（平台团队）</a:t>
            </a:r>
          </a:p>
        </p:txBody>
      </p:sp>
      <p:sp>
        <p:nvSpPr>
          <p:cNvPr id="117" name="Oval 116"/>
          <p:cNvSpPr/>
          <p:nvPr/>
        </p:nvSpPr>
        <p:spPr>
          <a:xfrm>
            <a:off x="2121408" y="58887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49424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9" name="Oval 118"/>
          <p:cNvSpPr/>
          <p:nvPr/>
        </p:nvSpPr>
        <p:spPr>
          <a:xfrm>
            <a:off x="3694176" y="5888736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822191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 / 灰度链路</a:t>
            </a:r>
          </a:p>
        </p:txBody>
      </p:sp>
      <p:sp>
        <p:nvSpPr>
          <p:cNvPr id="121" name="Oval 120"/>
          <p:cNvSpPr/>
          <p:nvPr/>
        </p:nvSpPr>
        <p:spPr>
          <a:xfrm>
            <a:off x="5266944" y="5888736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394959" y="584301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契约 / 安全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01168" y="608990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治理防腐化：shared 白名单 ＋ manifest 兼容性 CI 门禁 · 契约测试 · 季度架构体检（依赖漂移 / 跨模块引用扫描）｜ 目标：团队自治 · 互不阻塞 · 统一体验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技术架构图集（复用与微前端）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